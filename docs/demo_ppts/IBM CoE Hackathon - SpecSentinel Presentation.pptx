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81" r:id="rId3"/>
    <p:sldId id="277" r:id="rId4"/>
    <p:sldId id="278" r:id="rId5"/>
    <p:sldId id="279" r:id="rId6"/>
    <p:sldId id="280" r:id="rId7"/>
    <p:sldId id="274" r:id="rId8"/>
    <p:sldId id="275" r:id="rId9"/>
    <p:sldId id="284" r:id="rId10"/>
    <p:sldId id="276"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8E4D659-C67D-4533-9215-20A948EAC346}">
          <p14:sldIdLst>
            <p14:sldId id="256"/>
            <p14:sldId id="281"/>
            <p14:sldId id="277"/>
            <p14:sldId id="278"/>
            <p14:sldId id="279"/>
            <p14:sldId id="280"/>
            <p14:sldId id="274"/>
            <p14:sldId id="275"/>
            <p14:sldId id="284"/>
          </p14:sldIdLst>
        </p14:section>
        <p14:section name="Backup" id="{0AC94B4D-05AE-402F-9ED3-EAB19F63F455}">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5041"/>
    <a:srgbClr val="993C1D"/>
    <a:srgbClr val="0F6E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688" autoAdjust="0"/>
  </p:normalViewPr>
  <p:slideViewPr>
    <p:cSldViewPr snapToGrid="0" snapToObjects="1">
      <p:cViewPr varScale="1">
        <p:scale>
          <a:sx n="68" d="100"/>
          <a:sy n="68" d="100"/>
        </p:scale>
        <p:origin x="1224"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0B4C7E-D777-43F7-BC7D-E42F6516552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02C66747-9586-4F9D-9DFD-F4FF73216C97}">
      <dgm:prSet/>
      <dgm:spPr/>
      <dgm:t>
        <a:bodyPr/>
        <a:lstStyle/>
        <a:p>
          <a:r>
            <a:rPr lang="en-US"/>
            <a:t>Table of Content</a:t>
          </a:r>
        </a:p>
      </dgm:t>
    </dgm:pt>
    <dgm:pt modelId="{FD12628A-A978-444D-8687-4F84C22D4524}" type="parTrans" cxnId="{B891C7A0-13B6-467F-9A8F-19F1FAE36002}">
      <dgm:prSet/>
      <dgm:spPr/>
      <dgm:t>
        <a:bodyPr/>
        <a:lstStyle/>
        <a:p>
          <a:endParaRPr lang="en-US"/>
        </a:p>
      </dgm:t>
    </dgm:pt>
    <dgm:pt modelId="{71F4072F-184D-4672-B4E2-2D100A649A37}" type="sibTrans" cxnId="{B891C7A0-13B6-467F-9A8F-19F1FAE36002}">
      <dgm:prSet/>
      <dgm:spPr/>
      <dgm:t>
        <a:bodyPr/>
        <a:lstStyle/>
        <a:p>
          <a:endParaRPr lang="en-US"/>
        </a:p>
      </dgm:t>
    </dgm:pt>
    <dgm:pt modelId="{781C85B8-FFD5-41FE-A8AD-CCA7A4894095}">
      <dgm:prSet/>
      <dgm:spPr/>
      <dgm:t>
        <a:bodyPr/>
        <a:lstStyle/>
        <a:p>
          <a:r>
            <a:rPr lang="en-US"/>
            <a:t>Problem Statement</a:t>
          </a:r>
        </a:p>
      </dgm:t>
    </dgm:pt>
    <dgm:pt modelId="{4F735615-9CB0-4D37-9908-366867A52494}" type="parTrans" cxnId="{09D7F6C2-B15D-4EAB-AB4A-C351FD722CF6}">
      <dgm:prSet/>
      <dgm:spPr/>
      <dgm:t>
        <a:bodyPr/>
        <a:lstStyle/>
        <a:p>
          <a:endParaRPr lang="en-US"/>
        </a:p>
      </dgm:t>
    </dgm:pt>
    <dgm:pt modelId="{FBE5E241-DA5B-4CF1-960D-C5FA631A431E}" type="sibTrans" cxnId="{09D7F6C2-B15D-4EAB-AB4A-C351FD722CF6}">
      <dgm:prSet/>
      <dgm:spPr/>
      <dgm:t>
        <a:bodyPr/>
        <a:lstStyle/>
        <a:p>
          <a:endParaRPr lang="en-US"/>
        </a:p>
      </dgm:t>
    </dgm:pt>
    <dgm:pt modelId="{E4DD8267-9A91-467F-BBDF-84F42730C50C}">
      <dgm:prSet/>
      <dgm:spPr/>
      <dgm:t>
        <a:bodyPr/>
        <a:lstStyle/>
        <a:p>
          <a:r>
            <a:rPr lang="en-US"/>
            <a:t>MVP Implementation Scope</a:t>
          </a:r>
        </a:p>
      </dgm:t>
    </dgm:pt>
    <dgm:pt modelId="{D89BF036-6DCD-42B5-99AC-AB6729DFB04D}" type="parTrans" cxnId="{03F7E0B6-9883-4206-BCAA-6F2EC5780436}">
      <dgm:prSet/>
      <dgm:spPr/>
      <dgm:t>
        <a:bodyPr/>
        <a:lstStyle/>
        <a:p>
          <a:endParaRPr lang="en-US"/>
        </a:p>
      </dgm:t>
    </dgm:pt>
    <dgm:pt modelId="{C752C7B9-FAA0-4F04-84C2-36D4D0C07F7A}" type="sibTrans" cxnId="{03F7E0B6-9883-4206-BCAA-6F2EC5780436}">
      <dgm:prSet/>
      <dgm:spPr/>
      <dgm:t>
        <a:bodyPr/>
        <a:lstStyle/>
        <a:p>
          <a:endParaRPr lang="en-US"/>
        </a:p>
      </dgm:t>
    </dgm:pt>
    <dgm:pt modelId="{BD2FEEC3-7585-4184-A474-DC37F1DA2BAE}">
      <dgm:prSet/>
      <dgm:spPr/>
      <dgm:t>
        <a:bodyPr/>
        <a:lstStyle/>
        <a:p>
          <a:r>
            <a:rPr lang="en-US"/>
            <a:t>Solution Design &amp; Architecture</a:t>
          </a:r>
        </a:p>
      </dgm:t>
    </dgm:pt>
    <dgm:pt modelId="{AD7AE86A-943B-4D2D-9AD0-341902B6430A}" type="parTrans" cxnId="{819C2633-7A47-42AE-8A2A-AC016CE6DF76}">
      <dgm:prSet/>
      <dgm:spPr/>
      <dgm:t>
        <a:bodyPr/>
        <a:lstStyle/>
        <a:p>
          <a:endParaRPr lang="en-US"/>
        </a:p>
      </dgm:t>
    </dgm:pt>
    <dgm:pt modelId="{EDA5DE27-F5FC-4C55-BAD1-758BF8C840DC}" type="sibTrans" cxnId="{819C2633-7A47-42AE-8A2A-AC016CE6DF76}">
      <dgm:prSet/>
      <dgm:spPr/>
      <dgm:t>
        <a:bodyPr/>
        <a:lstStyle/>
        <a:p>
          <a:endParaRPr lang="en-US"/>
        </a:p>
      </dgm:t>
    </dgm:pt>
    <dgm:pt modelId="{252E9577-1F82-41FA-8BBC-4E0E7F737FA5}">
      <dgm:prSet/>
      <dgm:spPr/>
      <dgm:t>
        <a:bodyPr/>
        <a:lstStyle/>
        <a:p>
          <a:r>
            <a:rPr lang="en-US"/>
            <a:t>Business Value/Impact</a:t>
          </a:r>
        </a:p>
      </dgm:t>
    </dgm:pt>
    <dgm:pt modelId="{324179EC-F34A-4FD9-8582-CD3A41D26AF5}" type="parTrans" cxnId="{03786741-2DEB-4BD5-8BA3-7164EEB7957C}">
      <dgm:prSet/>
      <dgm:spPr/>
      <dgm:t>
        <a:bodyPr/>
        <a:lstStyle/>
        <a:p>
          <a:endParaRPr lang="en-US"/>
        </a:p>
      </dgm:t>
    </dgm:pt>
    <dgm:pt modelId="{C050234C-BEBA-40A1-A83F-64B200D2DD41}" type="sibTrans" cxnId="{03786741-2DEB-4BD5-8BA3-7164EEB7957C}">
      <dgm:prSet/>
      <dgm:spPr/>
      <dgm:t>
        <a:bodyPr/>
        <a:lstStyle/>
        <a:p>
          <a:endParaRPr lang="en-US"/>
        </a:p>
      </dgm:t>
    </dgm:pt>
    <dgm:pt modelId="{3FC0263F-7062-4440-AA01-527DBDCB43C3}">
      <dgm:prSet/>
      <dgm:spPr/>
      <dgm:t>
        <a:bodyPr/>
        <a:lstStyle/>
        <a:p>
          <a:r>
            <a:rPr lang="en-US" dirty="0"/>
            <a:t>Future Enhancements/Implementation Scope</a:t>
          </a:r>
        </a:p>
      </dgm:t>
    </dgm:pt>
    <dgm:pt modelId="{9C5C5149-C28D-4DDF-850B-4847A91187F7}" type="parTrans" cxnId="{830A6086-C0EA-4A2D-A71D-400660CC6E55}">
      <dgm:prSet/>
      <dgm:spPr/>
      <dgm:t>
        <a:bodyPr/>
        <a:lstStyle/>
        <a:p>
          <a:endParaRPr lang="en-US"/>
        </a:p>
      </dgm:t>
    </dgm:pt>
    <dgm:pt modelId="{F6817E6C-C941-4A03-A274-D5DBD86066C2}" type="sibTrans" cxnId="{830A6086-C0EA-4A2D-A71D-400660CC6E55}">
      <dgm:prSet/>
      <dgm:spPr/>
      <dgm:t>
        <a:bodyPr/>
        <a:lstStyle/>
        <a:p>
          <a:endParaRPr lang="en-US"/>
        </a:p>
      </dgm:t>
    </dgm:pt>
    <dgm:pt modelId="{CA96CC84-12F6-4D04-92FB-22DDD97D022A}">
      <dgm:prSet/>
      <dgm:spPr/>
      <dgm:t>
        <a:bodyPr/>
        <a:lstStyle/>
        <a:p>
          <a:r>
            <a:rPr lang="en-US" dirty="0"/>
            <a:t>Demo</a:t>
          </a:r>
        </a:p>
      </dgm:t>
    </dgm:pt>
    <dgm:pt modelId="{73136F63-97BB-4F85-8BC7-118317CDB9E0}" type="parTrans" cxnId="{7CD9980B-8D71-4E1F-A03B-863CE015C901}">
      <dgm:prSet/>
      <dgm:spPr/>
      <dgm:t>
        <a:bodyPr/>
        <a:lstStyle/>
        <a:p>
          <a:endParaRPr lang="en-US"/>
        </a:p>
      </dgm:t>
    </dgm:pt>
    <dgm:pt modelId="{93AB3C2C-8A5D-4459-A5BF-F3C33D9D27BC}" type="sibTrans" cxnId="{7CD9980B-8D71-4E1F-A03B-863CE015C901}">
      <dgm:prSet/>
      <dgm:spPr/>
      <dgm:t>
        <a:bodyPr/>
        <a:lstStyle/>
        <a:p>
          <a:endParaRPr lang="en-US"/>
        </a:p>
      </dgm:t>
    </dgm:pt>
    <dgm:pt modelId="{CB2814B2-E4B1-4BB4-A64B-C51E92B39594}">
      <dgm:prSet/>
      <dgm:spPr/>
      <dgm:t>
        <a:bodyPr/>
        <a:lstStyle/>
        <a:p>
          <a:r>
            <a:rPr lang="en-US" dirty="0"/>
            <a:t>Closing note</a:t>
          </a:r>
        </a:p>
      </dgm:t>
    </dgm:pt>
    <dgm:pt modelId="{72A3C199-8188-4302-A1F3-90BAAF585DDA}" type="parTrans" cxnId="{25CF17FC-053C-4E0D-B87C-3639EBB49EAA}">
      <dgm:prSet/>
      <dgm:spPr/>
      <dgm:t>
        <a:bodyPr/>
        <a:lstStyle/>
        <a:p>
          <a:endParaRPr lang="en-US"/>
        </a:p>
      </dgm:t>
    </dgm:pt>
    <dgm:pt modelId="{56002F48-8BC8-4AE1-AA27-E7A9159A3E02}" type="sibTrans" cxnId="{25CF17FC-053C-4E0D-B87C-3639EBB49EAA}">
      <dgm:prSet/>
      <dgm:spPr/>
      <dgm:t>
        <a:bodyPr/>
        <a:lstStyle/>
        <a:p>
          <a:endParaRPr lang="en-US"/>
        </a:p>
      </dgm:t>
    </dgm:pt>
    <dgm:pt modelId="{0EE213A2-6390-4E7C-9685-F9512C6BF6DF}" type="pres">
      <dgm:prSet presAssocID="{4C0B4C7E-D777-43F7-BC7D-E42F65165527}" presName="vert0" presStyleCnt="0">
        <dgm:presLayoutVars>
          <dgm:dir/>
          <dgm:animOne val="branch"/>
          <dgm:animLvl val="lvl"/>
        </dgm:presLayoutVars>
      </dgm:prSet>
      <dgm:spPr/>
    </dgm:pt>
    <dgm:pt modelId="{649668EB-F798-407C-8845-0CC5B3DD18A9}" type="pres">
      <dgm:prSet presAssocID="{02C66747-9586-4F9D-9DFD-F4FF73216C97}" presName="thickLine" presStyleLbl="alignNode1" presStyleIdx="0" presStyleCnt="1"/>
      <dgm:spPr/>
    </dgm:pt>
    <dgm:pt modelId="{54F7981D-5EBE-41C9-AAE5-D6471363674F}" type="pres">
      <dgm:prSet presAssocID="{02C66747-9586-4F9D-9DFD-F4FF73216C97}" presName="horz1" presStyleCnt="0"/>
      <dgm:spPr/>
    </dgm:pt>
    <dgm:pt modelId="{517322FC-0937-4E25-93A4-3DDC5CA9AB6F}" type="pres">
      <dgm:prSet presAssocID="{02C66747-9586-4F9D-9DFD-F4FF73216C97}" presName="tx1" presStyleLbl="revTx" presStyleIdx="0" presStyleCnt="8"/>
      <dgm:spPr/>
    </dgm:pt>
    <dgm:pt modelId="{4F482195-0AE4-4D0A-BE55-6EE85F675A02}" type="pres">
      <dgm:prSet presAssocID="{02C66747-9586-4F9D-9DFD-F4FF73216C97}" presName="vert1" presStyleCnt="0"/>
      <dgm:spPr/>
    </dgm:pt>
    <dgm:pt modelId="{F8F658A8-F921-47F6-AB40-DDD2656F7990}" type="pres">
      <dgm:prSet presAssocID="{781C85B8-FFD5-41FE-A8AD-CCA7A4894095}" presName="vertSpace2a" presStyleCnt="0"/>
      <dgm:spPr/>
    </dgm:pt>
    <dgm:pt modelId="{5198B020-1119-4CA4-8F07-B42EF0BE6606}" type="pres">
      <dgm:prSet presAssocID="{781C85B8-FFD5-41FE-A8AD-CCA7A4894095}" presName="horz2" presStyleCnt="0"/>
      <dgm:spPr/>
    </dgm:pt>
    <dgm:pt modelId="{67C32064-9AEA-4424-8B8F-5F7071617EAF}" type="pres">
      <dgm:prSet presAssocID="{781C85B8-FFD5-41FE-A8AD-CCA7A4894095}" presName="horzSpace2" presStyleCnt="0"/>
      <dgm:spPr/>
    </dgm:pt>
    <dgm:pt modelId="{55FC8539-7161-4FEC-A87C-CF674BB57ED1}" type="pres">
      <dgm:prSet presAssocID="{781C85B8-FFD5-41FE-A8AD-CCA7A4894095}" presName="tx2" presStyleLbl="revTx" presStyleIdx="1" presStyleCnt="8"/>
      <dgm:spPr/>
    </dgm:pt>
    <dgm:pt modelId="{9B0169B9-D574-4532-9037-A3E9358FE3F0}" type="pres">
      <dgm:prSet presAssocID="{781C85B8-FFD5-41FE-A8AD-CCA7A4894095}" presName="vert2" presStyleCnt="0"/>
      <dgm:spPr/>
    </dgm:pt>
    <dgm:pt modelId="{1580A8C5-DF19-4E41-AF72-A83C0A7F13D3}" type="pres">
      <dgm:prSet presAssocID="{781C85B8-FFD5-41FE-A8AD-CCA7A4894095}" presName="thinLine2b" presStyleLbl="callout" presStyleIdx="0" presStyleCnt="7"/>
      <dgm:spPr/>
    </dgm:pt>
    <dgm:pt modelId="{E9F9F7AB-436F-4875-9D49-8AF1C9BBBC9B}" type="pres">
      <dgm:prSet presAssocID="{781C85B8-FFD5-41FE-A8AD-CCA7A4894095}" presName="vertSpace2b" presStyleCnt="0"/>
      <dgm:spPr/>
    </dgm:pt>
    <dgm:pt modelId="{4342E966-FC02-49E8-8902-567FB4E4CA2C}" type="pres">
      <dgm:prSet presAssocID="{E4DD8267-9A91-467F-BBDF-84F42730C50C}" presName="horz2" presStyleCnt="0"/>
      <dgm:spPr/>
    </dgm:pt>
    <dgm:pt modelId="{2806619B-E7FD-4840-BAC3-A39E6843E6ED}" type="pres">
      <dgm:prSet presAssocID="{E4DD8267-9A91-467F-BBDF-84F42730C50C}" presName="horzSpace2" presStyleCnt="0"/>
      <dgm:spPr/>
    </dgm:pt>
    <dgm:pt modelId="{BDC128B0-FD29-4264-A180-0446FC575B63}" type="pres">
      <dgm:prSet presAssocID="{E4DD8267-9A91-467F-BBDF-84F42730C50C}" presName="tx2" presStyleLbl="revTx" presStyleIdx="2" presStyleCnt="8"/>
      <dgm:spPr/>
    </dgm:pt>
    <dgm:pt modelId="{352C5D05-DD4A-4B89-8F7A-10AC03E6B672}" type="pres">
      <dgm:prSet presAssocID="{E4DD8267-9A91-467F-BBDF-84F42730C50C}" presName="vert2" presStyleCnt="0"/>
      <dgm:spPr/>
    </dgm:pt>
    <dgm:pt modelId="{96DACFA0-B828-43FF-B229-F851960BEE31}" type="pres">
      <dgm:prSet presAssocID="{E4DD8267-9A91-467F-BBDF-84F42730C50C}" presName="thinLine2b" presStyleLbl="callout" presStyleIdx="1" presStyleCnt="7"/>
      <dgm:spPr/>
    </dgm:pt>
    <dgm:pt modelId="{8B45F542-4342-4F0B-9C56-C06DAD5E26A9}" type="pres">
      <dgm:prSet presAssocID="{E4DD8267-9A91-467F-BBDF-84F42730C50C}" presName="vertSpace2b" presStyleCnt="0"/>
      <dgm:spPr/>
    </dgm:pt>
    <dgm:pt modelId="{C4BB32FB-ED1F-434B-B020-D52B723FAB1A}" type="pres">
      <dgm:prSet presAssocID="{BD2FEEC3-7585-4184-A474-DC37F1DA2BAE}" presName="horz2" presStyleCnt="0"/>
      <dgm:spPr/>
    </dgm:pt>
    <dgm:pt modelId="{426B033C-9F5D-4CF2-97C3-BF59E05038E9}" type="pres">
      <dgm:prSet presAssocID="{BD2FEEC3-7585-4184-A474-DC37F1DA2BAE}" presName="horzSpace2" presStyleCnt="0"/>
      <dgm:spPr/>
    </dgm:pt>
    <dgm:pt modelId="{491AC8C5-8FBE-4487-A91E-FAD52E48F44C}" type="pres">
      <dgm:prSet presAssocID="{BD2FEEC3-7585-4184-A474-DC37F1DA2BAE}" presName="tx2" presStyleLbl="revTx" presStyleIdx="3" presStyleCnt="8"/>
      <dgm:spPr/>
    </dgm:pt>
    <dgm:pt modelId="{55C156E8-5F05-4B76-B97E-39C89DC80847}" type="pres">
      <dgm:prSet presAssocID="{BD2FEEC3-7585-4184-A474-DC37F1DA2BAE}" presName="vert2" presStyleCnt="0"/>
      <dgm:spPr/>
    </dgm:pt>
    <dgm:pt modelId="{4BA7FDA5-8FC7-4F57-A0A2-200EB8140264}" type="pres">
      <dgm:prSet presAssocID="{BD2FEEC3-7585-4184-A474-DC37F1DA2BAE}" presName="thinLine2b" presStyleLbl="callout" presStyleIdx="2" presStyleCnt="7"/>
      <dgm:spPr/>
    </dgm:pt>
    <dgm:pt modelId="{E4A8EF2A-D3E4-4007-8815-C0AFE186F192}" type="pres">
      <dgm:prSet presAssocID="{BD2FEEC3-7585-4184-A474-DC37F1DA2BAE}" presName="vertSpace2b" presStyleCnt="0"/>
      <dgm:spPr/>
    </dgm:pt>
    <dgm:pt modelId="{A785EAE0-CAE3-4162-B7CC-0D09D5BEE75F}" type="pres">
      <dgm:prSet presAssocID="{252E9577-1F82-41FA-8BBC-4E0E7F737FA5}" presName="horz2" presStyleCnt="0"/>
      <dgm:spPr/>
    </dgm:pt>
    <dgm:pt modelId="{DFE6939B-FACE-4630-A94A-47CAC27FFE13}" type="pres">
      <dgm:prSet presAssocID="{252E9577-1F82-41FA-8BBC-4E0E7F737FA5}" presName="horzSpace2" presStyleCnt="0"/>
      <dgm:spPr/>
    </dgm:pt>
    <dgm:pt modelId="{671866B1-77B4-4BAD-9486-8F2D09A3E382}" type="pres">
      <dgm:prSet presAssocID="{252E9577-1F82-41FA-8BBC-4E0E7F737FA5}" presName="tx2" presStyleLbl="revTx" presStyleIdx="4" presStyleCnt="8"/>
      <dgm:spPr/>
    </dgm:pt>
    <dgm:pt modelId="{4E0D1F9F-4DBE-4C11-9900-60F9CF1606F6}" type="pres">
      <dgm:prSet presAssocID="{252E9577-1F82-41FA-8BBC-4E0E7F737FA5}" presName="vert2" presStyleCnt="0"/>
      <dgm:spPr/>
    </dgm:pt>
    <dgm:pt modelId="{F4C45151-279D-4CFC-BDCB-8E81AED9601A}" type="pres">
      <dgm:prSet presAssocID="{252E9577-1F82-41FA-8BBC-4E0E7F737FA5}" presName="thinLine2b" presStyleLbl="callout" presStyleIdx="3" presStyleCnt="7"/>
      <dgm:spPr/>
    </dgm:pt>
    <dgm:pt modelId="{257CA5EC-DD42-458E-95B4-E62F80BA49E3}" type="pres">
      <dgm:prSet presAssocID="{252E9577-1F82-41FA-8BBC-4E0E7F737FA5}" presName="vertSpace2b" presStyleCnt="0"/>
      <dgm:spPr/>
    </dgm:pt>
    <dgm:pt modelId="{7AE9A107-E734-432D-928D-FEDE8C118D4C}" type="pres">
      <dgm:prSet presAssocID="{3FC0263F-7062-4440-AA01-527DBDCB43C3}" presName="horz2" presStyleCnt="0"/>
      <dgm:spPr/>
    </dgm:pt>
    <dgm:pt modelId="{39DA84CD-28E2-4AE5-914C-7EC4A4C7B21E}" type="pres">
      <dgm:prSet presAssocID="{3FC0263F-7062-4440-AA01-527DBDCB43C3}" presName="horzSpace2" presStyleCnt="0"/>
      <dgm:spPr/>
    </dgm:pt>
    <dgm:pt modelId="{BDFE42E1-95AC-45BE-9457-CC02256AE40F}" type="pres">
      <dgm:prSet presAssocID="{3FC0263F-7062-4440-AA01-527DBDCB43C3}" presName="tx2" presStyleLbl="revTx" presStyleIdx="5" presStyleCnt="8"/>
      <dgm:spPr/>
    </dgm:pt>
    <dgm:pt modelId="{A710AA7F-8295-41A1-B8FC-7724E9C7CE72}" type="pres">
      <dgm:prSet presAssocID="{3FC0263F-7062-4440-AA01-527DBDCB43C3}" presName="vert2" presStyleCnt="0"/>
      <dgm:spPr/>
    </dgm:pt>
    <dgm:pt modelId="{A6CD08BF-36AC-40D2-AD45-19EF52C5FC32}" type="pres">
      <dgm:prSet presAssocID="{3FC0263F-7062-4440-AA01-527DBDCB43C3}" presName="thinLine2b" presStyleLbl="callout" presStyleIdx="4" presStyleCnt="7"/>
      <dgm:spPr/>
    </dgm:pt>
    <dgm:pt modelId="{A51510E2-97F2-490B-92DD-09D0121415ED}" type="pres">
      <dgm:prSet presAssocID="{3FC0263F-7062-4440-AA01-527DBDCB43C3}" presName="vertSpace2b" presStyleCnt="0"/>
      <dgm:spPr/>
    </dgm:pt>
    <dgm:pt modelId="{0843A153-5FD3-42D4-BDAE-42E22BAEBC16}" type="pres">
      <dgm:prSet presAssocID="{CA96CC84-12F6-4D04-92FB-22DDD97D022A}" presName="horz2" presStyleCnt="0"/>
      <dgm:spPr/>
    </dgm:pt>
    <dgm:pt modelId="{087C5223-EDD1-4BB1-86D6-DF6B4A6BD4EC}" type="pres">
      <dgm:prSet presAssocID="{CA96CC84-12F6-4D04-92FB-22DDD97D022A}" presName="horzSpace2" presStyleCnt="0"/>
      <dgm:spPr/>
    </dgm:pt>
    <dgm:pt modelId="{E97029FE-0BB3-49AF-9E87-2B0B0F1F08C0}" type="pres">
      <dgm:prSet presAssocID="{CA96CC84-12F6-4D04-92FB-22DDD97D022A}" presName="tx2" presStyleLbl="revTx" presStyleIdx="6" presStyleCnt="8"/>
      <dgm:spPr/>
    </dgm:pt>
    <dgm:pt modelId="{D1109806-D695-4FED-9EEC-0CC0DA7DDE93}" type="pres">
      <dgm:prSet presAssocID="{CA96CC84-12F6-4D04-92FB-22DDD97D022A}" presName="vert2" presStyleCnt="0"/>
      <dgm:spPr/>
    </dgm:pt>
    <dgm:pt modelId="{FF26BF34-C9CD-4E37-8973-241A1EDFE36C}" type="pres">
      <dgm:prSet presAssocID="{CA96CC84-12F6-4D04-92FB-22DDD97D022A}" presName="thinLine2b" presStyleLbl="callout" presStyleIdx="5" presStyleCnt="7"/>
      <dgm:spPr/>
    </dgm:pt>
    <dgm:pt modelId="{CA35347A-33BB-433F-AF51-84A3B6429DDA}" type="pres">
      <dgm:prSet presAssocID="{CA96CC84-12F6-4D04-92FB-22DDD97D022A}" presName="vertSpace2b" presStyleCnt="0"/>
      <dgm:spPr/>
    </dgm:pt>
    <dgm:pt modelId="{FF88DA84-1335-4B06-8E95-DA569D6B34BC}" type="pres">
      <dgm:prSet presAssocID="{CB2814B2-E4B1-4BB4-A64B-C51E92B39594}" presName="horz2" presStyleCnt="0"/>
      <dgm:spPr/>
    </dgm:pt>
    <dgm:pt modelId="{92C2B2DA-F669-4627-B46E-637B5C445983}" type="pres">
      <dgm:prSet presAssocID="{CB2814B2-E4B1-4BB4-A64B-C51E92B39594}" presName="horzSpace2" presStyleCnt="0"/>
      <dgm:spPr/>
    </dgm:pt>
    <dgm:pt modelId="{8DD0A47B-F31B-4EA9-9CF2-CFBC88ACBB9B}" type="pres">
      <dgm:prSet presAssocID="{CB2814B2-E4B1-4BB4-A64B-C51E92B39594}" presName="tx2" presStyleLbl="revTx" presStyleIdx="7" presStyleCnt="8"/>
      <dgm:spPr/>
    </dgm:pt>
    <dgm:pt modelId="{01A022F3-1C89-4541-A4EE-226C248867AF}" type="pres">
      <dgm:prSet presAssocID="{CB2814B2-E4B1-4BB4-A64B-C51E92B39594}" presName="vert2" presStyleCnt="0"/>
      <dgm:spPr/>
    </dgm:pt>
    <dgm:pt modelId="{403681C8-F93A-4877-AD8A-EC80D83AE6A3}" type="pres">
      <dgm:prSet presAssocID="{CB2814B2-E4B1-4BB4-A64B-C51E92B39594}" presName="thinLine2b" presStyleLbl="callout" presStyleIdx="6" presStyleCnt="7"/>
      <dgm:spPr/>
    </dgm:pt>
    <dgm:pt modelId="{95FF347D-BBA7-4D23-AFC9-7F8E79D702FD}" type="pres">
      <dgm:prSet presAssocID="{CB2814B2-E4B1-4BB4-A64B-C51E92B39594}" presName="vertSpace2b" presStyleCnt="0"/>
      <dgm:spPr/>
    </dgm:pt>
  </dgm:ptLst>
  <dgm:cxnLst>
    <dgm:cxn modelId="{7CD9980B-8D71-4E1F-A03B-863CE015C901}" srcId="{02C66747-9586-4F9D-9DFD-F4FF73216C97}" destId="{CA96CC84-12F6-4D04-92FB-22DDD97D022A}" srcOrd="5" destOrd="0" parTransId="{73136F63-97BB-4F85-8BC7-118317CDB9E0}" sibTransId="{93AB3C2C-8A5D-4459-A5BF-F3C33D9D27BC}"/>
    <dgm:cxn modelId="{5B517818-2CFF-476C-A777-27A2A11B7B97}" type="presOf" srcId="{252E9577-1F82-41FA-8BBC-4E0E7F737FA5}" destId="{671866B1-77B4-4BAD-9486-8F2D09A3E382}" srcOrd="0" destOrd="0" presId="urn:microsoft.com/office/officeart/2008/layout/LinedList"/>
    <dgm:cxn modelId="{819C2633-7A47-42AE-8A2A-AC016CE6DF76}" srcId="{02C66747-9586-4F9D-9DFD-F4FF73216C97}" destId="{BD2FEEC3-7585-4184-A474-DC37F1DA2BAE}" srcOrd="2" destOrd="0" parTransId="{AD7AE86A-943B-4D2D-9AD0-341902B6430A}" sibTransId="{EDA5DE27-F5FC-4C55-BAD1-758BF8C840DC}"/>
    <dgm:cxn modelId="{D6EE1635-005F-437D-8331-7AC2A0492766}" type="presOf" srcId="{4C0B4C7E-D777-43F7-BC7D-E42F65165527}" destId="{0EE213A2-6390-4E7C-9685-F9512C6BF6DF}" srcOrd="0" destOrd="0" presId="urn:microsoft.com/office/officeart/2008/layout/LinedList"/>
    <dgm:cxn modelId="{03786741-2DEB-4BD5-8BA3-7164EEB7957C}" srcId="{02C66747-9586-4F9D-9DFD-F4FF73216C97}" destId="{252E9577-1F82-41FA-8BBC-4E0E7F737FA5}" srcOrd="3" destOrd="0" parTransId="{324179EC-F34A-4FD9-8582-CD3A41D26AF5}" sibTransId="{C050234C-BEBA-40A1-A83F-64B200D2DD41}"/>
    <dgm:cxn modelId="{7D3BC068-DDD1-4858-BC7D-CCCB8614C2EC}" type="presOf" srcId="{3FC0263F-7062-4440-AA01-527DBDCB43C3}" destId="{BDFE42E1-95AC-45BE-9457-CC02256AE40F}" srcOrd="0" destOrd="0" presId="urn:microsoft.com/office/officeart/2008/layout/LinedList"/>
    <dgm:cxn modelId="{9677704A-8CB6-4B58-8574-5FF3DC1B518C}" type="presOf" srcId="{CA96CC84-12F6-4D04-92FB-22DDD97D022A}" destId="{E97029FE-0BB3-49AF-9E87-2B0B0F1F08C0}" srcOrd="0" destOrd="0" presId="urn:microsoft.com/office/officeart/2008/layout/LinedList"/>
    <dgm:cxn modelId="{C5C72F71-1F4E-43E7-8C51-11D115F6ECBF}" type="presOf" srcId="{CB2814B2-E4B1-4BB4-A64B-C51E92B39594}" destId="{8DD0A47B-F31B-4EA9-9CF2-CFBC88ACBB9B}" srcOrd="0" destOrd="0" presId="urn:microsoft.com/office/officeart/2008/layout/LinedList"/>
    <dgm:cxn modelId="{F70B7D7D-6E62-4E6D-8066-B5573456ECC0}" type="presOf" srcId="{BD2FEEC3-7585-4184-A474-DC37F1DA2BAE}" destId="{491AC8C5-8FBE-4487-A91E-FAD52E48F44C}" srcOrd="0" destOrd="0" presId="urn:microsoft.com/office/officeart/2008/layout/LinedList"/>
    <dgm:cxn modelId="{830A6086-C0EA-4A2D-A71D-400660CC6E55}" srcId="{02C66747-9586-4F9D-9DFD-F4FF73216C97}" destId="{3FC0263F-7062-4440-AA01-527DBDCB43C3}" srcOrd="4" destOrd="0" parTransId="{9C5C5149-C28D-4DDF-850B-4847A91187F7}" sibTransId="{F6817E6C-C941-4A03-A274-D5DBD86066C2}"/>
    <dgm:cxn modelId="{E77FE799-2AAD-4214-815B-EF396A7FE709}" type="presOf" srcId="{781C85B8-FFD5-41FE-A8AD-CCA7A4894095}" destId="{55FC8539-7161-4FEC-A87C-CF674BB57ED1}" srcOrd="0" destOrd="0" presId="urn:microsoft.com/office/officeart/2008/layout/LinedList"/>
    <dgm:cxn modelId="{B891C7A0-13B6-467F-9A8F-19F1FAE36002}" srcId="{4C0B4C7E-D777-43F7-BC7D-E42F65165527}" destId="{02C66747-9586-4F9D-9DFD-F4FF73216C97}" srcOrd="0" destOrd="0" parTransId="{FD12628A-A978-444D-8687-4F84C22D4524}" sibTransId="{71F4072F-184D-4672-B4E2-2D100A649A37}"/>
    <dgm:cxn modelId="{D6BAF7B1-041D-42D6-A3A6-DDF86138CE95}" type="presOf" srcId="{E4DD8267-9A91-467F-BBDF-84F42730C50C}" destId="{BDC128B0-FD29-4264-A180-0446FC575B63}" srcOrd="0" destOrd="0" presId="urn:microsoft.com/office/officeart/2008/layout/LinedList"/>
    <dgm:cxn modelId="{03F7E0B6-9883-4206-BCAA-6F2EC5780436}" srcId="{02C66747-9586-4F9D-9DFD-F4FF73216C97}" destId="{E4DD8267-9A91-467F-BBDF-84F42730C50C}" srcOrd="1" destOrd="0" parTransId="{D89BF036-6DCD-42B5-99AC-AB6729DFB04D}" sibTransId="{C752C7B9-FAA0-4F04-84C2-36D4D0C07F7A}"/>
    <dgm:cxn modelId="{09D7F6C2-B15D-4EAB-AB4A-C351FD722CF6}" srcId="{02C66747-9586-4F9D-9DFD-F4FF73216C97}" destId="{781C85B8-FFD5-41FE-A8AD-CCA7A4894095}" srcOrd="0" destOrd="0" parTransId="{4F735615-9CB0-4D37-9908-366867A52494}" sibTransId="{FBE5E241-DA5B-4CF1-960D-C5FA631A431E}"/>
    <dgm:cxn modelId="{9EB98BF4-53B9-40B8-832E-45E1FBFC2255}" type="presOf" srcId="{02C66747-9586-4F9D-9DFD-F4FF73216C97}" destId="{517322FC-0937-4E25-93A4-3DDC5CA9AB6F}" srcOrd="0" destOrd="0" presId="urn:microsoft.com/office/officeart/2008/layout/LinedList"/>
    <dgm:cxn modelId="{25CF17FC-053C-4E0D-B87C-3639EBB49EAA}" srcId="{02C66747-9586-4F9D-9DFD-F4FF73216C97}" destId="{CB2814B2-E4B1-4BB4-A64B-C51E92B39594}" srcOrd="6" destOrd="0" parTransId="{72A3C199-8188-4302-A1F3-90BAAF585DDA}" sibTransId="{56002F48-8BC8-4AE1-AA27-E7A9159A3E02}"/>
    <dgm:cxn modelId="{EFB595A7-4B83-4761-9976-4DBD426CEDB4}" type="presParOf" srcId="{0EE213A2-6390-4E7C-9685-F9512C6BF6DF}" destId="{649668EB-F798-407C-8845-0CC5B3DD18A9}" srcOrd="0" destOrd="0" presId="urn:microsoft.com/office/officeart/2008/layout/LinedList"/>
    <dgm:cxn modelId="{11C2846D-0C32-4218-BC07-EC9E11B910C8}" type="presParOf" srcId="{0EE213A2-6390-4E7C-9685-F9512C6BF6DF}" destId="{54F7981D-5EBE-41C9-AAE5-D6471363674F}" srcOrd="1" destOrd="0" presId="urn:microsoft.com/office/officeart/2008/layout/LinedList"/>
    <dgm:cxn modelId="{392E2658-41AF-4BC7-9586-8669960B1306}" type="presParOf" srcId="{54F7981D-5EBE-41C9-AAE5-D6471363674F}" destId="{517322FC-0937-4E25-93A4-3DDC5CA9AB6F}" srcOrd="0" destOrd="0" presId="urn:microsoft.com/office/officeart/2008/layout/LinedList"/>
    <dgm:cxn modelId="{23DA705C-BEC3-4257-B078-1E443FE3AE1D}" type="presParOf" srcId="{54F7981D-5EBE-41C9-AAE5-D6471363674F}" destId="{4F482195-0AE4-4D0A-BE55-6EE85F675A02}" srcOrd="1" destOrd="0" presId="urn:microsoft.com/office/officeart/2008/layout/LinedList"/>
    <dgm:cxn modelId="{8CE3FDE3-BD1D-4EEE-8E27-340C4F6B6D61}" type="presParOf" srcId="{4F482195-0AE4-4D0A-BE55-6EE85F675A02}" destId="{F8F658A8-F921-47F6-AB40-DDD2656F7990}" srcOrd="0" destOrd="0" presId="urn:microsoft.com/office/officeart/2008/layout/LinedList"/>
    <dgm:cxn modelId="{3F691587-05FC-46CF-8E49-A93AC20A8C55}" type="presParOf" srcId="{4F482195-0AE4-4D0A-BE55-6EE85F675A02}" destId="{5198B020-1119-4CA4-8F07-B42EF0BE6606}" srcOrd="1" destOrd="0" presId="urn:microsoft.com/office/officeart/2008/layout/LinedList"/>
    <dgm:cxn modelId="{F0FCDC71-4990-4EAF-938C-72712290486E}" type="presParOf" srcId="{5198B020-1119-4CA4-8F07-B42EF0BE6606}" destId="{67C32064-9AEA-4424-8B8F-5F7071617EAF}" srcOrd="0" destOrd="0" presId="urn:microsoft.com/office/officeart/2008/layout/LinedList"/>
    <dgm:cxn modelId="{935B20B6-7307-48D1-A97C-4DA5AB210D82}" type="presParOf" srcId="{5198B020-1119-4CA4-8F07-B42EF0BE6606}" destId="{55FC8539-7161-4FEC-A87C-CF674BB57ED1}" srcOrd="1" destOrd="0" presId="urn:microsoft.com/office/officeart/2008/layout/LinedList"/>
    <dgm:cxn modelId="{5499198E-65FD-47FC-83A4-B745ACCD5DF1}" type="presParOf" srcId="{5198B020-1119-4CA4-8F07-B42EF0BE6606}" destId="{9B0169B9-D574-4532-9037-A3E9358FE3F0}" srcOrd="2" destOrd="0" presId="urn:microsoft.com/office/officeart/2008/layout/LinedList"/>
    <dgm:cxn modelId="{387CD565-0C89-4330-BBBF-688CF5F5BB11}" type="presParOf" srcId="{4F482195-0AE4-4D0A-BE55-6EE85F675A02}" destId="{1580A8C5-DF19-4E41-AF72-A83C0A7F13D3}" srcOrd="2" destOrd="0" presId="urn:microsoft.com/office/officeart/2008/layout/LinedList"/>
    <dgm:cxn modelId="{3F66B3F5-813C-4263-8F1E-EB3566AAAC69}" type="presParOf" srcId="{4F482195-0AE4-4D0A-BE55-6EE85F675A02}" destId="{E9F9F7AB-436F-4875-9D49-8AF1C9BBBC9B}" srcOrd="3" destOrd="0" presId="urn:microsoft.com/office/officeart/2008/layout/LinedList"/>
    <dgm:cxn modelId="{D6DE0DE5-821D-4767-A244-F8583E844623}" type="presParOf" srcId="{4F482195-0AE4-4D0A-BE55-6EE85F675A02}" destId="{4342E966-FC02-49E8-8902-567FB4E4CA2C}" srcOrd="4" destOrd="0" presId="urn:microsoft.com/office/officeart/2008/layout/LinedList"/>
    <dgm:cxn modelId="{8F5BC876-8BBE-4A23-BB4E-D6D22E3A50D2}" type="presParOf" srcId="{4342E966-FC02-49E8-8902-567FB4E4CA2C}" destId="{2806619B-E7FD-4840-BAC3-A39E6843E6ED}" srcOrd="0" destOrd="0" presId="urn:microsoft.com/office/officeart/2008/layout/LinedList"/>
    <dgm:cxn modelId="{B1580FB8-5A96-4041-91C8-6BC1513F1B0E}" type="presParOf" srcId="{4342E966-FC02-49E8-8902-567FB4E4CA2C}" destId="{BDC128B0-FD29-4264-A180-0446FC575B63}" srcOrd="1" destOrd="0" presId="urn:microsoft.com/office/officeart/2008/layout/LinedList"/>
    <dgm:cxn modelId="{9D4C246B-DC14-43A8-8E0B-6BFA1D4CF8F3}" type="presParOf" srcId="{4342E966-FC02-49E8-8902-567FB4E4CA2C}" destId="{352C5D05-DD4A-4B89-8F7A-10AC03E6B672}" srcOrd="2" destOrd="0" presId="urn:microsoft.com/office/officeart/2008/layout/LinedList"/>
    <dgm:cxn modelId="{81205AFF-A1EB-41BA-82A7-CB0CE2A0285A}" type="presParOf" srcId="{4F482195-0AE4-4D0A-BE55-6EE85F675A02}" destId="{96DACFA0-B828-43FF-B229-F851960BEE31}" srcOrd="5" destOrd="0" presId="urn:microsoft.com/office/officeart/2008/layout/LinedList"/>
    <dgm:cxn modelId="{C34E1E0A-B322-4CE8-9209-D777DF09B77D}" type="presParOf" srcId="{4F482195-0AE4-4D0A-BE55-6EE85F675A02}" destId="{8B45F542-4342-4F0B-9C56-C06DAD5E26A9}" srcOrd="6" destOrd="0" presId="urn:microsoft.com/office/officeart/2008/layout/LinedList"/>
    <dgm:cxn modelId="{C160D2A0-0256-4D7C-AF7F-9FBBFC74F338}" type="presParOf" srcId="{4F482195-0AE4-4D0A-BE55-6EE85F675A02}" destId="{C4BB32FB-ED1F-434B-B020-D52B723FAB1A}" srcOrd="7" destOrd="0" presId="urn:microsoft.com/office/officeart/2008/layout/LinedList"/>
    <dgm:cxn modelId="{05633C80-7EB8-480E-9DCD-09D194DA2430}" type="presParOf" srcId="{C4BB32FB-ED1F-434B-B020-D52B723FAB1A}" destId="{426B033C-9F5D-4CF2-97C3-BF59E05038E9}" srcOrd="0" destOrd="0" presId="urn:microsoft.com/office/officeart/2008/layout/LinedList"/>
    <dgm:cxn modelId="{02673CF5-69CC-4E35-B125-B49A3E6E73B7}" type="presParOf" srcId="{C4BB32FB-ED1F-434B-B020-D52B723FAB1A}" destId="{491AC8C5-8FBE-4487-A91E-FAD52E48F44C}" srcOrd="1" destOrd="0" presId="urn:microsoft.com/office/officeart/2008/layout/LinedList"/>
    <dgm:cxn modelId="{648162C8-D0A3-41D3-94B5-FD4D034306A9}" type="presParOf" srcId="{C4BB32FB-ED1F-434B-B020-D52B723FAB1A}" destId="{55C156E8-5F05-4B76-B97E-39C89DC80847}" srcOrd="2" destOrd="0" presId="urn:microsoft.com/office/officeart/2008/layout/LinedList"/>
    <dgm:cxn modelId="{FFDB691F-DC33-4291-B68B-DA1F519CE883}" type="presParOf" srcId="{4F482195-0AE4-4D0A-BE55-6EE85F675A02}" destId="{4BA7FDA5-8FC7-4F57-A0A2-200EB8140264}" srcOrd="8" destOrd="0" presId="urn:microsoft.com/office/officeart/2008/layout/LinedList"/>
    <dgm:cxn modelId="{CAC09141-41F6-418C-98AD-10F9BBB0A963}" type="presParOf" srcId="{4F482195-0AE4-4D0A-BE55-6EE85F675A02}" destId="{E4A8EF2A-D3E4-4007-8815-C0AFE186F192}" srcOrd="9" destOrd="0" presId="urn:microsoft.com/office/officeart/2008/layout/LinedList"/>
    <dgm:cxn modelId="{525444F8-D7B7-42A5-BD32-3DF4144D0018}" type="presParOf" srcId="{4F482195-0AE4-4D0A-BE55-6EE85F675A02}" destId="{A785EAE0-CAE3-4162-B7CC-0D09D5BEE75F}" srcOrd="10" destOrd="0" presId="urn:microsoft.com/office/officeart/2008/layout/LinedList"/>
    <dgm:cxn modelId="{DAFF0AD4-B3CB-4D05-875F-2E86F806A7F3}" type="presParOf" srcId="{A785EAE0-CAE3-4162-B7CC-0D09D5BEE75F}" destId="{DFE6939B-FACE-4630-A94A-47CAC27FFE13}" srcOrd="0" destOrd="0" presId="urn:microsoft.com/office/officeart/2008/layout/LinedList"/>
    <dgm:cxn modelId="{39A629D7-95FB-4B1E-BA61-25A611E6E261}" type="presParOf" srcId="{A785EAE0-CAE3-4162-B7CC-0D09D5BEE75F}" destId="{671866B1-77B4-4BAD-9486-8F2D09A3E382}" srcOrd="1" destOrd="0" presId="urn:microsoft.com/office/officeart/2008/layout/LinedList"/>
    <dgm:cxn modelId="{57E47737-97F1-416C-AA2C-F58771019149}" type="presParOf" srcId="{A785EAE0-CAE3-4162-B7CC-0D09D5BEE75F}" destId="{4E0D1F9F-4DBE-4C11-9900-60F9CF1606F6}" srcOrd="2" destOrd="0" presId="urn:microsoft.com/office/officeart/2008/layout/LinedList"/>
    <dgm:cxn modelId="{532795DF-7E5F-447F-BE58-3DD668ECA811}" type="presParOf" srcId="{4F482195-0AE4-4D0A-BE55-6EE85F675A02}" destId="{F4C45151-279D-4CFC-BDCB-8E81AED9601A}" srcOrd="11" destOrd="0" presId="urn:microsoft.com/office/officeart/2008/layout/LinedList"/>
    <dgm:cxn modelId="{3B273AA0-B394-466C-AFC0-6A2A49BEE9AD}" type="presParOf" srcId="{4F482195-0AE4-4D0A-BE55-6EE85F675A02}" destId="{257CA5EC-DD42-458E-95B4-E62F80BA49E3}" srcOrd="12" destOrd="0" presId="urn:microsoft.com/office/officeart/2008/layout/LinedList"/>
    <dgm:cxn modelId="{B2F9D37F-E565-4756-8ABD-A7238F22E3C1}" type="presParOf" srcId="{4F482195-0AE4-4D0A-BE55-6EE85F675A02}" destId="{7AE9A107-E734-432D-928D-FEDE8C118D4C}" srcOrd="13" destOrd="0" presId="urn:microsoft.com/office/officeart/2008/layout/LinedList"/>
    <dgm:cxn modelId="{E7227F68-97EB-4FD2-89D5-94667968D448}" type="presParOf" srcId="{7AE9A107-E734-432D-928D-FEDE8C118D4C}" destId="{39DA84CD-28E2-4AE5-914C-7EC4A4C7B21E}" srcOrd="0" destOrd="0" presId="urn:microsoft.com/office/officeart/2008/layout/LinedList"/>
    <dgm:cxn modelId="{9BEECAA8-DC08-4691-B7E9-DEBCFF1221BF}" type="presParOf" srcId="{7AE9A107-E734-432D-928D-FEDE8C118D4C}" destId="{BDFE42E1-95AC-45BE-9457-CC02256AE40F}" srcOrd="1" destOrd="0" presId="urn:microsoft.com/office/officeart/2008/layout/LinedList"/>
    <dgm:cxn modelId="{E4420BF7-2D1B-4D7E-B26E-B2EC21D1FB4C}" type="presParOf" srcId="{7AE9A107-E734-432D-928D-FEDE8C118D4C}" destId="{A710AA7F-8295-41A1-B8FC-7724E9C7CE72}" srcOrd="2" destOrd="0" presId="urn:microsoft.com/office/officeart/2008/layout/LinedList"/>
    <dgm:cxn modelId="{FD916B68-C1D3-427F-98BA-817B220D4DAF}" type="presParOf" srcId="{4F482195-0AE4-4D0A-BE55-6EE85F675A02}" destId="{A6CD08BF-36AC-40D2-AD45-19EF52C5FC32}" srcOrd="14" destOrd="0" presId="urn:microsoft.com/office/officeart/2008/layout/LinedList"/>
    <dgm:cxn modelId="{9D5A7695-B1B9-476C-968C-92B8C4C7B27B}" type="presParOf" srcId="{4F482195-0AE4-4D0A-BE55-6EE85F675A02}" destId="{A51510E2-97F2-490B-92DD-09D0121415ED}" srcOrd="15" destOrd="0" presId="urn:microsoft.com/office/officeart/2008/layout/LinedList"/>
    <dgm:cxn modelId="{EF593AC9-6211-4065-A7DB-D322FDB991A4}" type="presParOf" srcId="{4F482195-0AE4-4D0A-BE55-6EE85F675A02}" destId="{0843A153-5FD3-42D4-BDAE-42E22BAEBC16}" srcOrd="16" destOrd="0" presId="urn:microsoft.com/office/officeart/2008/layout/LinedList"/>
    <dgm:cxn modelId="{335AACC7-6FDD-4443-AD6E-B51D070297C9}" type="presParOf" srcId="{0843A153-5FD3-42D4-BDAE-42E22BAEBC16}" destId="{087C5223-EDD1-4BB1-86D6-DF6B4A6BD4EC}" srcOrd="0" destOrd="0" presId="urn:microsoft.com/office/officeart/2008/layout/LinedList"/>
    <dgm:cxn modelId="{E9E971EC-3237-4C79-B7FF-35A92556E6B5}" type="presParOf" srcId="{0843A153-5FD3-42D4-BDAE-42E22BAEBC16}" destId="{E97029FE-0BB3-49AF-9E87-2B0B0F1F08C0}" srcOrd="1" destOrd="0" presId="urn:microsoft.com/office/officeart/2008/layout/LinedList"/>
    <dgm:cxn modelId="{6EE0818E-8DFE-4A7F-B1C3-D50C343CDA14}" type="presParOf" srcId="{0843A153-5FD3-42D4-BDAE-42E22BAEBC16}" destId="{D1109806-D695-4FED-9EEC-0CC0DA7DDE93}" srcOrd="2" destOrd="0" presId="urn:microsoft.com/office/officeart/2008/layout/LinedList"/>
    <dgm:cxn modelId="{DE6D7BF0-C3DD-461E-8CA1-8AA247235C4C}" type="presParOf" srcId="{4F482195-0AE4-4D0A-BE55-6EE85F675A02}" destId="{FF26BF34-C9CD-4E37-8973-241A1EDFE36C}" srcOrd="17" destOrd="0" presId="urn:microsoft.com/office/officeart/2008/layout/LinedList"/>
    <dgm:cxn modelId="{599856F4-281C-4804-BD6B-862BC8A24CE7}" type="presParOf" srcId="{4F482195-0AE4-4D0A-BE55-6EE85F675A02}" destId="{CA35347A-33BB-433F-AF51-84A3B6429DDA}" srcOrd="18" destOrd="0" presId="urn:microsoft.com/office/officeart/2008/layout/LinedList"/>
    <dgm:cxn modelId="{F8D0FDA4-6A29-401B-85EE-4C411F1F1242}" type="presParOf" srcId="{4F482195-0AE4-4D0A-BE55-6EE85F675A02}" destId="{FF88DA84-1335-4B06-8E95-DA569D6B34BC}" srcOrd="19" destOrd="0" presId="urn:microsoft.com/office/officeart/2008/layout/LinedList"/>
    <dgm:cxn modelId="{AF413926-3543-4612-803C-DA12261AC097}" type="presParOf" srcId="{FF88DA84-1335-4B06-8E95-DA569D6B34BC}" destId="{92C2B2DA-F669-4627-B46E-637B5C445983}" srcOrd="0" destOrd="0" presId="urn:microsoft.com/office/officeart/2008/layout/LinedList"/>
    <dgm:cxn modelId="{2C722F8A-6435-4CEB-A5C5-09BFC8563824}" type="presParOf" srcId="{FF88DA84-1335-4B06-8E95-DA569D6B34BC}" destId="{8DD0A47B-F31B-4EA9-9CF2-CFBC88ACBB9B}" srcOrd="1" destOrd="0" presId="urn:microsoft.com/office/officeart/2008/layout/LinedList"/>
    <dgm:cxn modelId="{A85930D4-124F-409F-9054-0A2B6F9A6788}" type="presParOf" srcId="{FF88DA84-1335-4B06-8E95-DA569D6B34BC}" destId="{01A022F3-1C89-4541-A4EE-226C248867AF}" srcOrd="2" destOrd="0" presId="urn:microsoft.com/office/officeart/2008/layout/LinedList"/>
    <dgm:cxn modelId="{21018F2C-F9D1-48EE-AE56-7767DC391891}" type="presParOf" srcId="{4F482195-0AE4-4D0A-BE55-6EE85F675A02}" destId="{403681C8-F93A-4877-AD8A-EC80D83AE6A3}" srcOrd="20" destOrd="0" presId="urn:microsoft.com/office/officeart/2008/layout/LinedList"/>
    <dgm:cxn modelId="{3D20B0EE-CB26-4523-83A3-2E659F819E12}" type="presParOf" srcId="{4F482195-0AE4-4D0A-BE55-6EE85F675A02}" destId="{95FF347D-BBA7-4D23-AFC9-7F8E79D702FD}" srcOrd="2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9668EB-F798-407C-8845-0CC5B3DD18A9}">
      <dsp:nvSpPr>
        <dsp:cNvPr id="0" name=""/>
        <dsp:cNvSpPr/>
      </dsp:nvSpPr>
      <dsp:spPr>
        <a:xfrm>
          <a:off x="0" y="0"/>
          <a:ext cx="1007389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7322FC-0937-4E25-93A4-3DDC5CA9AB6F}">
      <dsp:nvSpPr>
        <dsp:cNvPr id="0" name=""/>
        <dsp:cNvSpPr/>
      </dsp:nvSpPr>
      <dsp:spPr>
        <a:xfrm>
          <a:off x="0" y="0"/>
          <a:ext cx="2014779" cy="4623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en-US" sz="4100" kern="1200"/>
            <a:t>Table of Content</a:t>
          </a:r>
        </a:p>
      </dsp:txBody>
      <dsp:txXfrm>
        <a:off x="0" y="0"/>
        <a:ext cx="2014779" cy="4623661"/>
      </dsp:txXfrm>
    </dsp:sp>
    <dsp:sp modelId="{55FC8539-7161-4FEC-A87C-CF674BB57ED1}">
      <dsp:nvSpPr>
        <dsp:cNvPr id="0" name=""/>
        <dsp:cNvSpPr/>
      </dsp:nvSpPr>
      <dsp:spPr>
        <a:xfrm>
          <a:off x="2165888" y="31211"/>
          <a:ext cx="7908009" cy="62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Problem Statement</a:t>
          </a:r>
        </a:p>
      </dsp:txBody>
      <dsp:txXfrm>
        <a:off x="2165888" y="31211"/>
        <a:ext cx="7908009" cy="624239"/>
      </dsp:txXfrm>
    </dsp:sp>
    <dsp:sp modelId="{1580A8C5-DF19-4E41-AF72-A83C0A7F13D3}">
      <dsp:nvSpPr>
        <dsp:cNvPr id="0" name=""/>
        <dsp:cNvSpPr/>
      </dsp:nvSpPr>
      <dsp:spPr>
        <a:xfrm>
          <a:off x="2014779" y="655451"/>
          <a:ext cx="805911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C128B0-FD29-4264-A180-0446FC575B63}">
      <dsp:nvSpPr>
        <dsp:cNvPr id="0" name=""/>
        <dsp:cNvSpPr/>
      </dsp:nvSpPr>
      <dsp:spPr>
        <a:xfrm>
          <a:off x="2165888" y="686663"/>
          <a:ext cx="7908009" cy="62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MVP Implementation Scope</a:t>
          </a:r>
        </a:p>
      </dsp:txBody>
      <dsp:txXfrm>
        <a:off x="2165888" y="686663"/>
        <a:ext cx="7908009" cy="624239"/>
      </dsp:txXfrm>
    </dsp:sp>
    <dsp:sp modelId="{96DACFA0-B828-43FF-B229-F851960BEE31}">
      <dsp:nvSpPr>
        <dsp:cNvPr id="0" name=""/>
        <dsp:cNvSpPr/>
      </dsp:nvSpPr>
      <dsp:spPr>
        <a:xfrm>
          <a:off x="2014779" y="1310902"/>
          <a:ext cx="805911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91AC8C5-8FBE-4487-A91E-FAD52E48F44C}">
      <dsp:nvSpPr>
        <dsp:cNvPr id="0" name=""/>
        <dsp:cNvSpPr/>
      </dsp:nvSpPr>
      <dsp:spPr>
        <a:xfrm>
          <a:off x="2165888" y="1342114"/>
          <a:ext cx="7908009" cy="62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Solution Design &amp; Architecture</a:t>
          </a:r>
        </a:p>
      </dsp:txBody>
      <dsp:txXfrm>
        <a:off x="2165888" y="1342114"/>
        <a:ext cx="7908009" cy="624239"/>
      </dsp:txXfrm>
    </dsp:sp>
    <dsp:sp modelId="{4BA7FDA5-8FC7-4F57-A0A2-200EB8140264}">
      <dsp:nvSpPr>
        <dsp:cNvPr id="0" name=""/>
        <dsp:cNvSpPr/>
      </dsp:nvSpPr>
      <dsp:spPr>
        <a:xfrm>
          <a:off x="2014779" y="1966354"/>
          <a:ext cx="805911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71866B1-77B4-4BAD-9486-8F2D09A3E382}">
      <dsp:nvSpPr>
        <dsp:cNvPr id="0" name=""/>
        <dsp:cNvSpPr/>
      </dsp:nvSpPr>
      <dsp:spPr>
        <a:xfrm>
          <a:off x="2165888" y="1997566"/>
          <a:ext cx="7908009" cy="62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Business Value/Impact</a:t>
          </a:r>
        </a:p>
      </dsp:txBody>
      <dsp:txXfrm>
        <a:off x="2165888" y="1997566"/>
        <a:ext cx="7908009" cy="624239"/>
      </dsp:txXfrm>
    </dsp:sp>
    <dsp:sp modelId="{F4C45151-279D-4CFC-BDCB-8E81AED9601A}">
      <dsp:nvSpPr>
        <dsp:cNvPr id="0" name=""/>
        <dsp:cNvSpPr/>
      </dsp:nvSpPr>
      <dsp:spPr>
        <a:xfrm>
          <a:off x="2014779" y="2621805"/>
          <a:ext cx="805911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FE42E1-95AC-45BE-9457-CC02256AE40F}">
      <dsp:nvSpPr>
        <dsp:cNvPr id="0" name=""/>
        <dsp:cNvSpPr/>
      </dsp:nvSpPr>
      <dsp:spPr>
        <a:xfrm>
          <a:off x="2165888" y="2653017"/>
          <a:ext cx="7908009" cy="62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Future Enhancements/Implementation Scope</a:t>
          </a:r>
        </a:p>
      </dsp:txBody>
      <dsp:txXfrm>
        <a:off x="2165888" y="2653017"/>
        <a:ext cx="7908009" cy="624239"/>
      </dsp:txXfrm>
    </dsp:sp>
    <dsp:sp modelId="{A6CD08BF-36AC-40D2-AD45-19EF52C5FC32}">
      <dsp:nvSpPr>
        <dsp:cNvPr id="0" name=""/>
        <dsp:cNvSpPr/>
      </dsp:nvSpPr>
      <dsp:spPr>
        <a:xfrm>
          <a:off x="2014779" y="3277256"/>
          <a:ext cx="805911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7029FE-0BB3-49AF-9E87-2B0B0F1F08C0}">
      <dsp:nvSpPr>
        <dsp:cNvPr id="0" name=""/>
        <dsp:cNvSpPr/>
      </dsp:nvSpPr>
      <dsp:spPr>
        <a:xfrm>
          <a:off x="2165888" y="3308468"/>
          <a:ext cx="7908009" cy="62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Demo</a:t>
          </a:r>
        </a:p>
      </dsp:txBody>
      <dsp:txXfrm>
        <a:off x="2165888" y="3308468"/>
        <a:ext cx="7908009" cy="624239"/>
      </dsp:txXfrm>
    </dsp:sp>
    <dsp:sp modelId="{FF26BF34-C9CD-4E37-8973-241A1EDFE36C}">
      <dsp:nvSpPr>
        <dsp:cNvPr id="0" name=""/>
        <dsp:cNvSpPr/>
      </dsp:nvSpPr>
      <dsp:spPr>
        <a:xfrm>
          <a:off x="2014779" y="3932708"/>
          <a:ext cx="805911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DD0A47B-F31B-4EA9-9CF2-CFBC88ACBB9B}">
      <dsp:nvSpPr>
        <dsp:cNvPr id="0" name=""/>
        <dsp:cNvSpPr/>
      </dsp:nvSpPr>
      <dsp:spPr>
        <a:xfrm>
          <a:off x="2165888" y="3963920"/>
          <a:ext cx="7908009" cy="62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Closing note</a:t>
          </a:r>
        </a:p>
      </dsp:txBody>
      <dsp:txXfrm>
        <a:off x="2165888" y="3963920"/>
        <a:ext cx="7908009" cy="624239"/>
      </dsp:txXfrm>
    </dsp:sp>
    <dsp:sp modelId="{403681C8-F93A-4877-AD8A-EC80D83AE6A3}">
      <dsp:nvSpPr>
        <dsp:cNvPr id="0" name=""/>
        <dsp:cNvSpPr/>
      </dsp:nvSpPr>
      <dsp:spPr>
        <a:xfrm>
          <a:off x="2014779" y="4588159"/>
          <a:ext cx="805911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4150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 — Title (0:00–0:20)</a:t>
            </a:r>
          </a:p>
          <a:p>
            <a:r>
              <a:rPr lang="en-US" dirty="0"/>
              <a:t>Good afternoon, everyone. We are Team Sentinel — Debapriyo Dasgupta and Niveed Kumar Reddy Bollapally— and today we're presenting </a:t>
            </a:r>
            <a:r>
              <a:rPr lang="en-US" b="1" dirty="0" err="1"/>
              <a:t>SpecSentinel</a:t>
            </a:r>
            <a:r>
              <a:rPr lang="en-US" dirty="0"/>
              <a:t>: an autonomous, agentic API governance engine built powered by AI (IBM watsonx.ai).</a:t>
            </a:r>
          </a:p>
          <a:p>
            <a:r>
              <a:rPr lang="en-US" dirty="0"/>
              <a:t>What makes </a:t>
            </a:r>
            <a:r>
              <a:rPr lang="en-US" dirty="0" err="1"/>
              <a:t>SpecSentinel</a:t>
            </a:r>
            <a:r>
              <a:rPr lang="en-US" dirty="0"/>
              <a:t> different from every other API linter or validation tool out there? It doesn't just check rules. It </a:t>
            </a:r>
            <a:r>
              <a:rPr lang="en-US" i="1" dirty="0"/>
              <a:t>thinks</a:t>
            </a:r>
            <a:r>
              <a:rPr lang="en-US" dirty="0"/>
              <a:t>, </a:t>
            </a:r>
            <a:r>
              <a:rPr lang="en-US" i="1" dirty="0"/>
              <a:t>plans</a:t>
            </a:r>
            <a:r>
              <a:rPr lang="en-US" dirty="0"/>
              <a:t>, and </a:t>
            </a:r>
            <a:r>
              <a:rPr lang="en-US" i="1" dirty="0"/>
              <a:t>acts</a:t>
            </a:r>
            <a:r>
              <a:rPr lang="en-US" dirty="0"/>
              <a:t> — like a senior security architect running a full review, except it does it in under 10 seconds.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b="1" dirty="0"/>
              <a:t>Slide 2 — [Transition] (0:20–0:30)</a:t>
            </a:r>
          </a:p>
          <a:p>
            <a:r>
              <a:rPr lang="en-US" dirty="0"/>
              <a:t>Before we get into the solution, let's talk about the problem that inspired it.</a:t>
            </a:r>
          </a:p>
          <a:p>
            <a:endParaRPr lang="en-US" dirty="0"/>
          </a:p>
        </p:txBody>
      </p:sp>
    </p:spTree>
    <p:extLst>
      <p:ext uri="{BB962C8B-B14F-4D97-AF65-F5344CB8AC3E}">
        <p14:creationId xmlns:p14="http://schemas.microsoft.com/office/powerpoint/2010/main" val="2847074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6312A-7D2E-8BAC-E3A8-88E2615C2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0B4BF-1C44-7B13-24E3-E4EB804E5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19837-68D3-F143-367F-B87E900AD64F}"/>
              </a:ext>
            </a:extLst>
          </p:cNvPr>
          <p:cNvSpPr>
            <a:spLocks noGrp="1"/>
          </p:cNvSpPr>
          <p:nvPr>
            <p:ph type="body" idx="1"/>
          </p:nvPr>
        </p:nvSpPr>
        <p:spPr/>
        <p:txBody>
          <a:bodyPr/>
          <a:lstStyle/>
          <a:p>
            <a:r>
              <a:rPr lang="en-US" b="1" dirty="0"/>
              <a:t>Slide 3 — Problem Statement (0:30–1:20)</a:t>
            </a:r>
          </a:p>
          <a:p>
            <a:r>
              <a:rPr lang="en-US" dirty="0"/>
              <a:t>Enterprises today expose hundreds of APIs. </a:t>
            </a:r>
            <a:r>
              <a:rPr lang="en-US" dirty="0" err="1"/>
              <a:t>OpenAPI</a:t>
            </a:r>
            <a:r>
              <a:rPr lang="en-US" dirty="0"/>
              <a:t> specifications are the contract that governs them — but in practice, these specs routinely ship </a:t>
            </a:r>
            <a:r>
              <a:rPr lang="en-US" i="1" dirty="0"/>
              <a:t>without</a:t>
            </a:r>
            <a:r>
              <a:rPr lang="en-US" dirty="0"/>
              <a:t> security schemes, proper error handling, or governance standards. The numbers are stark: The average cost of an API breach is more than </a:t>
            </a:r>
            <a:r>
              <a:rPr lang="en-US" b="1" dirty="0"/>
              <a:t>$4 million per incident </a:t>
            </a:r>
            <a:r>
              <a:rPr lang="en-US" b="0" dirty="0"/>
              <a:t>(as per </a:t>
            </a:r>
            <a:r>
              <a:rPr lang="en-US" sz="1200" b="0" i="0" kern="1200" dirty="0">
                <a:solidFill>
                  <a:schemeClr val="tx1"/>
                </a:solidFill>
                <a:effectLst/>
                <a:latin typeface="+mn-lt"/>
                <a:ea typeface="+mn-ea"/>
                <a:cs typeface="+mn-cs"/>
              </a:rPr>
              <a:t>IBM Cost of a Data Breach Report 2025</a:t>
            </a:r>
            <a:r>
              <a:rPr lang="en-US" b="0" dirty="0"/>
              <a:t>)</a:t>
            </a:r>
            <a:r>
              <a:rPr lang="en-US" dirty="0"/>
              <a:t>.</a:t>
            </a:r>
          </a:p>
          <a:p>
            <a:endParaRPr lang="en-US" b="1" dirty="0"/>
          </a:p>
          <a:p>
            <a:r>
              <a:rPr lang="en-US" b="1" dirty="0"/>
              <a:t>57% of organizations</a:t>
            </a:r>
            <a:r>
              <a:rPr lang="en-US" dirty="0"/>
              <a:t> have experienced an API breach in the last two years.</a:t>
            </a:r>
          </a:p>
          <a:p>
            <a:endParaRPr lang="en-US" dirty="0"/>
          </a:p>
          <a:p>
            <a:r>
              <a:rPr lang="en-US" dirty="0"/>
              <a:t>And yet, API reviews today are largely </a:t>
            </a:r>
            <a:r>
              <a:rPr lang="en-US" b="1" dirty="0"/>
              <a:t>manual</a:t>
            </a:r>
            <a:r>
              <a:rPr lang="en-US" dirty="0"/>
              <a:t> — slow, inconsistent, and impossible to scale.</a:t>
            </a:r>
          </a:p>
          <a:p>
            <a:r>
              <a:rPr lang="en-US" dirty="0"/>
              <a:t>Common failures we see: missing OAuth2 or JWT authentication, undocumented 401 and 403 error responses, inconsistent naming conventions, and zero alignment with OWASP or ISO standards.</a:t>
            </a:r>
          </a:p>
          <a:p>
            <a:endParaRPr lang="en-US" dirty="0"/>
          </a:p>
          <a:p>
            <a:r>
              <a:rPr lang="en-US" dirty="0"/>
              <a:t>The result? Every ungoverned API that ships becomes a liability waiting to be discovered in production.</a:t>
            </a:r>
          </a:p>
          <a:p>
            <a:endParaRPr lang="en-US" dirty="0"/>
          </a:p>
        </p:txBody>
      </p:sp>
      <p:sp>
        <p:nvSpPr>
          <p:cNvPr id="4" name="Slide Number Placeholder 3">
            <a:extLst>
              <a:ext uri="{FF2B5EF4-FFF2-40B4-BE49-F238E27FC236}">
                <a16:creationId xmlns:a16="http://schemas.microsoft.com/office/drawing/2014/main" id="{4224A3EB-CF28-B68B-155B-F9144C2D83E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731053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07342-7F24-482D-72F4-E3593A2FAE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14C5E0-9063-5ABC-AFF8-4B3E7F908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6A333-1EF8-F06D-1A9D-C948CF2BFFC9}"/>
              </a:ext>
            </a:extLst>
          </p:cNvPr>
          <p:cNvSpPr>
            <a:spLocks noGrp="1"/>
          </p:cNvSpPr>
          <p:nvPr>
            <p:ph type="body" idx="1"/>
          </p:nvPr>
        </p:nvSpPr>
        <p:spPr/>
        <p:txBody>
          <a:bodyPr/>
          <a:lstStyle/>
          <a:p>
            <a:r>
              <a:rPr lang="en-US" b="1" dirty="0"/>
              <a:t>Slide 4 — MVP Implementation Scope (1:20–2:10)</a:t>
            </a:r>
          </a:p>
          <a:p>
            <a:r>
              <a:rPr lang="en-US" dirty="0"/>
              <a:t>This is exactly what </a:t>
            </a:r>
            <a:r>
              <a:rPr lang="en-US" dirty="0" err="1"/>
              <a:t>SpecSentinel</a:t>
            </a:r>
            <a:r>
              <a:rPr lang="en-US" dirty="0"/>
              <a:t> solves. But let me be specific about </a:t>
            </a:r>
            <a:r>
              <a:rPr lang="en-US" i="1" dirty="0"/>
              <a:t>how</a:t>
            </a:r>
            <a:r>
              <a:rPr lang="en-US" dirty="0"/>
              <a:t> — because the approach is fundamentally agentic, not just automated.</a:t>
            </a:r>
          </a:p>
          <a:p>
            <a:r>
              <a:rPr lang="en-US" dirty="0"/>
              <a:t>Traditional tools apply static rules. </a:t>
            </a:r>
            <a:r>
              <a:rPr lang="en-US" dirty="0" err="1"/>
              <a:t>SpecSentinel</a:t>
            </a:r>
            <a:r>
              <a:rPr lang="en-US" dirty="0"/>
              <a:t> deploys a </a:t>
            </a:r>
            <a:r>
              <a:rPr lang="en-US" b="1" dirty="0"/>
              <a:t>closed-loop agentic cycle</a:t>
            </a:r>
            <a:r>
              <a:rPr lang="en-US" dirty="0"/>
              <a:t> powered by </a:t>
            </a:r>
            <a:r>
              <a:rPr lang="en-US" dirty="0" err="1"/>
              <a:t>WatsonX</a:t>
            </a:r>
            <a:r>
              <a:rPr lang="en-US" dirty="0"/>
              <a:t> AI:</a:t>
            </a:r>
          </a:p>
          <a:p>
            <a:r>
              <a:rPr lang="en-US" b="1" dirty="0"/>
              <a:t>                                       Plan → Analyze → Categorize → Recommend → Score → Improve</a:t>
            </a:r>
            <a:endParaRPr lang="en-US" dirty="0"/>
          </a:p>
          <a:p>
            <a:endParaRPr lang="en-US" dirty="0"/>
          </a:p>
          <a:p>
            <a:r>
              <a:rPr lang="en-US" dirty="0"/>
              <a:t>At each stage, the AI agent doesn't just execute a fixed script — it </a:t>
            </a:r>
            <a:r>
              <a:rPr lang="en-US" b="1" i="1" dirty="0"/>
              <a:t>reasons</a:t>
            </a:r>
            <a:r>
              <a:rPr lang="en-US" dirty="0"/>
              <a:t> about the spec context, </a:t>
            </a:r>
            <a:r>
              <a:rPr lang="en-US" b="1" i="1" dirty="0"/>
              <a:t>decides</a:t>
            </a:r>
            <a:r>
              <a:rPr lang="en-US" dirty="0"/>
              <a:t> which governance rules are relevant, and </a:t>
            </a:r>
            <a:r>
              <a:rPr lang="en-US" b="1" i="1" dirty="0"/>
              <a:t>generates</a:t>
            </a:r>
            <a:r>
              <a:rPr lang="en-US" dirty="0"/>
              <a:t> tailored fix guidance. </a:t>
            </a:r>
          </a:p>
          <a:p>
            <a:r>
              <a:rPr lang="en-US" dirty="0"/>
              <a:t>It's the difference between a spell-checker and a co-author. No manual intervention. No human reviewer. Just a structured API Health Report produced through genuine agentic reasoning — in seconds.</a:t>
            </a:r>
          </a:p>
          <a:p>
            <a:endParaRPr lang="en-US" dirty="0"/>
          </a:p>
          <a:p>
            <a:r>
              <a:rPr lang="en-US" dirty="0"/>
              <a:t>Concretely, </a:t>
            </a:r>
            <a:r>
              <a:rPr lang="en-US" dirty="0" err="1"/>
              <a:t>SpecSentinel</a:t>
            </a:r>
            <a:r>
              <a:rPr lang="en-US" dirty="0"/>
              <a:t> delivers 6 core capabilities:</a:t>
            </a:r>
          </a:p>
          <a:p>
            <a:r>
              <a:rPr lang="en-US" b="1" dirty="0"/>
              <a:t>Security analysis</a:t>
            </a:r>
            <a:r>
              <a:rPr lang="en-US" dirty="0"/>
              <a:t> — detects missing auth schemes, absent error codes, and sensitive data exposure.</a:t>
            </a:r>
          </a:p>
          <a:p>
            <a:r>
              <a:rPr lang="en-US" b="1" dirty="0"/>
              <a:t>API design checks</a:t>
            </a:r>
            <a:r>
              <a:rPr lang="en-US" dirty="0"/>
              <a:t> — validates REST conventions, versioning, naming, and pagination.</a:t>
            </a:r>
          </a:p>
          <a:p>
            <a:r>
              <a:rPr lang="en-US" b="1" dirty="0"/>
              <a:t>Threat classification</a:t>
            </a:r>
            <a:r>
              <a:rPr lang="en-US" dirty="0"/>
              <a:t> — every finding is rated Critical, High, Medium, or Low, and mapped to a risk category.</a:t>
            </a:r>
          </a:p>
          <a:p>
            <a:r>
              <a:rPr lang="en-US" b="1" dirty="0"/>
              <a:t>Fix recommendation</a:t>
            </a:r>
            <a:r>
              <a:rPr lang="en-US" dirty="0"/>
              <a:t> — Proper issue description with risk identification and remediation steps </a:t>
            </a:r>
          </a:p>
          <a:p>
            <a:r>
              <a:rPr lang="en-US" b="1" dirty="0"/>
              <a:t>Benchmark alignment</a:t>
            </a:r>
            <a:r>
              <a:rPr lang="en-US" dirty="0"/>
              <a:t> — maps findings to OWASP API Top 10, </a:t>
            </a:r>
            <a:r>
              <a:rPr lang="en-US" dirty="0" err="1"/>
              <a:t>OpenAPI</a:t>
            </a:r>
            <a:r>
              <a:rPr lang="en-US" dirty="0"/>
              <a:t> best practices, and ISO governance standards.</a:t>
            </a:r>
          </a:p>
          <a:p>
            <a:r>
              <a:rPr lang="en-US" b="1" dirty="0"/>
              <a:t>Health scoring</a:t>
            </a:r>
            <a:r>
              <a:rPr lang="en-US" dirty="0"/>
              <a:t> — a 0-to-100 score across five weighted dimensions, giving teams a single measurable KPI.</a:t>
            </a:r>
          </a:p>
          <a:p>
            <a:endParaRPr lang="en-US" dirty="0"/>
          </a:p>
          <a:p>
            <a:r>
              <a:rPr lang="en-US" dirty="0"/>
              <a:t>The success criterion for our MVP was simple: ingest a real </a:t>
            </a:r>
            <a:r>
              <a:rPr lang="en-US" dirty="0" err="1"/>
              <a:t>OpenAPI</a:t>
            </a:r>
            <a:r>
              <a:rPr lang="en-US" dirty="0"/>
              <a:t> spec, classify threats, score it, and generate actionable, fix-ready YAML — and we've demonstrated that end-to-end.</a:t>
            </a:r>
          </a:p>
          <a:p>
            <a:br>
              <a:rPr lang="en-US" dirty="0"/>
            </a:br>
            <a:endParaRPr lang="en-US" dirty="0"/>
          </a:p>
        </p:txBody>
      </p:sp>
      <p:sp>
        <p:nvSpPr>
          <p:cNvPr id="4" name="Slide Number Placeholder 3">
            <a:extLst>
              <a:ext uri="{FF2B5EF4-FFF2-40B4-BE49-F238E27FC236}">
                <a16:creationId xmlns:a16="http://schemas.microsoft.com/office/drawing/2014/main" id="{F89F10DA-97CC-6AA2-1EBA-E730FAA9C25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131768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8DEC4-A083-FC3C-0DCB-6CDD2188F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CDEBD-E36A-D450-CA4E-60106DF16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DF9FD-BB55-92EC-558D-DE16262B8C96}"/>
              </a:ext>
            </a:extLst>
          </p:cNvPr>
          <p:cNvSpPr>
            <a:spLocks noGrp="1"/>
          </p:cNvSpPr>
          <p:nvPr>
            <p:ph type="body" idx="1"/>
          </p:nvPr>
        </p:nvSpPr>
        <p:spPr/>
        <p:txBody>
          <a:bodyPr/>
          <a:lstStyle/>
          <a:p>
            <a:r>
              <a:rPr lang="en-US" b="1" dirty="0"/>
              <a:t>Slide 5 — Solution Design &amp; Architecture (2:10–3:00)</a:t>
            </a:r>
          </a:p>
          <a:p>
            <a:r>
              <a:rPr lang="en-US" dirty="0"/>
              <a:t>Here's how it works under the hood.</a:t>
            </a:r>
          </a:p>
          <a:p>
            <a:r>
              <a:rPr lang="en-US" dirty="0"/>
              <a:t>At the </a:t>
            </a:r>
            <a:r>
              <a:rPr lang="en-US" b="1" dirty="0"/>
              <a:t>UI layer</a:t>
            </a:r>
            <a:r>
              <a:rPr lang="en-US" dirty="0"/>
              <a:t>, users can upload specs via a Flask web frontend or call the REST API directly with curl or Postman.</a:t>
            </a:r>
          </a:p>
          <a:p>
            <a:endParaRPr lang="en-US" dirty="0"/>
          </a:p>
          <a:p>
            <a:r>
              <a:rPr lang="en-US" dirty="0"/>
              <a:t>Requests hit a </a:t>
            </a:r>
            <a:r>
              <a:rPr lang="en-US" b="1" dirty="0" err="1"/>
              <a:t>FastAPI</a:t>
            </a:r>
            <a:r>
              <a:rPr lang="en-US" b="1" dirty="0"/>
              <a:t> backend</a:t>
            </a:r>
            <a:r>
              <a:rPr lang="en-US" dirty="0"/>
              <a:t> that coordinates with the engine layer — a pipeline of four components: a </a:t>
            </a:r>
            <a:r>
              <a:rPr lang="en-US" b="1" i="1" dirty="0"/>
              <a:t>signal extractor</a:t>
            </a:r>
            <a:r>
              <a:rPr lang="en-US" dirty="0"/>
              <a:t> that parses 50+ signals from the spec, a </a:t>
            </a:r>
            <a:r>
              <a:rPr lang="en-US" b="1" i="1" dirty="0"/>
              <a:t>rule matcher</a:t>
            </a:r>
            <a:r>
              <a:rPr lang="en-US" dirty="0"/>
              <a:t> using vector search against </a:t>
            </a:r>
            <a:r>
              <a:rPr lang="en-US" dirty="0" err="1"/>
              <a:t>ChromaDB</a:t>
            </a:r>
            <a:r>
              <a:rPr lang="en-US" dirty="0"/>
              <a:t>, a </a:t>
            </a:r>
            <a:r>
              <a:rPr lang="en-US" b="1" i="1" dirty="0"/>
              <a:t>health scorer</a:t>
            </a:r>
            <a:r>
              <a:rPr lang="en-US" dirty="0"/>
              <a:t>, and a </a:t>
            </a:r>
            <a:r>
              <a:rPr lang="en-US" b="1" i="1" dirty="0"/>
              <a:t>report generator</a:t>
            </a:r>
            <a:r>
              <a:rPr lang="en-US" dirty="0"/>
              <a:t>.</a:t>
            </a:r>
          </a:p>
          <a:p>
            <a:endParaRPr lang="en-US" dirty="0"/>
          </a:p>
          <a:p>
            <a:r>
              <a:rPr lang="en-US" dirty="0"/>
              <a:t>The </a:t>
            </a:r>
            <a:r>
              <a:rPr lang="en-US" b="1" dirty="0"/>
              <a:t>vector database</a:t>
            </a:r>
            <a:r>
              <a:rPr lang="en-US" dirty="0"/>
              <a:t> holds over 29 governance rules across security, design, error handling, documentation, and governance categories — sourced from OWASP, </a:t>
            </a:r>
            <a:r>
              <a:rPr lang="en-US" dirty="0" err="1"/>
              <a:t>OpenAPI</a:t>
            </a:r>
            <a:r>
              <a:rPr lang="en-US" dirty="0"/>
              <a:t> standards, and RFC 7807. A built-in web scraper auto-refreshes these rules on a weekly schedule (which can be configured to daily or even hourly).</a:t>
            </a:r>
          </a:p>
          <a:p>
            <a:endParaRPr lang="en-US" dirty="0"/>
          </a:p>
          <a:p>
            <a:r>
              <a:rPr lang="en-US" dirty="0"/>
              <a:t>And at the top sits our </a:t>
            </a:r>
            <a:r>
              <a:rPr lang="en-US" b="1" dirty="0"/>
              <a:t>AI layer</a:t>
            </a:r>
            <a:r>
              <a:rPr lang="en-US" dirty="0"/>
              <a:t> — the brain of </a:t>
            </a:r>
            <a:r>
              <a:rPr lang="en-US" dirty="0" err="1"/>
              <a:t>SpecSentinel</a:t>
            </a:r>
            <a:r>
              <a:rPr lang="en-US" dirty="0"/>
              <a:t> — powered by IBM watsonx.ai.</a:t>
            </a:r>
          </a:p>
          <a:p>
            <a:r>
              <a:rPr lang="en-US" dirty="0"/>
              <a:t>This layer has two key components. </a:t>
            </a:r>
          </a:p>
          <a:p>
            <a:endParaRPr lang="en-US" dirty="0"/>
          </a:p>
          <a:p>
            <a:r>
              <a:rPr lang="en-US" dirty="0"/>
              <a:t>First, a </a:t>
            </a:r>
            <a:r>
              <a:rPr lang="en-US" b="1" dirty="0"/>
              <a:t>Universal AI Agent</a:t>
            </a:r>
            <a:r>
              <a:rPr lang="en-US" dirty="0"/>
              <a:t> with multi-LLM support that auto-generates human-readable explanations and fix-ready code for every finding. It doesn't just flag a problem — it tells you </a:t>
            </a:r>
            <a:r>
              <a:rPr lang="en-US" i="1" dirty="0"/>
              <a:t>why</a:t>
            </a:r>
            <a:r>
              <a:rPr lang="en-US" dirty="0"/>
              <a:t> it's a risk and </a:t>
            </a:r>
            <a:r>
              <a:rPr lang="en-US" i="1" dirty="0"/>
              <a:t>exactly</a:t>
            </a:r>
            <a:r>
              <a:rPr lang="en-US" dirty="0"/>
              <a:t> how to fix it.</a:t>
            </a:r>
          </a:p>
          <a:p>
            <a:endParaRPr lang="en-US" dirty="0"/>
          </a:p>
          <a:p>
            <a:r>
              <a:rPr lang="en-US" dirty="0"/>
              <a:t>Second, an </a:t>
            </a:r>
            <a:r>
              <a:rPr lang="en-US" b="1" dirty="0"/>
              <a:t>Orchestrator</a:t>
            </a:r>
            <a:r>
              <a:rPr lang="en-US" dirty="0"/>
              <a:t> that coordinates five specialized sub-agents running in parallel — each one a domain expert in its own right:</a:t>
            </a:r>
          </a:p>
          <a:p>
            <a:r>
              <a:rPr lang="en-US" dirty="0"/>
              <a:t>The </a:t>
            </a:r>
            <a:r>
              <a:rPr lang="en-US" b="1" dirty="0"/>
              <a:t>Security agent</a:t>
            </a:r>
            <a:r>
              <a:rPr lang="en-US" dirty="0"/>
              <a:t> brings OWASP API Top 10 expertise.</a:t>
            </a:r>
          </a:p>
          <a:p>
            <a:r>
              <a:rPr lang="en-US" dirty="0"/>
              <a:t>The </a:t>
            </a:r>
            <a:r>
              <a:rPr lang="en-US" b="1" dirty="0"/>
              <a:t>Design agent</a:t>
            </a:r>
            <a:r>
              <a:rPr lang="en-US" dirty="0"/>
              <a:t> enforces REST best practices.</a:t>
            </a:r>
          </a:p>
          <a:p>
            <a:r>
              <a:rPr lang="en-US" dirty="0"/>
              <a:t>The </a:t>
            </a:r>
            <a:r>
              <a:rPr lang="en-US" b="1" dirty="0"/>
              <a:t>Error Handling agent</a:t>
            </a:r>
            <a:r>
              <a:rPr lang="en-US" dirty="0"/>
              <a:t> checks RFC 7807 compliance.</a:t>
            </a:r>
          </a:p>
          <a:p>
            <a:r>
              <a:rPr lang="en-US" dirty="0"/>
              <a:t>The </a:t>
            </a:r>
            <a:r>
              <a:rPr lang="en-US" b="1" dirty="0"/>
              <a:t>Documents agent</a:t>
            </a:r>
            <a:r>
              <a:rPr lang="en-US" dirty="0"/>
              <a:t> evaluates documentation quality.</a:t>
            </a:r>
          </a:p>
          <a:p>
            <a:r>
              <a:rPr lang="en-US" dirty="0"/>
              <a:t>And the </a:t>
            </a:r>
            <a:r>
              <a:rPr lang="en-US" b="1" dirty="0"/>
              <a:t>Governance agent</a:t>
            </a:r>
            <a:r>
              <a:rPr lang="en-US" dirty="0"/>
              <a:t> ensures alignment with enterprise standards.</a:t>
            </a:r>
          </a:p>
          <a:p>
            <a:endParaRPr lang="en-US" dirty="0"/>
          </a:p>
          <a:p>
            <a:r>
              <a:rPr lang="en-US" dirty="0"/>
              <a:t>The Orchestrator fans out the work across all five agents simultaneously, then aggregates their results into one coherent, prioritized health report. This is what makes </a:t>
            </a:r>
            <a:r>
              <a:rPr lang="en-US" dirty="0" err="1"/>
              <a:t>SpecSentinel</a:t>
            </a:r>
            <a:r>
              <a:rPr lang="en-US" dirty="0"/>
              <a:t> truly agentic — not a single model answering a single question, but a coordinated multi-agent system delivering comprehensive insights across every dimension of your API spec.</a:t>
            </a:r>
          </a:p>
          <a:p>
            <a:br>
              <a:rPr lang="en-US" dirty="0"/>
            </a:br>
            <a:endParaRPr lang="en-US" dirty="0"/>
          </a:p>
        </p:txBody>
      </p:sp>
      <p:sp>
        <p:nvSpPr>
          <p:cNvPr id="4" name="Slide Number Placeholder 3">
            <a:extLst>
              <a:ext uri="{FF2B5EF4-FFF2-40B4-BE49-F238E27FC236}">
                <a16:creationId xmlns:a16="http://schemas.microsoft.com/office/drawing/2014/main" id="{BDC145D9-FCD0-FAA9-FEB0-E29027965A2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166814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13180-4DC9-8255-48EB-6F5F41D3C1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B9B8E-2C40-14AC-6F7E-DDB9F59F25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91647-30BC-390C-8FD1-E55771EE2865}"/>
              </a:ext>
            </a:extLst>
          </p:cNvPr>
          <p:cNvSpPr>
            <a:spLocks noGrp="1"/>
          </p:cNvSpPr>
          <p:nvPr>
            <p:ph type="body" idx="1"/>
          </p:nvPr>
        </p:nvSpPr>
        <p:spPr/>
        <p:txBody>
          <a:bodyPr/>
          <a:lstStyle/>
          <a:p>
            <a:r>
              <a:rPr lang="en-US" b="1" dirty="0"/>
              <a:t>Slide 6 — Business Value &amp; Impact (3:00–3:40)</a:t>
            </a:r>
          </a:p>
          <a:p>
            <a:r>
              <a:rPr lang="en-US" dirty="0"/>
              <a:t>The business impact is direct and measurable.</a:t>
            </a:r>
          </a:p>
          <a:p>
            <a:endParaRPr lang="en-US" dirty="0"/>
          </a:p>
          <a:p>
            <a:r>
              <a:rPr lang="en-US" dirty="0" err="1"/>
              <a:t>SpecSentinel</a:t>
            </a:r>
            <a:r>
              <a:rPr lang="en-US" dirty="0"/>
              <a:t> reduces </a:t>
            </a:r>
            <a:r>
              <a:rPr lang="en-US" b="1" dirty="0"/>
              <a:t>API review time by 95%</a:t>
            </a:r>
            <a:r>
              <a:rPr lang="en-US" dirty="0"/>
              <a:t> — from 4 to 8 hours down to 5 to 10 minutes. </a:t>
            </a:r>
          </a:p>
          <a:p>
            <a:endParaRPr lang="en-US" dirty="0"/>
          </a:p>
          <a:p>
            <a:r>
              <a:rPr lang="en-US" dirty="0"/>
              <a:t>The </a:t>
            </a:r>
            <a:r>
              <a:rPr lang="en-US" b="1" dirty="0"/>
              <a:t>cost per review drops by 98%</a:t>
            </a:r>
            <a:r>
              <a:rPr lang="en-US" dirty="0"/>
              <a:t> — from hundreds of dollars to under ten. And it surfaces </a:t>
            </a:r>
            <a:r>
              <a:rPr lang="en-US" b="1" dirty="0"/>
              <a:t>2 to 3 times more security issues</a:t>
            </a:r>
            <a:r>
              <a:rPr lang="en-US" dirty="0"/>
              <a:t> per API than a typical manual review.</a:t>
            </a:r>
          </a:p>
          <a:p>
            <a:endParaRPr lang="en-US" dirty="0"/>
          </a:p>
          <a:p>
            <a:r>
              <a:rPr lang="en-US" dirty="0"/>
              <a:t>Beyond the numbers, it's a shift-left governance model: issues flagged at spec authoring time are </a:t>
            </a:r>
            <a:r>
              <a:rPr lang="en-US" b="1" dirty="0"/>
              <a:t>10 times cheaper to fix</a:t>
            </a:r>
            <a:r>
              <a:rPr lang="en-US" dirty="0"/>
              <a:t> than issues caught post-production. Documentation completeness improves from 60% to 90%, and standards compliance rises from 70% to 95% per review cycle.</a:t>
            </a:r>
          </a:p>
          <a:p>
            <a:r>
              <a:rPr lang="en-US" dirty="0"/>
              <a:t>The architecture is also modular — each engine component can be used independently, and the AI layer is </a:t>
            </a:r>
            <a:r>
              <a:rPr lang="en-US" i="1" dirty="0"/>
              <a:t>optional</a:t>
            </a:r>
            <a:r>
              <a:rPr lang="en-US" dirty="0"/>
              <a:t>, so the system runs fully offline where needed.</a:t>
            </a:r>
          </a:p>
          <a:p>
            <a:endParaRPr lang="en-US" dirty="0"/>
          </a:p>
        </p:txBody>
      </p:sp>
      <p:sp>
        <p:nvSpPr>
          <p:cNvPr id="4" name="Slide Number Placeholder 3">
            <a:extLst>
              <a:ext uri="{FF2B5EF4-FFF2-40B4-BE49-F238E27FC236}">
                <a16:creationId xmlns:a16="http://schemas.microsoft.com/office/drawing/2014/main" id="{7D19E681-28FD-8173-437F-EEAAF4E72BC3}"/>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166327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C64F3-88BA-77BE-7C13-E8206E43A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29EAC-0A34-F327-DA2E-7ADA8AD563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CADEF3-1180-37AD-E1A4-B782761739DC}"/>
              </a:ext>
            </a:extLst>
          </p:cNvPr>
          <p:cNvSpPr>
            <a:spLocks noGrp="1"/>
          </p:cNvSpPr>
          <p:nvPr>
            <p:ph type="body" idx="1"/>
          </p:nvPr>
        </p:nvSpPr>
        <p:spPr/>
        <p:txBody>
          <a:bodyPr/>
          <a:lstStyle/>
          <a:p>
            <a:r>
              <a:rPr lang="en-US" b="1" dirty="0"/>
              <a:t>Slide 7 — Future Roadmap (3:40–4:10)</a:t>
            </a:r>
          </a:p>
          <a:p>
            <a:r>
              <a:rPr lang="en-US" dirty="0"/>
              <a:t>Looking ahead, our roadmap has three phases.</a:t>
            </a:r>
          </a:p>
          <a:p>
            <a:r>
              <a:rPr lang="en-US" b="1" dirty="0"/>
              <a:t>Near-term (6–12 months):</a:t>
            </a:r>
            <a:r>
              <a:rPr lang="en-US" dirty="0"/>
              <a:t> </a:t>
            </a:r>
          </a:p>
          <a:p>
            <a:r>
              <a:rPr lang="en-US" dirty="0"/>
              <a:t>CI/CD integration with GitHub Actions and GitLab, quality gates that block merges below a health score threshold, and real-time IDE feedback via a VS Code plugin. Also an agentic API monitoring approach to scan highlight live APIs.</a:t>
            </a:r>
          </a:p>
          <a:p>
            <a:endParaRPr lang="en-US" dirty="0"/>
          </a:p>
          <a:p>
            <a:r>
              <a:rPr lang="en-US" b="1" dirty="0"/>
              <a:t>Mid-term (12–24 months):</a:t>
            </a:r>
            <a:r>
              <a:rPr lang="en-US" dirty="0"/>
              <a:t> A policy-as-code governance dashboard, API gateway integration with </a:t>
            </a:r>
            <a:r>
              <a:rPr lang="en-US" dirty="0" err="1"/>
              <a:t>webMethods</a:t>
            </a:r>
            <a:r>
              <a:rPr lang="en-US" dirty="0"/>
              <a:t>, Kong, and Apigee, and an agentic rule engine that self-updates from OWASP and CVE feeds.</a:t>
            </a:r>
          </a:p>
          <a:p>
            <a:endParaRPr lang="en-US" dirty="0"/>
          </a:p>
          <a:p>
            <a:r>
              <a:rPr lang="en-US" b="1" dirty="0"/>
              <a:t>Long-term (24+ months):</a:t>
            </a:r>
            <a:r>
              <a:rPr lang="en-US" dirty="0"/>
              <a:t> Distributed multi-agent infrastructure for large API estates, GPU-accelerated embedding generation, and a fine-tuned LLM on enterprise API corpora for deeper, domain-specific insights.</a:t>
            </a:r>
          </a:p>
          <a:p>
            <a:endParaRPr lang="en-US" dirty="0"/>
          </a:p>
        </p:txBody>
      </p:sp>
      <p:sp>
        <p:nvSpPr>
          <p:cNvPr id="4" name="Slide Number Placeholder 3">
            <a:extLst>
              <a:ext uri="{FF2B5EF4-FFF2-40B4-BE49-F238E27FC236}">
                <a16:creationId xmlns:a16="http://schemas.microsoft.com/office/drawing/2014/main" id="{33705FFA-E2E7-37C7-2237-832F6A66E5A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62002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8C321-7C37-72E8-BF0A-86E7E246A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AC92F-FE80-BFC6-3735-42DA4EC9F3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5301CF-C452-035C-4109-83D70851A2C2}"/>
              </a:ext>
            </a:extLst>
          </p:cNvPr>
          <p:cNvSpPr>
            <a:spLocks noGrp="1"/>
          </p:cNvSpPr>
          <p:nvPr>
            <p:ph type="body" idx="1"/>
          </p:nvPr>
        </p:nvSpPr>
        <p:spPr/>
        <p:txBody>
          <a:bodyPr/>
          <a:lstStyle/>
          <a:p>
            <a:r>
              <a:rPr lang="en-US" dirty="0"/>
              <a:t>Now is the curtain raiser for the product that we have been talking about so much. Lets jump in to the live demo…</a:t>
            </a:r>
          </a:p>
        </p:txBody>
      </p:sp>
      <p:sp>
        <p:nvSpPr>
          <p:cNvPr id="4" name="Slide Number Placeholder 3">
            <a:extLst>
              <a:ext uri="{FF2B5EF4-FFF2-40B4-BE49-F238E27FC236}">
                <a16:creationId xmlns:a16="http://schemas.microsoft.com/office/drawing/2014/main" id="{9B79D361-B571-4120-1547-3B4765797DD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433915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B4239-1AFA-0E0D-E108-DCF77A14E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EF5FE-2CC9-9F65-18D2-DA4EB6AD49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02A9B-ABAD-22F3-D59D-8F826485D9BD}"/>
              </a:ext>
            </a:extLst>
          </p:cNvPr>
          <p:cNvSpPr>
            <a:spLocks noGrp="1"/>
          </p:cNvSpPr>
          <p:nvPr>
            <p:ph type="body" idx="1"/>
          </p:nvPr>
        </p:nvSpPr>
        <p:spPr/>
        <p:txBody>
          <a:bodyPr/>
          <a:lstStyle/>
          <a:p>
            <a:r>
              <a:rPr lang="en-US" b="1" dirty="0"/>
              <a:t>Slides 9 — Closing (4:30–5:00)</a:t>
            </a:r>
          </a:p>
          <a:p>
            <a:r>
              <a:rPr lang="en-US" dirty="0"/>
              <a:t>To wrap up — </a:t>
            </a:r>
            <a:r>
              <a:rPr lang="en-US" dirty="0" err="1"/>
              <a:t>SpecSentinel</a:t>
            </a:r>
            <a:r>
              <a:rPr lang="en-US" dirty="0"/>
              <a:t> is not just a linter. It's an </a:t>
            </a:r>
            <a:r>
              <a:rPr lang="en-US" b="1" dirty="0"/>
              <a:t>agentic governance system</a:t>
            </a:r>
            <a:r>
              <a:rPr lang="en-US" dirty="0"/>
              <a:t> — one that perceives your API spec, reasons about risk, takes action through five parallel specialist agents, and continuously improves through a self-updating rule engine. Powered by IBM watsonx.ai, it replaces slow, inconsistent manual reviews with an autonomous loop that scales across hundreds of APIs, enforces OWASP and ISO standards at design time, and delivers measurable ROI from day one.</a:t>
            </a:r>
          </a:p>
          <a:p>
            <a:endParaRPr lang="en-US" dirty="0"/>
          </a:p>
          <a:p>
            <a:r>
              <a:rPr lang="en-US" dirty="0"/>
              <a:t>And I'll leave you with this thought. The API economy isn't slowing down — enterprises are shipping more APIs, faster, across more teams than ever before. Look at what's on screen: what used to take 4 to 8 hours of manual effort, </a:t>
            </a:r>
            <a:r>
              <a:rPr lang="en-US" dirty="0" err="1"/>
              <a:t>SpecSentinel</a:t>
            </a:r>
            <a:r>
              <a:rPr lang="en-US" dirty="0"/>
              <a:t> does in 4-8 seconds. The answer isn't more reviewers. It's smarter agents.</a:t>
            </a:r>
          </a:p>
          <a:p>
            <a:r>
              <a:rPr lang="en-US" dirty="0"/>
              <a:t>The future of API governance is agentic — and that's exactly what </a:t>
            </a:r>
            <a:r>
              <a:rPr lang="en-US" dirty="0" err="1"/>
              <a:t>SpecSentinel</a:t>
            </a:r>
            <a:r>
              <a:rPr lang="en-US" dirty="0"/>
              <a:t> is building toward.</a:t>
            </a:r>
          </a:p>
          <a:p>
            <a:endParaRPr lang="en-US" dirty="0"/>
          </a:p>
          <a:p>
            <a:r>
              <a:rPr lang="en-US" dirty="0"/>
              <a:t>With this, we, Team Sentinel, thank you guys for the patience and attention. We're happy to take any questions.</a:t>
            </a:r>
          </a:p>
          <a:p>
            <a:endParaRPr lang="en-US" dirty="0"/>
          </a:p>
        </p:txBody>
      </p:sp>
      <p:sp>
        <p:nvSpPr>
          <p:cNvPr id="4" name="Slide Number Placeholder 3">
            <a:extLst>
              <a:ext uri="{FF2B5EF4-FFF2-40B4-BE49-F238E27FC236}">
                <a16:creationId xmlns:a16="http://schemas.microsoft.com/office/drawing/2014/main" id="{B8E413F0-1822-8F9B-AAA5-7137B14DA78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52644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35F56-96FF-56EE-8D07-480C063B8D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0BED3-E913-C2BA-9233-2BD3D3B8A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93ECD6-B784-C286-DB41-03FD3AD8BE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543E44-F677-EF26-7BCC-3951C2E75760}"/>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320550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33333"/>
          </a:solidFill>
          <a:ln/>
        </p:spPr>
        <p:txBody>
          <a:bodyPr/>
          <a:lstStyle/>
          <a:p>
            <a:endParaRPr lang="en-IN"/>
          </a:p>
        </p:txBody>
      </p:sp>
      <p:sp>
        <p:nvSpPr>
          <p:cNvPr id="3" name="Shape 1"/>
          <p:cNvSpPr/>
          <p:nvPr/>
        </p:nvSpPr>
        <p:spPr>
          <a:xfrm>
            <a:off x="0" y="0"/>
            <a:ext cx="12191695" cy="6858000"/>
          </a:xfrm>
          <a:prstGeom prst="rect">
            <a:avLst/>
          </a:prstGeom>
          <a:solidFill>
            <a:srgbClr val="FFFFFF"/>
          </a:solidFill>
          <a:ln/>
        </p:spPr>
        <p:txBody>
          <a:bodyPr/>
          <a:lstStyle/>
          <a:p>
            <a:endParaRPr lang="en-IN"/>
          </a:p>
        </p:txBody>
      </p:sp>
      <p:sp>
        <p:nvSpPr>
          <p:cNvPr id="5" name="Shape 3"/>
          <p:cNvSpPr/>
          <p:nvPr/>
        </p:nvSpPr>
        <p:spPr>
          <a:xfrm>
            <a:off x="7344393" y="318056"/>
            <a:ext cx="2857500" cy="2857500"/>
          </a:xfrm>
          <a:prstGeom prst="ellipse">
            <a:avLst/>
          </a:prstGeom>
          <a:solidFill>
            <a:srgbClr val="F4F7FB"/>
          </a:solidFill>
          <a:ln/>
        </p:spPr>
        <p:txBody>
          <a:bodyPr/>
          <a:lstStyle/>
          <a:p>
            <a:endParaRPr lang="en-IN" dirty="0"/>
          </a:p>
        </p:txBody>
      </p:sp>
      <p:sp>
        <p:nvSpPr>
          <p:cNvPr id="7" name="Text 5"/>
          <p:cNvSpPr txBox="1"/>
          <p:nvPr/>
        </p:nvSpPr>
        <p:spPr>
          <a:xfrm>
            <a:off x="952805" y="2392985"/>
            <a:ext cx="11153851" cy="715061"/>
          </a:xfrm>
          <a:prstGeom prst="rect">
            <a:avLst/>
          </a:prstGeom>
          <a:noFill/>
          <a:ln/>
        </p:spPr>
        <p:txBody>
          <a:bodyPr wrap="square" lIns="0" tIns="0" rIns="0" bIns="0" rtlCol="0" anchor="ctr"/>
          <a:lstStyle/>
          <a:p>
            <a:pPr marL="0" indent="0" algn="l">
              <a:buNone/>
            </a:pPr>
            <a:r>
              <a:rPr lang="en-US" sz="5100" dirty="0" err="1">
                <a:solidFill>
                  <a:srgbClr val="161616"/>
                </a:solidFill>
                <a:latin typeface="IBM Plex Sans" pitchFamily="34" charset="0"/>
              </a:rPr>
              <a:t>SpecSentinel</a:t>
            </a:r>
            <a:endParaRPr lang="en-US" sz="5100" dirty="0"/>
          </a:p>
        </p:txBody>
      </p:sp>
      <p:sp>
        <p:nvSpPr>
          <p:cNvPr id="11" name="Text 9"/>
          <p:cNvSpPr txBox="1"/>
          <p:nvPr/>
        </p:nvSpPr>
        <p:spPr>
          <a:xfrm>
            <a:off x="952805" y="4707331"/>
            <a:ext cx="1055218" cy="162763"/>
          </a:xfrm>
          <a:prstGeom prst="rect">
            <a:avLst/>
          </a:prstGeom>
          <a:noFill/>
          <a:ln/>
        </p:spPr>
        <p:txBody>
          <a:bodyPr wrap="square" lIns="0" tIns="0" rIns="0" bIns="0" rtlCol="0" anchor="ctr"/>
          <a:lstStyle/>
          <a:p>
            <a:pPr marL="0" indent="0" algn="l">
              <a:buNone/>
            </a:pPr>
            <a:r>
              <a:rPr lang="en-US" sz="900" b="1" dirty="0">
                <a:solidFill>
                  <a:srgbClr val="6F6F6F"/>
                </a:solidFill>
                <a:latin typeface="IBM Plex Sans" pitchFamily="34" charset="0"/>
                <a:ea typeface="IBM Plex Sans" pitchFamily="34" charset="-122"/>
                <a:cs typeface="IBM Plex Sans" pitchFamily="34" charset="-120"/>
              </a:rPr>
              <a:t>PRESENTED BY</a:t>
            </a:r>
            <a:endParaRPr lang="en-US" sz="900" dirty="0"/>
          </a:p>
        </p:txBody>
      </p:sp>
      <p:sp>
        <p:nvSpPr>
          <p:cNvPr id="12" name="Text 10"/>
          <p:cNvSpPr txBox="1"/>
          <p:nvPr/>
        </p:nvSpPr>
        <p:spPr>
          <a:xfrm>
            <a:off x="952805" y="4959706"/>
            <a:ext cx="3268412" cy="621287"/>
          </a:xfrm>
          <a:prstGeom prst="rect">
            <a:avLst/>
          </a:prstGeom>
          <a:noFill/>
          <a:ln/>
        </p:spPr>
        <p:txBody>
          <a:bodyPr wrap="square" lIns="0" tIns="0" rIns="0" bIns="0" rtlCol="0" anchor="ctr"/>
          <a:lstStyle/>
          <a:p>
            <a:pPr marL="0" indent="0" algn="l">
              <a:buNone/>
            </a:pPr>
            <a:r>
              <a:rPr lang="en-US" sz="1300" dirty="0">
                <a:solidFill>
                  <a:srgbClr val="161616"/>
                </a:solidFill>
                <a:latin typeface="IBM Plex Sans" pitchFamily="34" charset="0"/>
              </a:rPr>
              <a:t>Team Sentinel : </a:t>
            </a:r>
          </a:p>
          <a:p>
            <a:pPr marL="0" indent="0" algn="l">
              <a:buNone/>
            </a:pPr>
            <a:r>
              <a:rPr lang="en-US" sz="1300" dirty="0">
                <a:solidFill>
                  <a:srgbClr val="161616"/>
                </a:solidFill>
                <a:latin typeface="IBM Plex Sans" pitchFamily="34" charset="0"/>
              </a:rPr>
              <a:t>Debapriyo Dasgupta</a:t>
            </a:r>
          </a:p>
          <a:p>
            <a:r>
              <a:rPr lang="en-US" sz="1300" dirty="0" err="1">
                <a:solidFill>
                  <a:srgbClr val="161616"/>
                </a:solidFill>
                <a:latin typeface="IBM Plex Sans" pitchFamily="34" charset="0"/>
              </a:rPr>
              <a:t>Niveed</a:t>
            </a:r>
            <a:r>
              <a:rPr lang="en-US" sz="1300" dirty="0">
                <a:solidFill>
                  <a:srgbClr val="161616"/>
                </a:solidFill>
                <a:latin typeface="IBM Plex Sans" pitchFamily="34" charset="0"/>
              </a:rPr>
              <a:t> Kumar Reddy </a:t>
            </a:r>
            <a:r>
              <a:rPr lang="en-US" sz="1300" dirty="0" err="1">
                <a:solidFill>
                  <a:srgbClr val="161616"/>
                </a:solidFill>
                <a:latin typeface="IBM Plex Sans" pitchFamily="34" charset="0"/>
              </a:rPr>
              <a:t>Bollapally</a:t>
            </a:r>
            <a:endParaRPr lang="en-US" sz="1300" dirty="0"/>
          </a:p>
        </p:txBody>
      </p:sp>
      <p:sp>
        <p:nvSpPr>
          <p:cNvPr id="13" name="Text 11"/>
          <p:cNvSpPr txBox="1"/>
          <p:nvPr/>
        </p:nvSpPr>
        <p:spPr>
          <a:xfrm>
            <a:off x="2674620" y="4707331"/>
            <a:ext cx="759866" cy="162763"/>
          </a:xfrm>
          <a:prstGeom prst="rect">
            <a:avLst/>
          </a:prstGeom>
          <a:noFill/>
          <a:ln/>
        </p:spPr>
        <p:txBody>
          <a:bodyPr wrap="square" lIns="0" tIns="0" rIns="0" bIns="0" rtlCol="0" anchor="ctr"/>
          <a:lstStyle/>
          <a:p>
            <a:pPr marL="0" indent="0" algn="l">
              <a:buNone/>
            </a:pPr>
            <a:endParaRPr lang="en-US" sz="900" dirty="0"/>
          </a:p>
        </p:txBody>
      </p:sp>
      <p:sp>
        <p:nvSpPr>
          <p:cNvPr id="15" name="Text 13"/>
          <p:cNvSpPr txBox="1"/>
          <p:nvPr/>
        </p:nvSpPr>
        <p:spPr>
          <a:xfrm>
            <a:off x="5106924" y="4707331"/>
            <a:ext cx="427025" cy="162763"/>
          </a:xfrm>
          <a:prstGeom prst="rect">
            <a:avLst/>
          </a:prstGeom>
          <a:noFill/>
          <a:ln/>
        </p:spPr>
        <p:txBody>
          <a:bodyPr wrap="square" lIns="0" tIns="0" rIns="0" bIns="0" rtlCol="0" anchor="ctr"/>
          <a:lstStyle/>
          <a:p>
            <a:pPr marL="0" indent="0" algn="l">
              <a:buNone/>
            </a:pPr>
            <a:r>
              <a:rPr lang="en-US" sz="900" b="1" dirty="0">
                <a:solidFill>
                  <a:srgbClr val="6F6F6F"/>
                </a:solidFill>
                <a:latin typeface="IBM Plex Sans" pitchFamily="34" charset="0"/>
                <a:ea typeface="IBM Plex Sans" pitchFamily="34" charset="-122"/>
                <a:cs typeface="IBM Plex Sans" pitchFamily="34" charset="-120"/>
              </a:rPr>
              <a:t>DATE</a:t>
            </a:r>
            <a:endParaRPr lang="en-US" sz="900" dirty="0"/>
          </a:p>
        </p:txBody>
      </p:sp>
      <p:sp>
        <p:nvSpPr>
          <p:cNvPr id="16" name="Text 14"/>
          <p:cNvSpPr txBox="1"/>
          <p:nvPr/>
        </p:nvSpPr>
        <p:spPr>
          <a:xfrm>
            <a:off x="5106924" y="4959706"/>
            <a:ext cx="1215238" cy="219456"/>
          </a:xfrm>
          <a:prstGeom prst="rect">
            <a:avLst/>
          </a:prstGeom>
          <a:noFill/>
          <a:ln/>
        </p:spPr>
        <p:txBody>
          <a:bodyPr wrap="square" lIns="0" tIns="0" rIns="0" bIns="0" rtlCol="0" anchor="ctr"/>
          <a:lstStyle/>
          <a:p>
            <a:pPr marL="0" indent="0" algn="l">
              <a:buNone/>
            </a:pPr>
            <a:r>
              <a:rPr lang="en-US" sz="1300" dirty="0">
                <a:solidFill>
                  <a:srgbClr val="161616"/>
                </a:solidFill>
                <a:latin typeface="IBM Plex Sans" pitchFamily="34" charset="0"/>
                <a:ea typeface="IBM Plex Sans" pitchFamily="34" charset="-122"/>
                <a:cs typeface="IBM Plex Sans" pitchFamily="34" charset="-120"/>
              </a:rPr>
              <a:t>April 2026</a:t>
            </a:r>
            <a:endParaRPr lang="en-US" sz="1300" dirty="0"/>
          </a:p>
        </p:txBody>
      </p:sp>
      <p:sp>
        <p:nvSpPr>
          <p:cNvPr id="17" name="Shape 15"/>
          <p:cNvSpPr/>
          <p:nvPr/>
        </p:nvSpPr>
        <p:spPr>
          <a:xfrm>
            <a:off x="0" y="0"/>
            <a:ext cx="152705" cy="6858000"/>
          </a:xfrm>
          <a:prstGeom prst="rect">
            <a:avLst/>
          </a:prstGeom>
          <a:solidFill>
            <a:srgbClr val="0F62FE"/>
          </a:solidFill>
          <a:ln/>
        </p:spPr>
        <p:txBody>
          <a:bodyPr/>
          <a:lstStyle/>
          <a:p>
            <a:endParaRPr lang="en-IN"/>
          </a:p>
        </p:txBody>
      </p:sp>
      <p:pic>
        <p:nvPicPr>
          <p:cNvPr id="6" name="Picture 5">
            <a:extLst>
              <a:ext uri="{FF2B5EF4-FFF2-40B4-BE49-F238E27FC236}">
                <a16:creationId xmlns:a16="http://schemas.microsoft.com/office/drawing/2014/main" id="{0125D47C-F5A9-D123-1171-10C0B2A9026D}"/>
              </a:ext>
            </a:extLst>
          </p:cNvPr>
          <p:cNvPicPr>
            <a:picLocks noChangeAspect="1"/>
          </p:cNvPicPr>
          <p:nvPr/>
        </p:nvPicPr>
        <p:blipFill>
          <a:blip r:embed="rId3"/>
          <a:stretch>
            <a:fillRect/>
          </a:stretch>
        </p:blipFill>
        <p:spPr>
          <a:xfrm>
            <a:off x="6845370" y="-105590"/>
            <a:ext cx="3855545" cy="38555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1" name="Freeform: Shape 10">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graphicFrame>
        <p:nvGraphicFramePr>
          <p:cNvPr id="4" name="TextBox 1">
            <a:extLst>
              <a:ext uri="{FF2B5EF4-FFF2-40B4-BE49-F238E27FC236}">
                <a16:creationId xmlns:a16="http://schemas.microsoft.com/office/drawing/2014/main" id="{397B8BD7-EDFE-619F-29A1-EFCF41E29F71}"/>
              </a:ext>
            </a:extLst>
          </p:cNvPr>
          <p:cNvGraphicFramePr/>
          <p:nvPr>
            <p:extLst>
              <p:ext uri="{D42A27DB-BD31-4B8C-83A1-F6EECF244321}">
                <p14:modId xmlns:p14="http://schemas.microsoft.com/office/powerpoint/2010/main" val="2228168168"/>
              </p:ext>
            </p:extLst>
          </p:nvPr>
        </p:nvGraphicFramePr>
        <p:xfrm>
          <a:off x="645763" y="1451674"/>
          <a:ext cx="10073898" cy="46236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13683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6F42D-0E87-E1EA-5285-DD2F655BE0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34E59F2-FD07-688F-F67B-0BAFA8BE1DA7}"/>
              </a:ext>
            </a:extLst>
          </p:cNvPr>
          <p:cNvSpPr/>
          <p:nvPr/>
        </p:nvSpPr>
        <p:spPr>
          <a:xfrm>
            <a:off x="0" y="0"/>
            <a:ext cx="12191695" cy="6858000"/>
          </a:xfrm>
          <a:prstGeom prst="rect">
            <a:avLst/>
          </a:prstGeom>
          <a:solidFill>
            <a:srgbClr val="333333"/>
          </a:solidFill>
          <a:ln/>
        </p:spPr>
        <p:txBody>
          <a:bodyPr/>
          <a:lstStyle/>
          <a:p>
            <a:endParaRPr lang="en-IN"/>
          </a:p>
        </p:txBody>
      </p:sp>
      <p:sp>
        <p:nvSpPr>
          <p:cNvPr id="3" name="Shape 1">
            <a:extLst>
              <a:ext uri="{FF2B5EF4-FFF2-40B4-BE49-F238E27FC236}">
                <a16:creationId xmlns:a16="http://schemas.microsoft.com/office/drawing/2014/main" id="{3423725D-08C2-4BA8-3033-CF3E16930E34}"/>
              </a:ext>
            </a:extLst>
          </p:cNvPr>
          <p:cNvSpPr/>
          <p:nvPr/>
        </p:nvSpPr>
        <p:spPr>
          <a:xfrm>
            <a:off x="-9" y="65620"/>
            <a:ext cx="12191695" cy="6858000"/>
          </a:xfrm>
          <a:prstGeom prst="rect">
            <a:avLst/>
          </a:prstGeom>
          <a:solidFill>
            <a:srgbClr val="FFFFFF"/>
          </a:solidFill>
          <a:ln/>
        </p:spPr>
        <p:txBody>
          <a:bodyPr/>
          <a:lstStyle/>
          <a:p>
            <a:endParaRPr lang="en-IN"/>
          </a:p>
        </p:txBody>
      </p:sp>
      <p:sp>
        <p:nvSpPr>
          <p:cNvPr id="4" name="Shape 2">
            <a:extLst>
              <a:ext uri="{FF2B5EF4-FFF2-40B4-BE49-F238E27FC236}">
                <a16:creationId xmlns:a16="http://schemas.microsoft.com/office/drawing/2014/main" id="{926FD529-25FD-6DA6-6512-AB1CD81BE198}"/>
              </a:ext>
            </a:extLst>
          </p:cNvPr>
          <p:cNvSpPr/>
          <p:nvPr/>
        </p:nvSpPr>
        <p:spPr>
          <a:xfrm>
            <a:off x="0" y="0"/>
            <a:ext cx="12191695" cy="114300"/>
          </a:xfrm>
          <a:prstGeom prst="rect">
            <a:avLst/>
          </a:prstGeom>
          <a:solidFill>
            <a:srgbClr val="0F62FE"/>
          </a:solidFill>
          <a:ln/>
        </p:spPr>
        <p:txBody>
          <a:bodyPr/>
          <a:lstStyle/>
          <a:p>
            <a:endParaRPr lang="en-IN"/>
          </a:p>
        </p:txBody>
      </p:sp>
      <p:sp>
        <p:nvSpPr>
          <p:cNvPr id="5" name="Shape 3">
            <a:extLst>
              <a:ext uri="{FF2B5EF4-FFF2-40B4-BE49-F238E27FC236}">
                <a16:creationId xmlns:a16="http://schemas.microsoft.com/office/drawing/2014/main" id="{ACED3827-6352-F65F-789A-FB34EDC0551A}"/>
              </a:ext>
            </a:extLst>
          </p:cNvPr>
          <p:cNvSpPr/>
          <p:nvPr/>
        </p:nvSpPr>
        <p:spPr>
          <a:xfrm>
            <a:off x="0" y="1172261"/>
            <a:ext cx="12191695" cy="9144"/>
          </a:xfrm>
          <a:prstGeom prst="rect">
            <a:avLst/>
          </a:prstGeom>
          <a:solidFill>
            <a:srgbClr val="E0E0E0"/>
          </a:solidFill>
          <a:ln/>
        </p:spPr>
        <p:txBody>
          <a:bodyPr/>
          <a:lstStyle/>
          <a:p>
            <a:endParaRPr lang="en-IN"/>
          </a:p>
        </p:txBody>
      </p:sp>
      <p:sp>
        <p:nvSpPr>
          <p:cNvPr id="6" name="Text 4">
            <a:extLst>
              <a:ext uri="{FF2B5EF4-FFF2-40B4-BE49-F238E27FC236}">
                <a16:creationId xmlns:a16="http://schemas.microsoft.com/office/drawing/2014/main" id="{DE36AEE8-C6AF-8625-AD33-83AADAF38F6A}"/>
              </a:ext>
            </a:extLst>
          </p:cNvPr>
          <p:cNvSpPr txBox="1"/>
          <p:nvPr/>
        </p:nvSpPr>
        <p:spPr>
          <a:xfrm>
            <a:off x="571500" y="466344"/>
            <a:ext cx="4957877" cy="523951"/>
          </a:xfrm>
          <a:prstGeom prst="rect">
            <a:avLst/>
          </a:prstGeom>
          <a:noFill/>
          <a:ln/>
        </p:spPr>
        <p:txBody>
          <a:bodyPr wrap="square" lIns="0" tIns="0" rIns="0" bIns="0" rtlCol="0" anchor="ctr"/>
          <a:lstStyle/>
          <a:p>
            <a:pPr>
              <a:lnSpc>
                <a:spcPct val="90000"/>
              </a:lnSpc>
              <a:spcBef>
                <a:spcPct val="0"/>
              </a:spcBef>
              <a:spcAft>
                <a:spcPts val="600"/>
              </a:spcAft>
            </a:pPr>
            <a:r>
              <a:rPr lang="en-US" sz="3200" dirty="0"/>
              <a:t>Problem Statement</a:t>
            </a:r>
          </a:p>
        </p:txBody>
      </p:sp>
      <p:sp>
        <p:nvSpPr>
          <p:cNvPr id="8" name="Shape 6">
            <a:extLst>
              <a:ext uri="{FF2B5EF4-FFF2-40B4-BE49-F238E27FC236}">
                <a16:creationId xmlns:a16="http://schemas.microsoft.com/office/drawing/2014/main" id="{96884700-1E76-766B-A3EC-58493A877CEF}"/>
              </a:ext>
            </a:extLst>
          </p:cNvPr>
          <p:cNvSpPr/>
          <p:nvPr/>
        </p:nvSpPr>
        <p:spPr>
          <a:xfrm>
            <a:off x="0" y="6372454"/>
            <a:ext cx="12191695" cy="485546"/>
          </a:xfrm>
          <a:prstGeom prst="rect">
            <a:avLst/>
          </a:prstGeom>
          <a:solidFill>
            <a:srgbClr val="FFFFFF"/>
          </a:solidFill>
          <a:ln/>
        </p:spPr>
        <p:txBody>
          <a:bodyPr/>
          <a:lstStyle/>
          <a:p>
            <a:endParaRPr lang="en-IN"/>
          </a:p>
        </p:txBody>
      </p:sp>
      <p:sp>
        <p:nvSpPr>
          <p:cNvPr id="9" name="Shape 7">
            <a:extLst>
              <a:ext uri="{FF2B5EF4-FFF2-40B4-BE49-F238E27FC236}">
                <a16:creationId xmlns:a16="http://schemas.microsoft.com/office/drawing/2014/main" id="{5AE463D9-0EFC-21C1-FC46-52A079CF53E8}"/>
              </a:ext>
            </a:extLst>
          </p:cNvPr>
          <p:cNvSpPr/>
          <p:nvPr/>
        </p:nvSpPr>
        <p:spPr>
          <a:xfrm>
            <a:off x="0" y="6372454"/>
            <a:ext cx="12191695" cy="9144"/>
          </a:xfrm>
          <a:prstGeom prst="rect">
            <a:avLst/>
          </a:prstGeom>
          <a:solidFill>
            <a:srgbClr val="E0E0E0"/>
          </a:solidFill>
          <a:ln/>
        </p:spPr>
        <p:txBody>
          <a:bodyPr/>
          <a:lstStyle/>
          <a:p>
            <a:endParaRPr lang="en-IN"/>
          </a:p>
        </p:txBody>
      </p:sp>
      <p:sp>
        <p:nvSpPr>
          <p:cNvPr id="10" name="Text 8">
            <a:extLst>
              <a:ext uri="{FF2B5EF4-FFF2-40B4-BE49-F238E27FC236}">
                <a16:creationId xmlns:a16="http://schemas.microsoft.com/office/drawing/2014/main" id="{B74DA3C4-7892-F426-A46E-BE06037F0DF0}"/>
              </a:ext>
            </a:extLst>
          </p:cNvPr>
          <p:cNvSpPr txBox="1"/>
          <p:nvPr/>
        </p:nvSpPr>
        <p:spPr>
          <a:xfrm>
            <a:off x="571500" y="6543446"/>
            <a:ext cx="1828800"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COE Automation Hackathon 2026</a:t>
            </a:r>
            <a:endParaRPr lang="en-US" sz="900" dirty="0"/>
          </a:p>
        </p:txBody>
      </p:sp>
      <p:sp>
        <p:nvSpPr>
          <p:cNvPr id="11" name="Text 9">
            <a:extLst>
              <a:ext uri="{FF2B5EF4-FFF2-40B4-BE49-F238E27FC236}">
                <a16:creationId xmlns:a16="http://schemas.microsoft.com/office/drawing/2014/main" id="{4C4F05CB-19F0-7459-A03A-B921F1BF2AD9}"/>
              </a:ext>
            </a:extLst>
          </p:cNvPr>
          <p:cNvSpPr txBox="1"/>
          <p:nvPr/>
        </p:nvSpPr>
        <p:spPr>
          <a:xfrm>
            <a:off x="10006279" y="6543446"/>
            <a:ext cx="1705356"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Confidential - Internal Use Only</a:t>
            </a:r>
            <a:endParaRPr lang="en-US" sz="900" dirty="0"/>
          </a:p>
        </p:txBody>
      </p:sp>
      <p:sp>
        <p:nvSpPr>
          <p:cNvPr id="49" name="TextBox 48">
            <a:extLst>
              <a:ext uri="{FF2B5EF4-FFF2-40B4-BE49-F238E27FC236}">
                <a16:creationId xmlns:a16="http://schemas.microsoft.com/office/drawing/2014/main" id="{2EED4004-FBBF-F5F1-8181-171ACE3CC326}"/>
              </a:ext>
            </a:extLst>
          </p:cNvPr>
          <p:cNvSpPr txBox="1"/>
          <p:nvPr/>
        </p:nvSpPr>
        <p:spPr>
          <a:xfrm>
            <a:off x="869937" y="1247467"/>
            <a:ext cx="9724031" cy="3683358"/>
          </a:xfrm>
          <a:prstGeom prst="rect">
            <a:avLst/>
          </a:prstGeom>
        </p:spPr>
        <p:txBody>
          <a:bodyPr vert="horz" lIns="91440" tIns="45720" rIns="91440" bIns="45720" rtlCol="0" anchor="ctr">
            <a:normAutofit/>
          </a:bodyPr>
          <a:lstStyle/>
          <a:p>
            <a:pPr marL="285750" indent="-285750">
              <a:lnSpc>
                <a:spcPct val="90000"/>
              </a:lnSpc>
              <a:spcAft>
                <a:spcPts val="600"/>
              </a:spcAft>
              <a:buFont typeface="Arial" panose="020B0604020202020204" pitchFamily="34" charset="0"/>
              <a:buChar char="•"/>
            </a:pPr>
            <a:endParaRPr lang="en-US" dirty="0"/>
          </a:p>
        </p:txBody>
      </p:sp>
      <p:sp>
        <p:nvSpPr>
          <p:cNvPr id="15" name="Text 1">
            <a:extLst>
              <a:ext uri="{FF2B5EF4-FFF2-40B4-BE49-F238E27FC236}">
                <a16:creationId xmlns:a16="http://schemas.microsoft.com/office/drawing/2014/main" id="{7EAFAAB5-BD85-B0BA-3AAF-1584C8131102}"/>
              </a:ext>
            </a:extLst>
          </p:cNvPr>
          <p:cNvSpPr/>
          <p:nvPr/>
        </p:nvSpPr>
        <p:spPr>
          <a:xfrm>
            <a:off x="658211" y="1245476"/>
            <a:ext cx="2743200" cy="530352"/>
          </a:xfrm>
          <a:prstGeom prst="rect">
            <a:avLst/>
          </a:prstGeom>
          <a:noFill/>
          <a:ln/>
        </p:spPr>
        <p:txBody>
          <a:bodyPr wrap="square" lIns="0" tIns="0" rIns="0" bIns="0" rtlCol="0" anchor="ctr"/>
          <a:lstStyle/>
          <a:p>
            <a:pPr marL="0" indent="0">
              <a:buNone/>
            </a:pPr>
            <a:r>
              <a:rPr lang="en-US" sz="1600" b="1" dirty="0">
                <a:solidFill>
                  <a:srgbClr val="FFFFFF"/>
                </a:solidFill>
              </a:rPr>
              <a:t>Business Problem</a:t>
            </a:r>
            <a:endParaRPr lang="en-US" sz="1600" dirty="0"/>
          </a:p>
        </p:txBody>
      </p:sp>
      <p:sp>
        <p:nvSpPr>
          <p:cNvPr id="18" name="Text 4">
            <a:extLst>
              <a:ext uri="{FF2B5EF4-FFF2-40B4-BE49-F238E27FC236}">
                <a16:creationId xmlns:a16="http://schemas.microsoft.com/office/drawing/2014/main" id="{4A3FDB4A-035A-B583-F299-45CC5176AB5C}"/>
              </a:ext>
            </a:extLst>
          </p:cNvPr>
          <p:cNvSpPr/>
          <p:nvPr/>
        </p:nvSpPr>
        <p:spPr>
          <a:xfrm>
            <a:off x="8019131" y="1336916"/>
            <a:ext cx="1371600" cy="329184"/>
          </a:xfrm>
          <a:prstGeom prst="rect">
            <a:avLst/>
          </a:prstGeom>
          <a:noFill/>
          <a:ln/>
        </p:spPr>
        <p:txBody>
          <a:bodyPr wrap="square" lIns="0" tIns="0" rIns="0" bIns="0" rtlCol="0" anchor="ctr"/>
          <a:lstStyle/>
          <a:p>
            <a:pPr marL="0" indent="0" algn="ctr">
              <a:buNone/>
            </a:pPr>
            <a:r>
              <a:rPr lang="en-US" sz="900" b="1" dirty="0">
                <a:solidFill>
                  <a:srgbClr val="FFFFFF"/>
                </a:solidFill>
              </a:rPr>
              <a:t>IBM watsonx.ai</a:t>
            </a:r>
            <a:endParaRPr lang="en-US" sz="900" dirty="0"/>
          </a:p>
        </p:txBody>
      </p:sp>
      <p:sp>
        <p:nvSpPr>
          <p:cNvPr id="19" name="Shape 5">
            <a:extLst>
              <a:ext uri="{FF2B5EF4-FFF2-40B4-BE49-F238E27FC236}">
                <a16:creationId xmlns:a16="http://schemas.microsoft.com/office/drawing/2014/main" id="{04B48A97-AC2A-29DF-531C-BB3CB46BDDC1}"/>
              </a:ext>
            </a:extLst>
          </p:cNvPr>
          <p:cNvSpPr/>
          <p:nvPr/>
        </p:nvSpPr>
        <p:spPr>
          <a:xfrm>
            <a:off x="161277" y="1411913"/>
            <a:ext cx="5260273" cy="1417320"/>
          </a:xfrm>
          <a:prstGeom prst="rect">
            <a:avLst/>
          </a:prstGeom>
          <a:solidFill>
            <a:srgbClr val="EEEDFE"/>
          </a:solidFill>
          <a:ln w="9525">
            <a:solidFill>
              <a:srgbClr val="7F77DD"/>
            </a:solidFill>
            <a:prstDash val="solid"/>
          </a:ln>
        </p:spPr>
        <p:txBody>
          <a:bodyPr/>
          <a:lstStyle/>
          <a:p>
            <a:endParaRPr lang="en-US"/>
          </a:p>
        </p:txBody>
      </p:sp>
      <p:sp>
        <p:nvSpPr>
          <p:cNvPr id="20" name="Shape 6">
            <a:extLst>
              <a:ext uri="{FF2B5EF4-FFF2-40B4-BE49-F238E27FC236}">
                <a16:creationId xmlns:a16="http://schemas.microsoft.com/office/drawing/2014/main" id="{BE9DB3D6-900F-E234-657E-7A7C57C4264A}"/>
              </a:ext>
            </a:extLst>
          </p:cNvPr>
          <p:cNvSpPr/>
          <p:nvPr/>
        </p:nvSpPr>
        <p:spPr>
          <a:xfrm>
            <a:off x="244374" y="1249419"/>
            <a:ext cx="1529405" cy="339562"/>
          </a:xfrm>
          <a:prstGeom prst="roundRect">
            <a:avLst>
              <a:gd name="adj" fmla="val 50000"/>
            </a:avLst>
          </a:prstGeom>
          <a:solidFill>
            <a:srgbClr val="534AB7"/>
          </a:solidFill>
          <a:ln w="12700">
            <a:solidFill>
              <a:srgbClr val="534AB7"/>
            </a:solidFill>
            <a:prstDash val="solid"/>
          </a:ln>
        </p:spPr>
        <p:txBody>
          <a:bodyPr/>
          <a:lstStyle/>
          <a:p>
            <a:endParaRPr lang="en-US" dirty="0"/>
          </a:p>
        </p:txBody>
      </p:sp>
      <p:sp>
        <p:nvSpPr>
          <p:cNvPr id="21" name="Text 7">
            <a:extLst>
              <a:ext uri="{FF2B5EF4-FFF2-40B4-BE49-F238E27FC236}">
                <a16:creationId xmlns:a16="http://schemas.microsoft.com/office/drawing/2014/main" id="{7991B6EC-DDF2-9317-55FD-099F14DE530A}"/>
              </a:ext>
            </a:extLst>
          </p:cNvPr>
          <p:cNvSpPr/>
          <p:nvPr/>
        </p:nvSpPr>
        <p:spPr>
          <a:xfrm>
            <a:off x="161277" y="1236015"/>
            <a:ext cx="1612502" cy="345537"/>
          </a:xfrm>
          <a:prstGeom prst="rect">
            <a:avLst/>
          </a:prstGeom>
          <a:noFill/>
          <a:ln/>
        </p:spPr>
        <p:txBody>
          <a:bodyPr wrap="square" lIns="0" tIns="0" rIns="0" bIns="0" rtlCol="0" anchor="ctr"/>
          <a:lstStyle/>
          <a:p>
            <a:pPr marL="0" indent="0" algn="ctr">
              <a:buNone/>
            </a:pPr>
            <a:r>
              <a:rPr lang="en-US" sz="1050" b="1" dirty="0">
                <a:solidFill>
                  <a:srgbClr val="FFFFFF"/>
                </a:solidFill>
              </a:rPr>
              <a:t>Business problem</a:t>
            </a:r>
            <a:endParaRPr lang="en-US" sz="1050" dirty="0"/>
          </a:p>
        </p:txBody>
      </p:sp>
      <p:sp>
        <p:nvSpPr>
          <p:cNvPr id="22" name="Text 8">
            <a:extLst>
              <a:ext uri="{FF2B5EF4-FFF2-40B4-BE49-F238E27FC236}">
                <a16:creationId xmlns:a16="http://schemas.microsoft.com/office/drawing/2014/main" id="{27723171-250E-4334-65C4-D7F0072F5471}"/>
              </a:ext>
            </a:extLst>
          </p:cNvPr>
          <p:cNvSpPr/>
          <p:nvPr/>
        </p:nvSpPr>
        <p:spPr>
          <a:xfrm>
            <a:off x="357512" y="1618236"/>
            <a:ext cx="3977640" cy="256032"/>
          </a:xfrm>
          <a:prstGeom prst="rect">
            <a:avLst/>
          </a:prstGeom>
          <a:noFill/>
          <a:ln/>
        </p:spPr>
        <p:txBody>
          <a:bodyPr wrap="square" lIns="0" tIns="0" rIns="0" bIns="0" rtlCol="0" anchor="t"/>
          <a:lstStyle/>
          <a:p>
            <a:pPr marL="0" indent="0">
              <a:buNone/>
            </a:pPr>
            <a:r>
              <a:rPr lang="en-US" sz="1200" b="1" dirty="0">
                <a:solidFill>
                  <a:srgbClr val="26215C"/>
                </a:solidFill>
              </a:rPr>
              <a:t>Enterprises expose 100s of APIs</a:t>
            </a:r>
            <a:endParaRPr lang="en-US" sz="1200" dirty="0"/>
          </a:p>
        </p:txBody>
      </p:sp>
      <p:sp>
        <p:nvSpPr>
          <p:cNvPr id="23" name="Text 9">
            <a:extLst>
              <a:ext uri="{FF2B5EF4-FFF2-40B4-BE49-F238E27FC236}">
                <a16:creationId xmlns:a16="http://schemas.microsoft.com/office/drawing/2014/main" id="{592B4FA5-3004-3EF9-2546-248FF36C53F6}"/>
              </a:ext>
            </a:extLst>
          </p:cNvPr>
          <p:cNvSpPr/>
          <p:nvPr/>
        </p:nvSpPr>
        <p:spPr>
          <a:xfrm>
            <a:off x="337804" y="1908416"/>
            <a:ext cx="5118117" cy="1005840"/>
          </a:xfrm>
          <a:prstGeom prst="rect">
            <a:avLst/>
          </a:prstGeom>
          <a:noFill/>
          <a:ln/>
        </p:spPr>
        <p:txBody>
          <a:bodyPr wrap="square" lIns="0" tIns="0" rIns="0" bIns="0" rtlCol="0" anchor="t"/>
          <a:lstStyle/>
          <a:p>
            <a:pPr marL="0" indent="0">
              <a:buNone/>
            </a:pPr>
            <a:r>
              <a:rPr lang="en-US" sz="1100" dirty="0">
                <a:solidFill>
                  <a:srgbClr val="534AB7"/>
                </a:solidFill>
              </a:rPr>
              <a:t>OpenAPI specs are the contract — but they routinely ship without security schemes, error handling, or governance standards. Ungoverned APIs become attack surfaces, integration failures, and compliance liabilities.</a:t>
            </a:r>
            <a:endParaRPr lang="en-US" sz="1100" dirty="0"/>
          </a:p>
        </p:txBody>
      </p:sp>
      <p:sp>
        <p:nvSpPr>
          <p:cNvPr id="24" name="Shape 10">
            <a:extLst>
              <a:ext uri="{FF2B5EF4-FFF2-40B4-BE49-F238E27FC236}">
                <a16:creationId xmlns:a16="http://schemas.microsoft.com/office/drawing/2014/main" id="{ED923446-6E1A-FD5E-E21F-9529FAD414CB}"/>
              </a:ext>
            </a:extLst>
          </p:cNvPr>
          <p:cNvSpPr/>
          <p:nvPr/>
        </p:nvSpPr>
        <p:spPr>
          <a:xfrm>
            <a:off x="6130210" y="1428293"/>
            <a:ext cx="5089321" cy="1371600"/>
          </a:xfrm>
          <a:prstGeom prst="rect">
            <a:avLst/>
          </a:prstGeom>
          <a:solidFill>
            <a:srgbClr val="FAECE7"/>
          </a:solidFill>
          <a:ln w="9525">
            <a:solidFill>
              <a:srgbClr val="D85A30"/>
            </a:solidFill>
            <a:prstDash val="solid"/>
          </a:ln>
        </p:spPr>
        <p:txBody>
          <a:bodyPr/>
          <a:lstStyle/>
          <a:p>
            <a:endParaRPr lang="en-US"/>
          </a:p>
        </p:txBody>
      </p:sp>
      <p:sp>
        <p:nvSpPr>
          <p:cNvPr id="25" name="Shape 11">
            <a:extLst>
              <a:ext uri="{FF2B5EF4-FFF2-40B4-BE49-F238E27FC236}">
                <a16:creationId xmlns:a16="http://schemas.microsoft.com/office/drawing/2014/main" id="{BDDB0650-7158-D35A-45C0-D0D3517FF130}"/>
              </a:ext>
            </a:extLst>
          </p:cNvPr>
          <p:cNvSpPr/>
          <p:nvPr/>
        </p:nvSpPr>
        <p:spPr>
          <a:xfrm>
            <a:off x="6258283" y="1295501"/>
            <a:ext cx="1486528" cy="267020"/>
          </a:xfrm>
          <a:prstGeom prst="roundRect">
            <a:avLst>
              <a:gd name="adj" fmla="val 50000"/>
            </a:avLst>
          </a:prstGeom>
          <a:solidFill>
            <a:srgbClr val="993C1D"/>
          </a:solidFill>
          <a:ln w="12700">
            <a:solidFill>
              <a:srgbClr val="993C1D"/>
            </a:solidFill>
            <a:prstDash val="solid"/>
          </a:ln>
        </p:spPr>
        <p:txBody>
          <a:bodyPr/>
          <a:lstStyle/>
          <a:p>
            <a:endParaRPr lang="en-US"/>
          </a:p>
        </p:txBody>
      </p:sp>
      <p:sp>
        <p:nvSpPr>
          <p:cNvPr id="26" name="Text 12">
            <a:extLst>
              <a:ext uri="{FF2B5EF4-FFF2-40B4-BE49-F238E27FC236}">
                <a16:creationId xmlns:a16="http://schemas.microsoft.com/office/drawing/2014/main" id="{C1823802-8E7B-E921-D9D2-E459C12298D5}"/>
              </a:ext>
            </a:extLst>
          </p:cNvPr>
          <p:cNvSpPr/>
          <p:nvPr/>
        </p:nvSpPr>
        <p:spPr>
          <a:xfrm>
            <a:off x="6095839" y="1302773"/>
            <a:ext cx="1648972" cy="256032"/>
          </a:xfrm>
          <a:prstGeom prst="rect">
            <a:avLst/>
          </a:prstGeom>
          <a:noFill/>
          <a:ln/>
        </p:spPr>
        <p:txBody>
          <a:bodyPr wrap="square" lIns="0" tIns="0" rIns="0" bIns="0" rtlCol="0" anchor="ctr"/>
          <a:lstStyle/>
          <a:p>
            <a:pPr marL="0" indent="0" algn="ctr">
              <a:buNone/>
            </a:pPr>
            <a:r>
              <a:rPr lang="en-US" sz="1100" b="1" dirty="0">
                <a:solidFill>
                  <a:srgbClr val="FFFFFF"/>
                </a:solidFill>
              </a:rPr>
              <a:t>Why it matters</a:t>
            </a:r>
            <a:endParaRPr lang="en-US" sz="1100" dirty="0"/>
          </a:p>
        </p:txBody>
      </p:sp>
      <p:sp>
        <p:nvSpPr>
          <p:cNvPr id="27" name="Text 13">
            <a:extLst>
              <a:ext uri="{FF2B5EF4-FFF2-40B4-BE49-F238E27FC236}">
                <a16:creationId xmlns:a16="http://schemas.microsoft.com/office/drawing/2014/main" id="{B3AE1F77-8637-1E17-7729-E21285D409CD}"/>
              </a:ext>
            </a:extLst>
          </p:cNvPr>
          <p:cNvSpPr/>
          <p:nvPr/>
        </p:nvSpPr>
        <p:spPr>
          <a:xfrm>
            <a:off x="6327491" y="1624249"/>
            <a:ext cx="4023360" cy="256032"/>
          </a:xfrm>
          <a:prstGeom prst="rect">
            <a:avLst/>
          </a:prstGeom>
          <a:noFill/>
          <a:ln/>
        </p:spPr>
        <p:txBody>
          <a:bodyPr wrap="square" lIns="0" tIns="0" rIns="0" bIns="0" rtlCol="0" anchor="t"/>
          <a:lstStyle/>
          <a:p>
            <a:pPr marL="0" indent="0">
              <a:buNone/>
            </a:pPr>
            <a:r>
              <a:rPr lang="en-US" sz="1200" b="1" dirty="0">
                <a:solidFill>
                  <a:srgbClr val="4A1B0C"/>
                </a:solidFill>
              </a:rPr>
              <a:t>The cost of API insecurity is measurable</a:t>
            </a:r>
            <a:endParaRPr lang="en-US" sz="1200" dirty="0"/>
          </a:p>
        </p:txBody>
      </p:sp>
      <p:sp>
        <p:nvSpPr>
          <p:cNvPr id="28" name="Text 14">
            <a:extLst>
              <a:ext uri="{FF2B5EF4-FFF2-40B4-BE49-F238E27FC236}">
                <a16:creationId xmlns:a16="http://schemas.microsoft.com/office/drawing/2014/main" id="{EAA531F6-7F62-620C-6D40-4C8E2EA31412}"/>
              </a:ext>
            </a:extLst>
          </p:cNvPr>
          <p:cNvSpPr/>
          <p:nvPr/>
        </p:nvSpPr>
        <p:spPr>
          <a:xfrm>
            <a:off x="6327491" y="1879099"/>
            <a:ext cx="4798610" cy="1005840"/>
          </a:xfrm>
          <a:prstGeom prst="rect">
            <a:avLst/>
          </a:prstGeom>
          <a:noFill/>
          <a:ln/>
        </p:spPr>
        <p:txBody>
          <a:bodyPr wrap="square" lIns="0" tIns="0" rIns="0" bIns="0" rtlCol="0" anchor="t"/>
          <a:lstStyle/>
          <a:p>
            <a:pPr marL="0" indent="0">
              <a:buNone/>
            </a:pPr>
            <a:r>
              <a:rPr lang="en-US" sz="1100" dirty="0">
                <a:solidFill>
                  <a:srgbClr val="993C1D"/>
                </a:solidFill>
              </a:rPr>
              <a:t>Breaches via exposed APIs average $3.8M per incident. OWASP ranks broken API security in its Top 10 every year. Poor spec quality compounds every downstream integration, review cycle, and production risk.</a:t>
            </a:r>
            <a:endParaRPr lang="en-US" sz="1100" dirty="0"/>
          </a:p>
        </p:txBody>
      </p:sp>
      <p:grpSp>
        <p:nvGrpSpPr>
          <p:cNvPr id="69" name="Group 68">
            <a:extLst>
              <a:ext uri="{FF2B5EF4-FFF2-40B4-BE49-F238E27FC236}">
                <a16:creationId xmlns:a16="http://schemas.microsoft.com/office/drawing/2014/main" id="{9AFD816A-0E8A-D8B0-82E4-8FD6CE34D0CA}"/>
              </a:ext>
            </a:extLst>
          </p:cNvPr>
          <p:cNvGrpSpPr/>
          <p:nvPr/>
        </p:nvGrpSpPr>
        <p:grpSpPr>
          <a:xfrm>
            <a:off x="453048" y="2953830"/>
            <a:ext cx="2732585" cy="749808"/>
            <a:chOff x="658211" y="3392030"/>
            <a:chExt cx="2732585" cy="749808"/>
          </a:xfrm>
        </p:grpSpPr>
        <p:sp>
          <p:nvSpPr>
            <p:cNvPr id="29" name="Shape 15">
              <a:extLst>
                <a:ext uri="{FF2B5EF4-FFF2-40B4-BE49-F238E27FC236}">
                  <a16:creationId xmlns:a16="http://schemas.microsoft.com/office/drawing/2014/main" id="{09BADB6F-035C-79FE-E074-232B2B1188C9}"/>
                </a:ext>
              </a:extLst>
            </p:cNvPr>
            <p:cNvSpPr/>
            <p:nvPr/>
          </p:nvSpPr>
          <p:spPr>
            <a:xfrm>
              <a:off x="693316" y="3392030"/>
              <a:ext cx="2697480" cy="749808"/>
            </a:xfrm>
            <a:prstGeom prst="rect">
              <a:avLst/>
            </a:prstGeom>
            <a:solidFill>
              <a:srgbClr val="FCEBEB"/>
            </a:solidFill>
            <a:ln w="9525">
              <a:solidFill>
                <a:srgbClr val="E24B4A"/>
              </a:solidFill>
              <a:prstDash val="solid"/>
            </a:ln>
          </p:spPr>
          <p:txBody>
            <a:bodyPr/>
            <a:lstStyle/>
            <a:p>
              <a:endParaRPr lang="en-US"/>
            </a:p>
          </p:txBody>
        </p:sp>
        <p:sp>
          <p:nvSpPr>
            <p:cNvPr id="30" name="Text 16">
              <a:extLst>
                <a:ext uri="{FF2B5EF4-FFF2-40B4-BE49-F238E27FC236}">
                  <a16:creationId xmlns:a16="http://schemas.microsoft.com/office/drawing/2014/main" id="{80F2A4FB-6533-12E0-4D0E-6A2DBAA2BD10}"/>
                </a:ext>
              </a:extLst>
            </p:cNvPr>
            <p:cNvSpPr/>
            <p:nvPr/>
          </p:nvSpPr>
          <p:spPr>
            <a:xfrm>
              <a:off x="658211" y="3458324"/>
              <a:ext cx="2697480" cy="347472"/>
            </a:xfrm>
            <a:prstGeom prst="rect">
              <a:avLst/>
            </a:prstGeom>
            <a:noFill/>
            <a:ln/>
          </p:spPr>
          <p:txBody>
            <a:bodyPr wrap="square" lIns="0" tIns="0" rIns="0" bIns="0" rtlCol="0" anchor="ctr"/>
            <a:lstStyle/>
            <a:p>
              <a:pPr marL="0" indent="0" algn="ctr">
                <a:buNone/>
              </a:pPr>
              <a:r>
                <a:rPr lang="en-US" sz="2200" b="1" dirty="0">
                  <a:solidFill>
                    <a:srgbClr val="A32D2D"/>
                  </a:solidFill>
                </a:rPr>
                <a:t>~ $4M</a:t>
              </a:r>
              <a:endParaRPr lang="en-US" sz="2200" dirty="0"/>
            </a:p>
          </p:txBody>
        </p:sp>
        <p:sp>
          <p:nvSpPr>
            <p:cNvPr id="31" name="Text 17">
              <a:extLst>
                <a:ext uri="{FF2B5EF4-FFF2-40B4-BE49-F238E27FC236}">
                  <a16:creationId xmlns:a16="http://schemas.microsoft.com/office/drawing/2014/main" id="{D77A1A86-F184-10CD-013E-E5FE999B58A6}"/>
                </a:ext>
              </a:extLst>
            </p:cNvPr>
            <p:cNvSpPr/>
            <p:nvPr/>
          </p:nvSpPr>
          <p:spPr>
            <a:xfrm>
              <a:off x="658211" y="3805796"/>
              <a:ext cx="2697480" cy="292608"/>
            </a:xfrm>
            <a:prstGeom prst="rect">
              <a:avLst/>
            </a:prstGeom>
            <a:noFill/>
            <a:ln/>
          </p:spPr>
          <p:txBody>
            <a:bodyPr wrap="square" lIns="0" tIns="0" rIns="0" bIns="0" rtlCol="0" anchor="t"/>
            <a:lstStyle/>
            <a:p>
              <a:pPr marL="0" indent="0" algn="ctr">
                <a:buNone/>
              </a:pPr>
              <a:r>
                <a:rPr lang="en-US" sz="1200" dirty="0">
                  <a:solidFill>
                    <a:srgbClr val="791F1F"/>
                  </a:solidFill>
                </a:rPr>
                <a:t>avg. cost per API breach incident</a:t>
              </a:r>
              <a:endParaRPr lang="en-US" sz="1200" dirty="0"/>
            </a:p>
          </p:txBody>
        </p:sp>
      </p:grpSp>
      <p:grpSp>
        <p:nvGrpSpPr>
          <p:cNvPr id="70" name="Group 69">
            <a:extLst>
              <a:ext uri="{FF2B5EF4-FFF2-40B4-BE49-F238E27FC236}">
                <a16:creationId xmlns:a16="http://schemas.microsoft.com/office/drawing/2014/main" id="{5A782796-8FE4-B1F9-14D5-3F793E528B61}"/>
              </a:ext>
            </a:extLst>
          </p:cNvPr>
          <p:cNvGrpSpPr/>
          <p:nvPr/>
        </p:nvGrpSpPr>
        <p:grpSpPr>
          <a:xfrm>
            <a:off x="3914255" y="2932862"/>
            <a:ext cx="2697480" cy="749808"/>
            <a:chOff x="3648299" y="3421748"/>
            <a:chExt cx="2697480" cy="749808"/>
          </a:xfrm>
        </p:grpSpPr>
        <p:sp>
          <p:nvSpPr>
            <p:cNvPr id="32" name="Shape 18">
              <a:extLst>
                <a:ext uri="{FF2B5EF4-FFF2-40B4-BE49-F238E27FC236}">
                  <a16:creationId xmlns:a16="http://schemas.microsoft.com/office/drawing/2014/main" id="{593B291E-B71B-1D71-23A2-FFC7A1025BEA}"/>
                </a:ext>
              </a:extLst>
            </p:cNvPr>
            <p:cNvSpPr/>
            <p:nvPr/>
          </p:nvSpPr>
          <p:spPr>
            <a:xfrm>
              <a:off x="3648299" y="3421748"/>
              <a:ext cx="2697480" cy="749808"/>
            </a:xfrm>
            <a:prstGeom prst="rect">
              <a:avLst/>
            </a:prstGeom>
            <a:solidFill>
              <a:srgbClr val="FAEEDA"/>
            </a:solidFill>
            <a:ln w="9525">
              <a:solidFill>
                <a:srgbClr val="BA7517"/>
              </a:solidFill>
              <a:prstDash val="solid"/>
            </a:ln>
          </p:spPr>
          <p:txBody>
            <a:bodyPr/>
            <a:lstStyle/>
            <a:p>
              <a:endParaRPr lang="en-US"/>
            </a:p>
          </p:txBody>
        </p:sp>
        <p:sp>
          <p:nvSpPr>
            <p:cNvPr id="33" name="Text 19">
              <a:extLst>
                <a:ext uri="{FF2B5EF4-FFF2-40B4-BE49-F238E27FC236}">
                  <a16:creationId xmlns:a16="http://schemas.microsoft.com/office/drawing/2014/main" id="{3BC754EC-634E-FCE2-1739-25C2DF7E8712}"/>
                </a:ext>
              </a:extLst>
            </p:cNvPr>
            <p:cNvSpPr/>
            <p:nvPr/>
          </p:nvSpPr>
          <p:spPr>
            <a:xfrm>
              <a:off x="3648299" y="3458324"/>
              <a:ext cx="2697480" cy="347472"/>
            </a:xfrm>
            <a:prstGeom prst="rect">
              <a:avLst/>
            </a:prstGeom>
            <a:noFill/>
            <a:ln/>
          </p:spPr>
          <p:txBody>
            <a:bodyPr wrap="square" lIns="0" tIns="0" rIns="0" bIns="0" rtlCol="0" anchor="ctr"/>
            <a:lstStyle/>
            <a:p>
              <a:pPr marL="0" indent="0" algn="ctr">
                <a:buNone/>
              </a:pPr>
              <a:r>
                <a:rPr lang="en-US" sz="2200" b="1" dirty="0">
                  <a:solidFill>
                    <a:srgbClr val="854F0B"/>
                  </a:solidFill>
                </a:rPr>
                <a:t>57%</a:t>
              </a:r>
              <a:endParaRPr lang="en-US" sz="2200" dirty="0"/>
            </a:p>
          </p:txBody>
        </p:sp>
        <p:sp>
          <p:nvSpPr>
            <p:cNvPr id="34" name="Text 20">
              <a:extLst>
                <a:ext uri="{FF2B5EF4-FFF2-40B4-BE49-F238E27FC236}">
                  <a16:creationId xmlns:a16="http://schemas.microsoft.com/office/drawing/2014/main" id="{AF603E2B-DCF7-4665-E74B-3FAB04391EF2}"/>
                </a:ext>
              </a:extLst>
            </p:cNvPr>
            <p:cNvSpPr/>
            <p:nvPr/>
          </p:nvSpPr>
          <p:spPr>
            <a:xfrm>
              <a:off x="3648299" y="3805796"/>
              <a:ext cx="2697480" cy="292608"/>
            </a:xfrm>
            <a:prstGeom prst="rect">
              <a:avLst/>
            </a:prstGeom>
            <a:noFill/>
            <a:ln/>
          </p:spPr>
          <p:txBody>
            <a:bodyPr wrap="square" lIns="0" tIns="0" rIns="0" bIns="0" rtlCol="0" anchor="t"/>
            <a:lstStyle/>
            <a:p>
              <a:pPr marL="0" indent="0" algn="ctr">
                <a:buNone/>
              </a:pPr>
              <a:r>
                <a:rPr lang="en-US" sz="1100" dirty="0">
                  <a:solidFill>
                    <a:srgbClr val="633806"/>
                  </a:solidFill>
                </a:rPr>
                <a:t>of orgs hit by an API breach (last 2 yrs)</a:t>
              </a:r>
              <a:endParaRPr lang="en-US" sz="1100" dirty="0"/>
            </a:p>
          </p:txBody>
        </p:sp>
      </p:grpSp>
      <p:grpSp>
        <p:nvGrpSpPr>
          <p:cNvPr id="71" name="Group 70">
            <a:extLst>
              <a:ext uri="{FF2B5EF4-FFF2-40B4-BE49-F238E27FC236}">
                <a16:creationId xmlns:a16="http://schemas.microsoft.com/office/drawing/2014/main" id="{CF057E1B-AA4E-976D-7D2D-7FE65433B9D5}"/>
              </a:ext>
            </a:extLst>
          </p:cNvPr>
          <p:cNvGrpSpPr/>
          <p:nvPr/>
        </p:nvGrpSpPr>
        <p:grpSpPr>
          <a:xfrm>
            <a:off x="7680172" y="2908427"/>
            <a:ext cx="2697480" cy="749808"/>
            <a:chOff x="6647531" y="3421748"/>
            <a:chExt cx="2697480" cy="749808"/>
          </a:xfrm>
        </p:grpSpPr>
        <p:sp>
          <p:nvSpPr>
            <p:cNvPr id="35" name="Shape 21">
              <a:extLst>
                <a:ext uri="{FF2B5EF4-FFF2-40B4-BE49-F238E27FC236}">
                  <a16:creationId xmlns:a16="http://schemas.microsoft.com/office/drawing/2014/main" id="{E9B7B3A9-7818-29AB-0D2C-95FA93367874}"/>
                </a:ext>
              </a:extLst>
            </p:cNvPr>
            <p:cNvSpPr/>
            <p:nvPr/>
          </p:nvSpPr>
          <p:spPr>
            <a:xfrm>
              <a:off x="6647531" y="3421748"/>
              <a:ext cx="2697480" cy="749808"/>
            </a:xfrm>
            <a:prstGeom prst="rect">
              <a:avLst/>
            </a:prstGeom>
            <a:solidFill>
              <a:srgbClr val="EEEDFE"/>
            </a:solidFill>
            <a:ln w="9525">
              <a:solidFill>
                <a:srgbClr val="7F77DD"/>
              </a:solidFill>
              <a:prstDash val="solid"/>
            </a:ln>
          </p:spPr>
          <p:txBody>
            <a:bodyPr/>
            <a:lstStyle/>
            <a:p>
              <a:endParaRPr lang="en-US"/>
            </a:p>
          </p:txBody>
        </p:sp>
        <p:sp>
          <p:nvSpPr>
            <p:cNvPr id="36" name="Text 22">
              <a:extLst>
                <a:ext uri="{FF2B5EF4-FFF2-40B4-BE49-F238E27FC236}">
                  <a16:creationId xmlns:a16="http://schemas.microsoft.com/office/drawing/2014/main" id="{27E624B3-BC8B-EE60-ED1E-B77D158EA2D9}"/>
                </a:ext>
              </a:extLst>
            </p:cNvPr>
            <p:cNvSpPr/>
            <p:nvPr/>
          </p:nvSpPr>
          <p:spPr>
            <a:xfrm>
              <a:off x="6647531" y="3458324"/>
              <a:ext cx="2697480" cy="347472"/>
            </a:xfrm>
            <a:prstGeom prst="rect">
              <a:avLst/>
            </a:prstGeom>
            <a:noFill/>
            <a:ln/>
          </p:spPr>
          <p:txBody>
            <a:bodyPr wrap="square" lIns="0" tIns="0" rIns="0" bIns="0" rtlCol="0" anchor="ctr"/>
            <a:lstStyle/>
            <a:p>
              <a:pPr marL="0" indent="0" algn="ctr">
                <a:buNone/>
              </a:pPr>
              <a:r>
                <a:rPr lang="en-US" sz="1800" b="1" dirty="0">
                  <a:solidFill>
                    <a:srgbClr val="3C3489"/>
                  </a:solidFill>
                </a:rPr>
                <a:t>100s of APIs</a:t>
              </a:r>
              <a:endParaRPr lang="en-US" sz="1800" dirty="0"/>
            </a:p>
          </p:txBody>
        </p:sp>
        <p:sp>
          <p:nvSpPr>
            <p:cNvPr id="37" name="Text 23">
              <a:extLst>
                <a:ext uri="{FF2B5EF4-FFF2-40B4-BE49-F238E27FC236}">
                  <a16:creationId xmlns:a16="http://schemas.microsoft.com/office/drawing/2014/main" id="{DA93BA92-3D8D-C1BE-421F-3C61A1253908}"/>
                </a:ext>
              </a:extLst>
            </p:cNvPr>
            <p:cNvSpPr/>
            <p:nvPr/>
          </p:nvSpPr>
          <p:spPr>
            <a:xfrm>
              <a:off x="6647531" y="3805796"/>
              <a:ext cx="2697480" cy="292608"/>
            </a:xfrm>
            <a:prstGeom prst="rect">
              <a:avLst/>
            </a:prstGeom>
            <a:noFill/>
            <a:ln/>
          </p:spPr>
          <p:txBody>
            <a:bodyPr wrap="square" lIns="0" tIns="0" rIns="0" bIns="0" rtlCol="0" anchor="t"/>
            <a:lstStyle/>
            <a:p>
              <a:pPr marL="0" indent="0" algn="ctr">
                <a:buNone/>
              </a:pPr>
              <a:r>
                <a:rPr lang="en-US" sz="1100" dirty="0">
                  <a:solidFill>
                    <a:srgbClr val="26215C"/>
                  </a:solidFill>
                </a:rPr>
                <a:t>reviewed manually — slow &amp; inconsistent</a:t>
              </a:r>
              <a:endParaRPr lang="en-US" sz="1100" dirty="0"/>
            </a:p>
          </p:txBody>
        </p:sp>
      </p:grpSp>
      <p:sp>
        <p:nvSpPr>
          <p:cNvPr id="38" name="Shape 24">
            <a:extLst>
              <a:ext uri="{FF2B5EF4-FFF2-40B4-BE49-F238E27FC236}">
                <a16:creationId xmlns:a16="http://schemas.microsoft.com/office/drawing/2014/main" id="{43FECA9E-75F5-FB78-B23B-D5AD5FDF19FB}"/>
              </a:ext>
            </a:extLst>
          </p:cNvPr>
          <p:cNvSpPr/>
          <p:nvPr/>
        </p:nvSpPr>
        <p:spPr>
          <a:xfrm>
            <a:off x="170322" y="3922071"/>
            <a:ext cx="5801702" cy="1932321"/>
          </a:xfrm>
          <a:prstGeom prst="rect">
            <a:avLst/>
          </a:prstGeom>
          <a:solidFill>
            <a:srgbClr val="F1EFE8"/>
          </a:solidFill>
          <a:ln w="9525">
            <a:solidFill>
              <a:srgbClr val="888780"/>
            </a:solidFill>
            <a:prstDash val="solid"/>
          </a:ln>
        </p:spPr>
        <p:txBody>
          <a:bodyPr/>
          <a:lstStyle/>
          <a:p>
            <a:endParaRPr lang="en-US"/>
          </a:p>
        </p:txBody>
      </p:sp>
      <p:grpSp>
        <p:nvGrpSpPr>
          <p:cNvPr id="74" name="Group 73">
            <a:extLst>
              <a:ext uri="{FF2B5EF4-FFF2-40B4-BE49-F238E27FC236}">
                <a16:creationId xmlns:a16="http://schemas.microsoft.com/office/drawing/2014/main" id="{6D0307D4-0BD5-9129-27F7-AED27BB8EC42}"/>
              </a:ext>
            </a:extLst>
          </p:cNvPr>
          <p:cNvGrpSpPr/>
          <p:nvPr/>
        </p:nvGrpSpPr>
        <p:grpSpPr>
          <a:xfrm>
            <a:off x="211890" y="3798198"/>
            <a:ext cx="5617410" cy="2009591"/>
            <a:chOff x="730469" y="4106160"/>
            <a:chExt cx="5129784" cy="1741486"/>
          </a:xfrm>
        </p:grpSpPr>
        <p:sp>
          <p:nvSpPr>
            <p:cNvPr id="41" name="Shape 27">
              <a:extLst>
                <a:ext uri="{FF2B5EF4-FFF2-40B4-BE49-F238E27FC236}">
                  <a16:creationId xmlns:a16="http://schemas.microsoft.com/office/drawing/2014/main" id="{C31C1130-C983-9E2D-848B-BA8627DF8689}"/>
                </a:ext>
              </a:extLst>
            </p:cNvPr>
            <p:cNvSpPr/>
            <p:nvPr/>
          </p:nvSpPr>
          <p:spPr>
            <a:xfrm>
              <a:off x="777083" y="4427588"/>
              <a:ext cx="109728" cy="109728"/>
            </a:xfrm>
            <a:prstGeom prst="rect">
              <a:avLst/>
            </a:prstGeom>
            <a:solidFill>
              <a:srgbClr val="E24B4A"/>
            </a:solidFill>
            <a:ln w="12700">
              <a:solidFill>
                <a:srgbClr val="E24B4A"/>
              </a:solidFill>
              <a:prstDash val="solid"/>
            </a:ln>
          </p:spPr>
          <p:txBody>
            <a:bodyPr/>
            <a:lstStyle/>
            <a:p>
              <a:endParaRPr lang="en-US"/>
            </a:p>
          </p:txBody>
        </p:sp>
        <p:sp>
          <p:nvSpPr>
            <p:cNvPr id="47" name="Shape 33">
              <a:extLst>
                <a:ext uri="{FF2B5EF4-FFF2-40B4-BE49-F238E27FC236}">
                  <a16:creationId xmlns:a16="http://schemas.microsoft.com/office/drawing/2014/main" id="{A865EA36-9A57-6C9E-E1F3-3A812FD23C7B}"/>
                </a:ext>
              </a:extLst>
            </p:cNvPr>
            <p:cNvSpPr/>
            <p:nvPr/>
          </p:nvSpPr>
          <p:spPr>
            <a:xfrm>
              <a:off x="777083" y="5195684"/>
              <a:ext cx="109728" cy="109728"/>
            </a:xfrm>
            <a:prstGeom prst="rect">
              <a:avLst/>
            </a:prstGeom>
            <a:solidFill>
              <a:srgbClr val="D85A30"/>
            </a:solidFill>
            <a:ln w="12700">
              <a:solidFill>
                <a:srgbClr val="D85A30"/>
              </a:solidFill>
              <a:prstDash val="solid"/>
            </a:ln>
          </p:spPr>
          <p:txBody>
            <a:bodyPr/>
            <a:lstStyle/>
            <a:p>
              <a:endParaRPr lang="en-US"/>
            </a:p>
          </p:txBody>
        </p:sp>
        <p:grpSp>
          <p:nvGrpSpPr>
            <p:cNvPr id="73" name="Group 72">
              <a:extLst>
                <a:ext uri="{FF2B5EF4-FFF2-40B4-BE49-F238E27FC236}">
                  <a16:creationId xmlns:a16="http://schemas.microsoft.com/office/drawing/2014/main" id="{4407E42B-E167-2606-1DC5-AA8C2F460B80}"/>
                </a:ext>
              </a:extLst>
            </p:cNvPr>
            <p:cNvGrpSpPr/>
            <p:nvPr/>
          </p:nvGrpSpPr>
          <p:grpSpPr>
            <a:xfrm>
              <a:off x="730469" y="4106160"/>
              <a:ext cx="5129784" cy="1741486"/>
              <a:chOff x="749651" y="4149142"/>
              <a:chExt cx="5129784" cy="1741486"/>
            </a:xfrm>
          </p:grpSpPr>
          <p:sp>
            <p:nvSpPr>
              <p:cNvPr id="44" name="Shape 30">
                <a:extLst>
                  <a:ext uri="{FF2B5EF4-FFF2-40B4-BE49-F238E27FC236}">
                    <a16:creationId xmlns:a16="http://schemas.microsoft.com/office/drawing/2014/main" id="{17578B4F-8712-D945-1FD1-846459CB934C}"/>
                  </a:ext>
                </a:extLst>
              </p:cNvPr>
              <p:cNvSpPr/>
              <p:nvPr/>
            </p:nvSpPr>
            <p:spPr>
              <a:xfrm>
                <a:off x="777083" y="4811636"/>
                <a:ext cx="109728" cy="109728"/>
              </a:xfrm>
              <a:prstGeom prst="rect">
                <a:avLst/>
              </a:prstGeom>
              <a:solidFill>
                <a:srgbClr val="BA7517"/>
              </a:solidFill>
              <a:ln w="12700">
                <a:solidFill>
                  <a:srgbClr val="BA7517"/>
                </a:solidFill>
                <a:prstDash val="solid"/>
              </a:ln>
            </p:spPr>
            <p:txBody>
              <a:bodyPr/>
              <a:lstStyle/>
              <a:p>
                <a:endParaRPr lang="en-US"/>
              </a:p>
            </p:txBody>
          </p:sp>
          <p:sp>
            <p:nvSpPr>
              <p:cNvPr id="51" name="Shape 36">
                <a:extLst>
                  <a:ext uri="{FF2B5EF4-FFF2-40B4-BE49-F238E27FC236}">
                    <a16:creationId xmlns:a16="http://schemas.microsoft.com/office/drawing/2014/main" id="{101FA57A-7796-E40D-D29D-EEBB6BB3CE70}"/>
                  </a:ext>
                </a:extLst>
              </p:cNvPr>
              <p:cNvSpPr/>
              <p:nvPr/>
            </p:nvSpPr>
            <p:spPr>
              <a:xfrm>
                <a:off x="777083" y="5579732"/>
                <a:ext cx="109728" cy="109728"/>
              </a:xfrm>
              <a:prstGeom prst="rect">
                <a:avLst/>
              </a:prstGeom>
              <a:solidFill>
                <a:srgbClr val="888780"/>
              </a:solidFill>
              <a:ln w="12700">
                <a:solidFill>
                  <a:srgbClr val="888780"/>
                </a:solidFill>
                <a:prstDash val="solid"/>
              </a:ln>
            </p:spPr>
            <p:txBody>
              <a:bodyPr/>
              <a:lstStyle/>
              <a:p>
                <a:endParaRPr lang="en-US"/>
              </a:p>
            </p:txBody>
          </p:sp>
          <p:grpSp>
            <p:nvGrpSpPr>
              <p:cNvPr id="72" name="Group 71">
                <a:extLst>
                  <a:ext uri="{FF2B5EF4-FFF2-40B4-BE49-F238E27FC236}">
                    <a16:creationId xmlns:a16="http://schemas.microsoft.com/office/drawing/2014/main" id="{B230B200-2783-C97F-6BCB-B9BA9E946CE3}"/>
                  </a:ext>
                </a:extLst>
              </p:cNvPr>
              <p:cNvGrpSpPr/>
              <p:nvPr/>
            </p:nvGrpSpPr>
            <p:grpSpPr>
              <a:xfrm>
                <a:off x="749651" y="4149142"/>
                <a:ext cx="5129784" cy="1741486"/>
                <a:chOff x="749651" y="4149142"/>
                <a:chExt cx="5129784" cy="1741486"/>
              </a:xfrm>
            </p:grpSpPr>
            <p:sp>
              <p:nvSpPr>
                <p:cNvPr id="39" name="Shape 25">
                  <a:extLst>
                    <a:ext uri="{FF2B5EF4-FFF2-40B4-BE49-F238E27FC236}">
                      <a16:creationId xmlns:a16="http://schemas.microsoft.com/office/drawing/2014/main" id="{67D4D9DC-35F6-4471-02DC-EB0B6C48E054}"/>
                    </a:ext>
                  </a:extLst>
                </p:cNvPr>
                <p:cNvSpPr/>
                <p:nvPr/>
              </p:nvSpPr>
              <p:spPr>
                <a:xfrm>
                  <a:off x="782178" y="4149142"/>
                  <a:ext cx="1508760" cy="201168"/>
                </a:xfrm>
                <a:prstGeom prst="roundRect">
                  <a:avLst>
                    <a:gd name="adj" fmla="val 50000"/>
                  </a:avLst>
                </a:prstGeom>
                <a:solidFill>
                  <a:srgbClr val="5F5E5A"/>
                </a:solidFill>
                <a:ln w="12700">
                  <a:solidFill>
                    <a:srgbClr val="5F5E5A"/>
                  </a:solidFill>
                  <a:prstDash val="solid"/>
                </a:ln>
              </p:spPr>
              <p:txBody>
                <a:bodyPr/>
                <a:lstStyle/>
                <a:p>
                  <a:endParaRPr lang="en-US"/>
                </a:p>
              </p:txBody>
            </p:sp>
            <p:sp>
              <p:nvSpPr>
                <p:cNvPr id="40" name="Text 26">
                  <a:extLst>
                    <a:ext uri="{FF2B5EF4-FFF2-40B4-BE49-F238E27FC236}">
                      <a16:creationId xmlns:a16="http://schemas.microsoft.com/office/drawing/2014/main" id="{BC2B6CCA-7F86-E936-72FA-0264475DABDC}"/>
                    </a:ext>
                  </a:extLst>
                </p:cNvPr>
                <p:cNvSpPr/>
                <p:nvPr/>
              </p:nvSpPr>
              <p:spPr>
                <a:xfrm>
                  <a:off x="749651" y="4153270"/>
                  <a:ext cx="1508760" cy="184766"/>
                </a:xfrm>
                <a:prstGeom prst="rect">
                  <a:avLst/>
                </a:prstGeom>
                <a:noFill/>
                <a:ln/>
              </p:spPr>
              <p:txBody>
                <a:bodyPr wrap="square" lIns="0" tIns="0" rIns="0" bIns="0" rtlCol="0" anchor="ctr"/>
                <a:lstStyle/>
                <a:p>
                  <a:pPr marL="0" indent="0" algn="ctr">
                    <a:buNone/>
                  </a:pPr>
                  <a:r>
                    <a:rPr lang="en-US" sz="1100" b="1" dirty="0">
                      <a:solidFill>
                        <a:srgbClr val="FFFFFF"/>
                      </a:solidFill>
                    </a:rPr>
                    <a:t>Current challenges</a:t>
                  </a:r>
                  <a:endParaRPr lang="en-US" sz="1100" dirty="0"/>
                </a:p>
              </p:txBody>
            </p:sp>
            <p:sp>
              <p:nvSpPr>
                <p:cNvPr id="42" name="Text 28">
                  <a:extLst>
                    <a:ext uri="{FF2B5EF4-FFF2-40B4-BE49-F238E27FC236}">
                      <a16:creationId xmlns:a16="http://schemas.microsoft.com/office/drawing/2014/main" id="{321420BA-5B71-66DB-7C45-73C59DAC3784}"/>
                    </a:ext>
                  </a:extLst>
                </p:cNvPr>
                <p:cNvSpPr/>
                <p:nvPr/>
              </p:nvSpPr>
              <p:spPr>
                <a:xfrm>
                  <a:off x="941675" y="4372724"/>
                  <a:ext cx="2286000" cy="219456"/>
                </a:xfrm>
                <a:prstGeom prst="rect">
                  <a:avLst/>
                </a:prstGeom>
                <a:noFill/>
                <a:ln/>
              </p:spPr>
              <p:txBody>
                <a:bodyPr wrap="square" lIns="0" tIns="0" rIns="0" bIns="0" rtlCol="0" anchor="ctr"/>
                <a:lstStyle/>
                <a:p>
                  <a:pPr marL="0" indent="0">
                    <a:buNone/>
                  </a:pPr>
                  <a:r>
                    <a:rPr lang="en-US" sz="1100" b="1" dirty="0">
                      <a:solidFill>
                        <a:srgbClr val="2C2C2A"/>
                      </a:solidFill>
                    </a:rPr>
                    <a:t>No security schemes</a:t>
                  </a:r>
                  <a:endParaRPr lang="en-US" sz="1100" dirty="0"/>
                </a:p>
              </p:txBody>
            </p:sp>
            <p:sp>
              <p:nvSpPr>
                <p:cNvPr id="43" name="Text 29">
                  <a:extLst>
                    <a:ext uri="{FF2B5EF4-FFF2-40B4-BE49-F238E27FC236}">
                      <a16:creationId xmlns:a16="http://schemas.microsoft.com/office/drawing/2014/main" id="{B41CA3CC-4EDC-4879-CB84-AD924E88755B}"/>
                    </a:ext>
                  </a:extLst>
                </p:cNvPr>
                <p:cNvSpPr/>
                <p:nvPr/>
              </p:nvSpPr>
              <p:spPr>
                <a:xfrm>
                  <a:off x="941675" y="4573892"/>
                  <a:ext cx="4937760" cy="164592"/>
                </a:xfrm>
                <a:prstGeom prst="rect">
                  <a:avLst/>
                </a:prstGeom>
                <a:noFill/>
                <a:ln/>
              </p:spPr>
              <p:txBody>
                <a:bodyPr wrap="square" lIns="0" tIns="0" rIns="0" bIns="0" rtlCol="0" anchor="t"/>
                <a:lstStyle/>
                <a:p>
                  <a:pPr marL="0" indent="0">
                    <a:buNone/>
                  </a:pPr>
                  <a:r>
                    <a:rPr lang="en-US" sz="1050" dirty="0">
                      <a:solidFill>
                        <a:srgbClr val="5F5E5A"/>
                      </a:solidFill>
                    </a:rPr>
                    <a:t>OAuth2, JWT, scopes absent — endpoints ship unprotected</a:t>
                  </a:r>
                  <a:endParaRPr lang="en-US" sz="1050" dirty="0"/>
                </a:p>
              </p:txBody>
            </p:sp>
            <p:sp>
              <p:nvSpPr>
                <p:cNvPr id="45" name="Text 31">
                  <a:extLst>
                    <a:ext uri="{FF2B5EF4-FFF2-40B4-BE49-F238E27FC236}">
                      <a16:creationId xmlns:a16="http://schemas.microsoft.com/office/drawing/2014/main" id="{5A886C8B-78D0-5CFB-EBB3-25D66A217273}"/>
                    </a:ext>
                  </a:extLst>
                </p:cNvPr>
                <p:cNvSpPr/>
                <p:nvPr/>
              </p:nvSpPr>
              <p:spPr>
                <a:xfrm>
                  <a:off x="941675" y="4756772"/>
                  <a:ext cx="2286000" cy="219456"/>
                </a:xfrm>
                <a:prstGeom prst="rect">
                  <a:avLst/>
                </a:prstGeom>
                <a:noFill/>
                <a:ln/>
              </p:spPr>
              <p:txBody>
                <a:bodyPr wrap="square" lIns="0" tIns="0" rIns="0" bIns="0" rtlCol="0" anchor="ctr"/>
                <a:lstStyle/>
                <a:p>
                  <a:pPr marL="0" indent="0">
                    <a:buNone/>
                  </a:pPr>
                  <a:r>
                    <a:rPr lang="en-US" sz="1100" b="1" dirty="0">
                      <a:solidFill>
                        <a:srgbClr val="2C2C2A"/>
                      </a:solidFill>
                    </a:rPr>
                    <a:t>Missing critical response codes</a:t>
                  </a:r>
                  <a:endParaRPr lang="en-US" sz="1100" dirty="0"/>
                </a:p>
              </p:txBody>
            </p:sp>
            <p:sp>
              <p:nvSpPr>
                <p:cNvPr id="46" name="Text 32">
                  <a:extLst>
                    <a:ext uri="{FF2B5EF4-FFF2-40B4-BE49-F238E27FC236}">
                      <a16:creationId xmlns:a16="http://schemas.microsoft.com/office/drawing/2014/main" id="{7E4E26B9-ADC9-3996-9D77-9A2F91C45797}"/>
                    </a:ext>
                  </a:extLst>
                </p:cNvPr>
                <p:cNvSpPr/>
                <p:nvPr/>
              </p:nvSpPr>
              <p:spPr>
                <a:xfrm>
                  <a:off x="941675" y="4957940"/>
                  <a:ext cx="4937760" cy="164592"/>
                </a:xfrm>
                <a:prstGeom prst="rect">
                  <a:avLst/>
                </a:prstGeom>
                <a:noFill/>
                <a:ln/>
              </p:spPr>
              <p:txBody>
                <a:bodyPr wrap="square" lIns="0" tIns="0" rIns="0" bIns="0" rtlCol="0" anchor="t"/>
                <a:lstStyle/>
                <a:p>
                  <a:pPr marL="0" indent="0">
                    <a:buNone/>
                  </a:pPr>
                  <a:r>
                    <a:rPr lang="en-US" sz="1100" dirty="0">
                      <a:solidFill>
                        <a:srgbClr val="5F5E5A"/>
                      </a:solidFill>
                    </a:rPr>
                    <a:t>401, 403, 429 undocumented — blind spots in error handling</a:t>
                  </a:r>
                  <a:endParaRPr lang="en-US" sz="1100" dirty="0"/>
                </a:p>
              </p:txBody>
            </p:sp>
            <p:sp>
              <p:nvSpPr>
                <p:cNvPr id="48" name="Text 34">
                  <a:extLst>
                    <a:ext uri="{FF2B5EF4-FFF2-40B4-BE49-F238E27FC236}">
                      <a16:creationId xmlns:a16="http://schemas.microsoft.com/office/drawing/2014/main" id="{748C81F1-6831-99BA-B880-7D2B324D59A0}"/>
                    </a:ext>
                  </a:extLst>
                </p:cNvPr>
                <p:cNvSpPr/>
                <p:nvPr/>
              </p:nvSpPr>
              <p:spPr>
                <a:xfrm>
                  <a:off x="941675" y="5140820"/>
                  <a:ext cx="2286000" cy="219456"/>
                </a:xfrm>
                <a:prstGeom prst="rect">
                  <a:avLst/>
                </a:prstGeom>
                <a:noFill/>
                <a:ln/>
              </p:spPr>
              <p:txBody>
                <a:bodyPr wrap="square" lIns="0" tIns="0" rIns="0" bIns="0" rtlCol="0" anchor="ctr"/>
                <a:lstStyle/>
                <a:p>
                  <a:pPr marL="0" indent="0">
                    <a:buNone/>
                  </a:pPr>
                  <a:r>
                    <a:rPr lang="en-US" sz="1100" b="1" dirty="0">
                      <a:solidFill>
                        <a:srgbClr val="2C2C2A"/>
                      </a:solidFill>
                    </a:rPr>
                    <a:t>Inconsistent errors &amp; REST violations</a:t>
                  </a:r>
                  <a:endParaRPr lang="en-US" sz="1100" dirty="0"/>
                </a:p>
              </p:txBody>
            </p:sp>
            <p:sp>
              <p:nvSpPr>
                <p:cNvPr id="50" name="Text 35">
                  <a:extLst>
                    <a:ext uri="{FF2B5EF4-FFF2-40B4-BE49-F238E27FC236}">
                      <a16:creationId xmlns:a16="http://schemas.microsoft.com/office/drawing/2014/main" id="{10464EB2-70B6-C91F-7ED3-030C94FBA6B8}"/>
                    </a:ext>
                  </a:extLst>
                </p:cNvPr>
                <p:cNvSpPr/>
                <p:nvPr/>
              </p:nvSpPr>
              <p:spPr>
                <a:xfrm>
                  <a:off x="941675" y="5341988"/>
                  <a:ext cx="4937760" cy="164592"/>
                </a:xfrm>
                <a:prstGeom prst="rect">
                  <a:avLst/>
                </a:prstGeom>
                <a:noFill/>
                <a:ln/>
              </p:spPr>
              <p:txBody>
                <a:bodyPr wrap="square" lIns="0" tIns="0" rIns="0" bIns="0" rtlCol="0" anchor="t"/>
                <a:lstStyle/>
                <a:p>
                  <a:pPr marL="0" indent="0">
                    <a:buNone/>
                  </a:pPr>
                  <a:r>
                    <a:rPr lang="en-US" sz="1100" dirty="0">
                      <a:solidFill>
                        <a:srgbClr val="5F5E5A"/>
                      </a:solidFill>
                    </a:rPr>
                    <a:t>No reusable schemas, poor versioning and naming conventions</a:t>
                  </a:r>
                  <a:endParaRPr lang="en-US" sz="1100" dirty="0"/>
                </a:p>
              </p:txBody>
            </p:sp>
            <p:sp>
              <p:nvSpPr>
                <p:cNvPr id="52" name="Text 37">
                  <a:extLst>
                    <a:ext uri="{FF2B5EF4-FFF2-40B4-BE49-F238E27FC236}">
                      <a16:creationId xmlns:a16="http://schemas.microsoft.com/office/drawing/2014/main" id="{FC1A4F8D-85B6-EDED-2930-A49DB65E0E7D}"/>
                    </a:ext>
                  </a:extLst>
                </p:cNvPr>
                <p:cNvSpPr/>
                <p:nvPr/>
              </p:nvSpPr>
              <p:spPr>
                <a:xfrm>
                  <a:off x="941675" y="5524868"/>
                  <a:ext cx="2286000" cy="219456"/>
                </a:xfrm>
                <a:prstGeom prst="rect">
                  <a:avLst/>
                </a:prstGeom>
                <a:noFill/>
                <a:ln/>
              </p:spPr>
              <p:txBody>
                <a:bodyPr wrap="square" lIns="0" tIns="0" rIns="0" bIns="0" rtlCol="0" anchor="ctr"/>
                <a:lstStyle/>
                <a:p>
                  <a:pPr marL="0" indent="0">
                    <a:buNone/>
                  </a:pPr>
                  <a:r>
                    <a:rPr lang="en-US" sz="1100" b="1" dirty="0">
                      <a:solidFill>
                        <a:srgbClr val="2C2C2A"/>
                      </a:solidFill>
                    </a:rPr>
                    <a:t>No continuous governance</a:t>
                  </a:r>
                  <a:endParaRPr lang="en-US" sz="1100" dirty="0"/>
                </a:p>
              </p:txBody>
            </p:sp>
            <p:sp>
              <p:nvSpPr>
                <p:cNvPr id="53" name="Text 38">
                  <a:extLst>
                    <a:ext uri="{FF2B5EF4-FFF2-40B4-BE49-F238E27FC236}">
                      <a16:creationId xmlns:a16="http://schemas.microsoft.com/office/drawing/2014/main" id="{B7574012-C08D-BC7A-976B-BA0BE3160ECC}"/>
                    </a:ext>
                  </a:extLst>
                </p:cNvPr>
                <p:cNvSpPr/>
                <p:nvPr/>
              </p:nvSpPr>
              <p:spPr>
                <a:xfrm>
                  <a:off x="941675" y="5726036"/>
                  <a:ext cx="4937760" cy="164592"/>
                </a:xfrm>
                <a:prstGeom prst="rect">
                  <a:avLst/>
                </a:prstGeom>
                <a:noFill/>
                <a:ln/>
              </p:spPr>
              <p:txBody>
                <a:bodyPr wrap="square" lIns="0" tIns="0" rIns="0" bIns="0" rtlCol="0" anchor="t"/>
                <a:lstStyle/>
                <a:p>
                  <a:pPr marL="0" indent="0">
                    <a:buNone/>
                  </a:pPr>
                  <a:r>
                    <a:rPr lang="en-US" sz="1100" dirty="0">
                      <a:solidFill>
                        <a:srgbClr val="5F5E5A"/>
                      </a:solidFill>
                    </a:rPr>
                    <a:t>Standards drift silently — no OWASP / ISO alignment at design time</a:t>
                  </a:r>
                  <a:endParaRPr lang="en-US" sz="1100" dirty="0"/>
                </a:p>
              </p:txBody>
            </p:sp>
          </p:grpSp>
        </p:grpSp>
      </p:grpSp>
      <p:sp>
        <p:nvSpPr>
          <p:cNvPr id="67" name="Shape 52">
            <a:extLst>
              <a:ext uri="{FF2B5EF4-FFF2-40B4-BE49-F238E27FC236}">
                <a16:creationId xmlns:a16="http://schemas.microsoft.com/office/drawing/2014/main" id="{EFF36EC6-331B-524A-7FF8-8D520E7B7A9F}"/>
              </a:ext>
            </a:extLst>
          </p:cNvPr>
          <p:cNvSpPr/>
          <p:nvPr/>
        </p:nvSpPr>
        <p:spPr>
          <a:xfrm>
            <a:off x="161278" y="5962130"/>
            <a:ext cx="11126356" cy="349122"/>
          </a:xfrm>
          <a:prstGeom prst="rect">
            <a:avLst/>
          </a:prstGeom>
          <a:solidFill>
            <a:srgbClr val="3C3489"/>
          </a:solidFill>
          <a:ln w="12700">
            <a:solidFill>
              <a:srgbClr val="3C3489"/>
            </a:solidFill>
            <a:prstDash val="solid"/>
          </a:ln>
        </p:spPr>
        <p:txBody>
          <a:bodyPr/>
          <a:lstStyle/>
          <a:p>
            <a:endParaRPr lang="en-US"/>
          </a:p>
        </p:txBody>
      </p:sp>
      <p:sp>
        <p:nvSpPr>
          <p:cNvPr id="68" name="Text 53">
            <a:extLst>
              <a:ext uri="{FF2B5EF4-FFF2-40B4-BE49-F238E27FC236}">
                <a16:creationId xmlns:a16="http://schemas.microsoft.com/office/drawing/2014/main" id="{248D552C-04B3-E1EB-2744-CC10910A74A7}"/>
              </a:ext>
            </a:extLst>
          </p:cNvPr>
          <p:cNvSpPr/>
          <p:nvPr/>
        </p:nvSpPr>
        <p:spPr>
          <a:xfrm>
            <a:off x="658211" y="5970811"/>
            <a:ext cx="8686800" cy="316795"/>
          </a:xfrm>
          <a:prstGeom prst="rect">
            <a:avLst/>
          </a:prstGeom>
          <a:noFill/>
          <a:ln/>
        </p:spPr>
        <p:txBody>
          <a:bodyPr wrap="square" lIns="0" tIns="0" rIns="0" bIns="0" rtlCol="0" anchor="ctr"/>
          <a:lstStyle/>
          <a:p>
            <a:pPr marL="0" indent="0" algn="ctr">
              <a:buNone/>
            </a:pPr>
            <a:r>
              <a:rPr lang="en-US" sz="1200" b="1" dirty="0">
                <a:solidFill>
                  <a:srgbClr val="FFFFFF"/>
                </a:solidFill>
              </a:rPr>
              <a:t>Without automated governance, every new API is a liability waiting to be discovered.</a:t>
            </a:r>
            <a:endParaRPr lang="en-US" sz="1200" dirty="0"/>
          </a:p>
        </p:txBody>
      </p:sp>
      <p:grpSp>
        <p:nvGrpSpPr>
          <p:cNvPr id="77" name="Group 76">
            <a:extLst>
              <a:ext uri="{FF2B5EF4-FFF2-40B4-BE49-F238E27FC236}">
                <a16:creationId xmlns:a16="http://schemas.microsoft.com/office/drawing/2014/main" id="{271ABB4B-7252-191C-7A26-DB860718DD6A}"/>
              </a:ext>
            </a:extLst>
          </p:cNvPr>
          <p:cNvGrpSpPr/>
          <p:nvPr/>
        </p:nvGrpSpPr>
        <p:grpSpPr>
          <a:xfrm>
            <a:off x="6277070" y="3825811"/>
            <a:ext cx="5010564" cy="2047047"/>
            <a:chOff x="6277070" y="3750932"/>
            <a:chExt cx="5010564" cy="2047047"/>
          </a:xfrm>
        </p:grpSpPr>
        <p:grpSp>
          <p:nvGrpSpPr>
            <p:cNvPr id="76" name="Group 75">
              <a:extLst>
                <a:ext uri="{FF2B5EF4-FFF2-40B4-BE49-F238E27FC236}">
                  <a16:creationId xmlns:a16="http://schemas.microsoft.com/office/drawing/2014/main" id="{B9165345-5296-0587-B963-6A21EDAF30FC}"/>
                </a:ext>
              </a:extLst>
            </p:cNvPr>
            <p:cNvGrpSpPr/>
            <p:nvPr/>
          </p:nvGrpSpPr>
          <p:grpSpPr>
            <a:xfrm>
              <a:off x="6277070" y="3750932"/>
              <a:ext cx="5010564" cy="2047047"/>
              <a:chOff x="7997433" y="3909016"/>
              <a:chExt cx="3108960" cy="1815889"/>
            </a:xfrm>
          </p:grpSpPr>
          <p:grpSp>
            <p:nvGrpSpPr>
              <p:cNvPr id="75" name="Group 74">
                <a:extLst>
                  <a:ext uri="{FF2B5EF4-FFF2-40B4-BE49-F238E27FC236}">
                    <a16:creationId xmlns:a16="http://schemas.microsoft.com/office/drawing/2014/main" id="{98754641-B388-2026-797B-29AF17C801C0}"/>
                  </a:ext>
                </a:extLst>
              </p:cNvPr>
              <p:cNvGrpSpPr/>
              <p:nvPr/>
            </p:nvGrpSpPr>
            <p:grpSpPr>
              <a:xfrm>
                <a:off x="7997433" y="3909016"/>
                <a:ext cx="3108960" cy="1815889"/>
                <a:chOff x="6236051" y="4208131"/>
                <a:chExt cx="3108960" cy="1815889"/>
              </a:xfrm>
            </p:grpSpPr>
            <p:sp>
              <p:nvSpPr>
                <p:cNvPr id="54" name="Shape 39">
                  <a:extLst>
                    <a:ext uri="{FF2B5EF4-FFF2-40B4-BE49-F238E27FC236}">
                      <a16:creationId xmlns:a16="http://schemas.microsoft.com/office/drawing/2014/main" id="{7708C9D6-3CF4-367C-F7A2-5F24089B2C43}"/>
                    </a:ext>
                  </a:extLst>
                </p:cNvPr>
                <p:cNvSpPr/>
                <p:nvPr/>
              </p:nvSpPr>
              <p:spPr>
                <a:xfrm>
                  <a:off x="6236051" y="4332380"/>
                  <a:ext cx="3108960" cy="1691640"/>
                </a:xfrm>
                <a:prstGeom prst="rect">
                  <a:avLst/>
                </a:prstGeom>
                <a:solidFill>
                  <a:srgbClr val="E1F5EE"/>
                </a:solidFill>
                <a:ln w="9525">
                  <a:solidFill>
                    <a:srgbClr val="1D9E75"/>
                  </a:solidFill>
                  <a:prstDash val="solid"/>
                </a:ln>
              </p:spPr>
              <p:txBody>
                <a:bodyPr/>
                <a:lstStyle/>
                <a:p>
                  <a:endParaRPr lang="en-US" dirty="0"/>
                </a:p>
              </p:txBody>
            </p:sp>
            <p:sp>
              <p:nvSpPr>
                <p:cNvPr id="55" name="Shape 40">
                  <a:extLst>
                    <a:ext uri="{FF2B5EF4-FFF2-40B4-BE49-F238E27FC236}">
                      <a16:creationId xmlns:a16="http://schemas.microsoft.com/office/drawing/2014/main" id="{F2D4DA09-B446-801A-ABA9-3F64800A3F32}"/>
                    </a:ext>
                  </a:extLst>
                </p:cNvPr>
                <p:cNvSpPr/>
                <p:nvPr/>
              </p:nvSpPr>
              <p:spPr>
                <a:xfrm>
                  <a:off x="6327491" y="4208131"/>
                  <a:ext cx="1417320" cy="262042"/>
                </a:xfrm>
                <a:prstGeom prst="roundRect">
                  <a:avLst>
                    <a:gd name="adj" fmla="val 50000"/>
                  </a:avLst>
                </a:prstGeom>
                <a:solidFill>
                  <a:srgbClr val="0F6E56"/>
                </a:solidFill>
                <a:ln w="12700">
                  <a:solidFill>
                    <a:srgbClr val="0F6E56"/>
                  </a:solidFill>
                  <a:prstDash val="solid"/>
                </a:ln>
              </p:spPr>
              <p:txBody>
                <a:bodyPr/>
                <a:lstStyle/>
                <a:p>
                  <a:endParaRPr lang="en-US"/>
                </a:p>
              </p:txBody>
            </p:sp>
            <p:sp>
              <p:nvSpPr>
                <p:cNvPr id="56" name="Text 41">
                  <a:extLst>
                    <a:ext uri="{FF2B5EF4-FFF2-40B4-BE49-F238E27FC236}">
                      <a16:creationId xmlns:a16="http://schemas.microsoft.com/office/drawing/2014/main" id="{DC962EE4-5CFE-C4FE-4154-8F68255E5D28}"/>
                    </a:ext>
                  </a:extLst>
                </p:cNvPr>
                <p:cNvSpPr/>
                <p:nvPr/>
              </p:nvSpPr>
              <p:spPr>
                <a:xfrm>
                  <a:off x="6327491" y="4208132"/>
                  <a:ext cx="1417320" cy="201168"/>
                </a:xfrm>
                <a:prstGeom prst="rect">
                  <a:avLst/>
                </a:prstGeom>
                <a:noFill/>
                <a:ln/>
              </p:spPr>
              <p:txBody>
                <a:bodyPr wrap="square" lIns="0" tIns="0" rIns="0" bIns="0" rtlCol="0" anchor="ctr"/>
                <a:lstStyle/>
                <a:p>
                  <a:pPr marL="0" indent="0" algn="ctr">
                    <a:buNone/>
                  </a:pPr>
                  <a:r>
                    <a:rPr lang="en-US" sz="1100" b="1" dirty="0">
                      <a:solidFill>
                        <a:srgbClr val="FFFFFF"/>
                      </a:solidFill>
                    </a:rPr>
                    <a:t>IBM product in scope</a:t>
                  </a:r>
                  <a:endParaRPr lang="en-US" sz="1100" dirty="0"/>
                </a:p>
              </p:txBody>
            </p:sp>
            <p:sp>
              <p:nvSpPr>
                <p:cNvPr id="57" name="Shape 42">
                  <a:extLst>
                    <a:ext uri="{FF2B5EF4-FFF2-40B4-BE49-F238E27FC236}">
                      <a16:creationId xmlns:a16="http://schemas.microsoft.com/office/drawing/2014/main" id="{932D7D53-B0E2-FFFC-D338-A7F704569378}"/>
                    </a:ext>
                  </a:extLst>
                </p:cNvPr>
                <p:cNvSpPr/>
                <p:nvPr/>
              </p:nvSpPr>
              <p:spPr>
                <a:xfrm>
                  <a:off x="6443704" y="4528384"/>
                  <a:ext cx="348447" cy="350364"/>
                </a:xfrm>
                <a:prstGeom prst="rect">
                  <a:avLst/>
                </a:prstGeom>
                <a:solidFill>
                  <a:srgbClr val="9FE1CB"/>
                </a:solidFill>
                <a:ln w="9525">
                  <a:solidFill>
                    <a:srgbClr val="1D9E75"/>
                  </a:solidFill>
                  <a:prstDash val="solid"/>
                </a:ln>
              </p:spPr>
              <p:txBody>
                <a:bodyPr/>
                <a:lstStyle/>
                <a:p>
                  <a:endParaRPr lang="en-US" dirty="0"/>
                </a:p>
              </p:txBody>
            </p:sp>
            <p:sp>
              <p:nvSpPr>
                <p:cNvPr id="59" name="Text 44">
                  <a:extLst>
                    <a:ext uri="{FF2B5EF4-FFF2-40B4-BE49-F238E27FC236}">
                      <a16:creationId xmlns:a16="http://schemas.microsoft.com/office/drawing/2014/main" id="{E69A71C0-148F-96F0-0F47-2B19F66A3523}"/>
                    </a:ext>
                  </a:extLst>
                </p:cNvPr>
                <p:cNvSpPr/>
                <p:nvPr/>
              </p:nvSpPr>
              <p:spPr>
                <a:xfrm>
                  <a:off x="6865494" y="4442742"/>
                  <a:ext cx="2286000" cy="274320"/>
                </a:xfrm>
                <a:prstGeom prst="rect">
                  <a:avLst/>
                </a:prstGeom>
                <a:noFill/>
                <a:ln/>
              </p:spPr>
              <p:txBody>
                <a:bodyPr wrap="square" lIns="0" tIns="0" rIns="0" bIns="0" rtlCol="0" anchor="ctr"/>
                <a:lstStyle/>
                <a:p>
                  <a:pPr marL="0" indent="0">
                    <a:buNone/>
                  </a:pPr>
                  <a:r>
                    <a:rPr lang="en-US" sz="1100" b="1" dirty="0">
                      <a:solidFill>
                        <a:srgbClr val="04342C"/>
                      </a:solidFill>
                    </a:rPr>
                    <a:t>IBM watsonx.ai</a:t>
                  </a:r>
                  <a:endParaRPr lang="en-US" sz="1100" dirty="0"/>
                </a:p>
              </p:txBody>
            </p:sp>
            <p:sp>
              <p:nvSpPr>
                <p:cNvPr id="60" name="Text 45">
                  <a:extLst>
                    <a:ext uri="{FF2B5EF4-FFF2-40B4-BE49-F238E27FC236}">
                      <a16:creationId xmlns:a16="http://schemas.microsoft.com/office/drawing/2014/main" id="{F540125E-0FEF-D25E-1BCE-F9245A6BD6EB}"/>
                    </a:ext>
                  </a:extLst>
                </p:cNvPr>
                <p:cNvSpPr/>
                <p:nvPr/>
              </p:nvSpPr>
              <p:spPr>
                <a:xfrm>
                  <a:off x="6869736" y="4656188"/>
                  <a:ext cx="2286000" cy="228600"/>
                </a:xfrm>
                <a:prstGeom prst="rect">
                  <a:avLst/>
                </a:prstGeom>
                <a:noFill/>
                <a:ln/>
              </p:spPr>
              <p:txBody>
                <a:bodyPr wrap="square" lIns="0" tIns="0" rIns="0" bIns="0" rtlCol="0" anchor="t"/>
                <a:lstStyle/>
                <a:p>
                  <a:pPr marL="0" indent="0">
                    <a:buNone/>
                  </a:pPr>
                  <a:r>
                    <a:rPr lang="en-US" sz="1100" dirty="0">
                      <a:solidFill>
                        <a:srgbClr val="0F6E56"/>
                      </a:solidFill>
                    </a:rPr>
                    <a:t>Foundation model for agentic reasoning</a:t>
                  </a:r>
                  <a:endParaRPr lang="en-US" sz="1100" dirty="0"/>
                </a:p>
              </p:txBody>
            </p:sp>
            <p:sp>
              <p:nvSpPr>
                <p:cNvPr id="62" name="Text 47">
                  <a:extLst>
                    <a:ext uri="{FF2B5EF4-FFF2-40B4-BE49-F238E27FC236}">
                      <a16:creationId xmlns:a16="http://schemas.microsoft.com/office/drawing/2014/main" id="{9098291B-3751-5397-6B46-639D00E8E8D7}"/>
                    </a:ext>
                  </a:extLst>
                </p:cNvPr>
                <p:cNvSpPr/>
                <p:nvPr/>
              </p:nvSpPr>
              <p:spPr>
                <a:xfrm>
                  <a:off x="6327491" y="5040236"/>
                  <a:ext cx="2880360" cy="201168"/>
                </a:xfrm>
                <a:prstGeom prst="rect">
                  <a:avLst/>
                </a:prstGeom>
                <a:noFill/>
                <a:ln/>
              </p:spPr>
              <p:txBody>
                <a:bodyPr wrap="square" lIns="0" tIns="0" rIns="0" bIns="0" rtlCol="0" anchor="t"/>
                <a:lstStyle/>
                <a:p>
                  <a:pPr marL="0" indent="0">
                    <a:buNone/>
                  </a:pPr>
                  <a:r>
                    <a:rPr lang="en-US" sz="1100" b="1" dirty="0">
                      <a:solidFill>
                        <a:srgbClr val="085041"/>
                      </a:solidFill>
                    </a:rPr>
                    <a:t>Powers SpecSentinel to:</a:t>
                  </a:r>
                  <a:endParaRPr lang="en-US" sz="1100" dirty="0"/>
                </a:p>
              </p:txBody>
            </p:sp>
            <p:sp>
              <p:nvSpPr>
                <p:cNvPr id="63" name="Text 48">
                  <a:extLst>
                    <a:ext uri="{FF2B5EF4-FFF2-40B4-BE49-F238E27FC236}">
                      <a16:creationId xmlns:a16="http://schemas.microsoft.com/office/drawing/2014/main" id="{70AE15D0-8046-5322-3CF9-06EA5B7429FC}"/>
                    </a:ext>
                  </a:extLst>
                </p:cNvPr>
                <p:cNvSpPr/>
                <p:nvPr/>
              </p:nvSpPr>
              <p:spPr>
                <a:xfrm>
                  <a:off x="6327491" y="5241404"/>
                  <a:ext cx="2880360" cy="164592"/>
                </a:xfrm>
                <a:prstGeom prst="rect">
                  <a:avLst/>
                </a:prstGeom>
                <a:noFill/>
                <a:ln/>
              </p:spPr>
              <p:txBody>
                <a:bodyPr wrap="square" lIns="0" tIns="0" rIns="0" bIns="0" rtlCol="0" anchor="t"/>
                <a:lstStyle/>
                <a:p>
                  <a:pPr marL="0" indent="0">
                    <a:buNone/>
                  </a:pPr>
                  <a:r>
                    <a:rPr lang="en-US" sz="1050" dirty="0">
                      <a:solidFill>
                        <a:srgbClr val="0F6E56"/>
                      </a:solidFill>
                    </a:rPr>
                    <a:t>· Dynamically plan validation rules</a:t>
                  </a:r>
                  <a:endParaRPr lang="en-US" sz="1050" dirty="0"/>
                </a:p>
              </p:txBody>
            </p:sp>
            <p:sp>
              <p:nvSpPr>
                <p:cNvPr id="64" name="Text 49">
                  <a:extLst>
                    <a:ext uri="{FF2B5EF4-FFF2-40B4-BE49-F238E27FC236}">
                      <a16:creationId xmlns:a16="http://schemas.microsoft.com/office/drawing/2014/main" id="{16AD07EE-EC26-3AC2-5380-82D6A6EBB6DE}"/>
                    </a:ext>
                  </a:extLst>
                </p:cNvPr>
                <p:cNvSpPr/>
                <p:nvPr/>
              </p:nvSpPr>
              <p:spPr>
                <a:xfrm>
                  <a:off x="6327491" y="5405996"/>
                  <a:ext cx="2880360" cy="164592"/>
                </a:xfrm>
                <a:prstGeom prst="rect">
                  <a:avLst/>
                </a:prstGeom>
                <a:noFill/>
                <a:ln/>
              </p:spPr>
              <p:txBody>
                <a:bodyPr wrap="square" lIns="0" tIns="0" rIns="0" bIns="0" rtlCol="0" anchor="t"/>
                <a:lstStyle/>
                <a:p>
                  <a:pPr marL="0" indent="0">
                    <a:buNone/>
                  </a:pPr>
                  <a:r>
                    <a:rPr lang="en-US" sz="1050" dirty="0">
                      <a:solidFill>
                        <a:srgbClr val="0F6E56"/>
                      </a:solidFill>
                    </a:rPr>
                    <a:t>· Reason over spec findings &amp; risks</a:t>
                  </a:r>
                  <a:endParaRPr lang="en-US" sz="1050" dirty="0"/>
                </a:p>
              </p:txBody>
            </p:sp>
            <p:sp>
              <p:nvSpPr>
                <p:cNvPr id="65" name="Text 50">
                  <a:extLst>
                    <a:ext uri="{FF2B5EF4-FFF2-40B4-BE49-F238E27FC236}">
                      <a16:creationId xmlns:a16="http://schemas.microsoft.com/office/drawing/2014/main" id="{8E0A92E5-918C-3826-413E-D5915664F075}"/>
                    </a:ext>
                  </a:extLst>
                </p:cNvPr>
                <p:cNvSpPr/>
                <p:nvPr/>
              </p:nvSpPr>
              <p:spPr>
                <a:xfrm>
                  <a:off x="6327491" y="5570588"/>
                  <a:ext cx="2880360" cy="164592"/>
                </a:xfrm>
                <a:prstGeom prst="rect">
                  <a:avLst/>
                </a:prstGeom>
                <a:noFill/>
                <a:ln/>
              </p:spPr>
              <p:txBody>
                <a:bodyPr wrap="square" lIns="0" tIns="0" rIns="0" bIns="0" rtlCol="0" anchor="t"/>
                <a:lstStyle/>
                <a:p>
                  <a:pPr marL="0" indent="0">
                    <a:buNone/>
                  </a:pPr>
                  <a:r>
                    <a:rPr lang="en-US" sz="1050" dirty="0">
                      <a:solidFill>
                        <a:srgbClr val="0F6E56"/>
                      </a:solidFill>
                    </a:rPr>
                    <a:t>· Generate fix-ready YAML guidance</a:t>
                  </a:r>
                  <a:endParaRPr lang="en-US" sz="1050" dirty="0"/>
                </a:p>
              </p:txBody>
            </p:sp>
            <p:sp>
              <p:nvSpPr>
                <p:cNvPr id="66" name="Text 51">
                  <a:extLst>
                    <a:ext uri="{FF2B5EF4-FFF2-40B4-BE49-F238E27FC236}">
                      <a16:creationId xmlns:a16="http://schemas.microsoft.com/office/drawing/2014/main" id="{B67E1444-E1E1-49D8-9F3D-A6885118C60A}"/>
                    </a:ext>
                  </a:extLst>
                </p:cNvPr>
                <p:cNvSpPr/>
                <p:nvPr/>
              </p:nvSpPr>
              <p:spPr>
                <a:xfrm>
                  <a:off x="6327491" y="5735180"/>
                  <a:ext cx="2880360" cy="164592"/>
                </a:xfrm>
                <a:prstGeom prst="rect">
                  <a:avLst/>
                </a:prstGeom>
                <a:noFill/>
                <a:ln/>
              </p:spPr>
              <p:txBody>
                <a:bodyPr wrap="square" lIns="0" tIns="0" rIns="0" bIns="0" rtlCol="0" anchor="t"/>
                <a:lstStyle/>
                <a:p>
                  <a:pPr marL="0" indent="0">
                    <a:buNone/>
                  </a:pPr>
                  <a:r>
                    <a:rPr lang="en-US" sz="1050" dirty="0">
                      <a:solidFill>
                        <a:srgbClr val="0F6E56"/>
                      </a:solidFill>
                    </a:rPr>
                    <a:t>· Score &amp; project maturity improvements</a:t>
                  </a:r>
                  <a:endParaRPr lang="en-US" sz="1050" dirty="0"/>
                </a:p>
              </p:txBody>
            </p:sp>
          </p:grpSp>
          <p:sp>
            <p:nvSpPr>
              <p:cNvPr id="58" name="Text 43">
                <a:extLst>
                  <a:ext uri="{FF2B5EF4-FFF2-40B4-BE49-F238E27FC236}">
                    <a16:creationId xmlns:a16="http://schemas.microsoft.com/office/drawing/2014/main" id="{A1362B61-74E5-9E59-E5E7-8334F5F141DE}"/>
                  </a:ext>
                </a:extLst>
              </p:cNvPr>
              <p:cNvSpPr/>
              <p:nvPr/>
            </p:nvSpPr>
            <p:spPr>
              <a:xfrm>
                <a:off x="8055707" y="4071009"/>
                <a:ext cx="566928" cy="530352"/>
              </a:xfrm>
              <a:prstGeom prst="rect">
                <a:avLst/>
              </a:prstGeom>
              <a:noFill/>
              <a:ln/>
            </p:spPr>
            <p:txBody>
              <a:bodyPr wrap="square" lIns="0" tIns="0" rIns="0" bIns="0" rtlCol="0" anchor="ctr"/>
              <a:lstStyle/>
              <a:p>
                <a:pPr marL="0" indent="0" algn="ctr">
                  <a:buNone/>
                </a:pPr>
                <a:r>
                  <a:rPr lang="en-US" sz="1000" b="1" dirty="0">
                    <a:solidFill>
                      <a:srgbClr val="085041"/>
                    </a:solidFill>
                  </a:rPr>
                  <a:t>WX.ai</a:t>
                </a:r>
                <a:endParaRPr lang="en-US" sz="1000" dirty="0"/>
              </a:p>
            </p:txBody>
          </p:sp>
        </p:grpSp>
        <p:sp>
          <p:nvSpPr>
            <p:cNvPr id="61" name="Shape 46">
              <a:extLst>
                <a:ext uri="{FF2B5EF4-FFF2-40B4-BE49-F238E27FC236}">
                  <a16:creationId xmlns:a16="http://schemas.microsoft.com/office/drawing/2014/main" id="{12252C6C-AD32-BBFD-DF60-72CB30BFA163}"/>
                </a:ext>
              </a:extLst>
            </p:cNvPr>
            <p:cNvSpPr/>
            <p:nvPr/>
          </p:nvSpPr>
          <p:spPr>
            <a:xfrm>
              <a:off x="6370987" y="4599689"/>
              <a:ext cx="4755114" cy="0"/>
            </a:xfrm>
            <a:prstGeom prst="line">
              <a:avLst/>
            </a:prstGeom>
            <a:noFill/>
            <a:ln w="6350">
              <a:solidFill>
                <a:srgbClr val="5DCAA5"/>
              </a:solidFill>
              <a:prstDash val="dash"/>
            </a:ln>
          </p:spPr>
          <p:txBody>
            <a:bodyPr/>
            <a:lstStyle/>
            <a:p>
              <a:endParaRPr lang="en-US"/>
            </a:p>
          </p:txBody>
        </p:sp>
      </p:grpSp>
    </p:spTree>
    <p:extLst>
      <p:ext uri="{BB962C8B-B14F-4D97-AF65-F5344CB8AC3E}">
        <p14:creationId xmlns:p14="http://schemas.microsoft.com/office/powerpoint/2010/main" val="3944011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1727D-8FA3-8669-D978-0D832B2B4B3B}"/>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E9B31BCC-7624-937B-3345-ADF590857DF1}"/>
              </a:ext>
            </a:extLst>
          </p:cNvPr>
          <p:cNvSpPr/>
          <p:nvPr/>
        </p:nvSpPr>
        <p:spPr>
          <a:xfrm>
            <a:off x="0" y="0"/>
            <a:ext cx="12191695" cy="114300"/>
          </a:xfrm>
          <a:prstGeom prst="rect">
            <a:avLst/>
          </a:prstGeom>
          <a:solidFill>
            <a:srgbClr val="0F62FE"/>
          </a:solidFill>
          <a:ln/>
        </p:spPr>
        <p:txBody>
          <a:bodyPr/>
          <a:lstStyle/>
          <a:p>
            <a:endParaRPr lang="en-IN"/>
          </a:p>
        </p:txBody>
      </p:sp>
      <p:sp>
        <p:nvSpPr>
          <p:cNvPr id="5" name="Shape 3">
            <a:extLst>
              <a:ext uri="{FF2B5EF4-FFF2-40B4-BE49-F238E27FC236}">
                <a16:creationId xmlns:a16="http://schemas.microsoft.com/office/drawing/2014/main" id="{B4AD85F0-4DD0-11BD-CE10-22402D626E3B}"/>
              </a:ext>
            </a:extLst>
          </p:cNvPr>
          <p:cNvSpPr/>
          <p:nvPr/>
        </p:nvSpPr>
        <p:spPr>
          <a:xfrm>
            <a:off x="0" y="1172261"/>
            <a:ext cx="12191695" cy="9144"/>
          </a:xfrm>
          <a:prstGeom prst="rect">
            <a:avLst/>
          </a:prstGeom>
          <a:solidFill>
            <a:srgbClr val="E0E0E0"/>
          </a:solidFill>
          <a:ln/>
        </p:spPr>
        <p:txBody>
          <a:bodyPr/>
          <a:lstStyle/>
          <a:p>
            <a:endParaRPr lang="en-IN"/>
          </a:p>
        </p:txBody>
      </p:sp>
      <p:sp>
        <p:nvSpPr>
          <p:cNvPr id="6" name="Text 4">
            <a:extLst>
              <a:ext uri="{FF2B5EF4-FFF2-40B4-BE49-F238E27FC236}">
                <a16:creationId xmlns:a16="http://schemas.microsoft.com/office/drawing/2014/main" id="{E8DF867E-13E6-EFD8-CF85-875C3F4BAC7D}"/>
              </a:ext>
            </a:extLst>
          </p:cNvPr>
          <p:cNvSpPr txBox="1"/>
          <p:nvPr/>
        </p:nvSpPr>
        <p:spPr>
          <a:xfrm>
            <a:off x="571500" y="466344"/>
            <a:ext cx="6165202" cy="523951"/>
          </a:xfrm>
          <a:prstGeom prst="rect">
            <a:avLst/>
          </a:prstGeom>
          <a:noFill/>
          <a:ln/>
        </p:spPr>
        <p:txBody>
          <a:bodyPr wrap="square" lIns="0" tIns="0" rIns="0" bIns="0" rtlCol="0" anchor="ctr"/>
          <a:lstStyle/>
          <a:p>
            <a:pPr>
              <a:lnSpc>
                <a:spcPct val="90000"/>
              </a:lnSpc>
              <a:spcBef>
                <a:spcPct val="0"/>
              </a:spcBef>
              <a:spcAft>
                <a:spcPts val="600"/>
              </a:spcAft>
            </a:pPr>
            <a:r>
              <a:rPr lang="en-US" sz="3200" dirty="0"/>
              <a:t>MVP Implementation Scope</a:t>
            </a:r>
          </a:p>
        </p:txBody>
      </p:sp>
      <p:sp>
        <p:nvSpPr>
          <p:cNvPr id="8" name="Shape 6">
            <a:extLst>
              <a:ext uri="{FF2B5EF4-FFF2-40B4-BE49-F238E27FC236}">
                <a16:creationId xmlns:a16="http://schemas.microsoft.com/office/drawing/2014/main" id="{7EAB266D-D741-FD40-45C2-5B95DD75B108}"/>
              </a:ext>
            </a:extLst>
          </p:cNvPr>
          <p:cNvSpPr/>
          <p:nvPr/>
        </p:nvSpPr>
        <p:spPr>
          <a:xfrm>
            <a:off x="0" y="6372454"/>
            <a:ext cx="12191695" cy="485546"/>
          </a:xfrm>
          <a:prstGeom prst="rect">
            <a:avLst/>
          </a:prstGeom>
          <a:solidFill>
            <a:srgbClr val="FFFFFF"/>
          </a:solidFill>
          <a:ln/>
        </p:spPr>
        <p:txBody>
          <a:bodyPr/>
          <a:lstStyle/>
          <a:p>
            <a:endParaRPr lang="en-IN"/>
          </a:p>
        </p:txBody>
      </p:sp>
      <p:sp>
        <p:nvSpPr>
          <p:cNvPr id="9" name="Shape 7">
            <a:extLst>
              <a:ext uri="{FF2B5EF4-FFF2-40B4-BE49-F238E27FC236}">
                <a16:creationId xmlns:a16="http://schemas.microsoft.com/office/drawing/2014/main" id="{1FA20091-A580-18E6-1392-EA98861D1AD9}"/>
              </a:ext>
            </a:extLst>
          </p:cNvPr>
          <p:cNvSpPr/>
          <p:nvPr/>
        </p:nvSpPr>
        <p:spPr>
          <a:xfrm>
            <a:off x="0" y="6372454"/>
            <a:ext cx="12191695" cy="9144"/>
          </a:xfrm>
          <a:prstGeom prst="rect">
            <a:avLst/>
          </a:prstGeom>
          <a:solidFill>
            <a:srgbClr val="E0E0E0"/>
          </a:solidFill>
          <a:ln/>
        </p:spPr>
        <p:txBody>
          <a:bodyPr/>
          <a:lstStyle/>
          <a:p>
            <a:endParaRPr lang="en-IN"/>
          </a:p>
        </p:txBody>
      </p:sp>
      <p:sp>
        <p:nvSpPr>
          <p:cNvPr id="10" name="Text 8">
            <a:extLst>
              <a:ext uri="{FF2B5EF4-FFF2-40B4-BE49-F238E27FC236}">
                <a16:creationId xmlns:a16="http://schemas.microsoft.com/office/drawing/2014/main" id="{00497C5A-FF39-8A85-CE54-AC79EE0D1A80}"/>
              </a:ext>
            </a:extLst>
          </p:cNvPr>
          <p:cNvSpPr txBox="1"/>
          <p:nvPr/>
        </p:nvSpPr>
        <p:spPr>
          <a:xfrm>
            <a:off x="571500" y="6543446"/>
            <a:ext cx="1828800"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COE Automation Hackathon 2026</a:t>
            </a:r>
            <a:endParaRPr lang="en-US" sz="900" dirty="0"/>
          </a:p>
        </p:txBody>
      </p:sp>
      <p:sp>
        <p:nvSpPr>
          <p:cNvPr id="11" name="Text 9">
            <a:extLst>
              <a:ext uri="{FF2B5EF4-FFF2-40B4-BE49-F238E27FC236}">
                <a16:creationId xmlns:a16="http://schemas.microsoft.com/office/drawing/2014/main" id="{BA6786AD-0CE2-E132-8A07-A09DA6E1E4B5}"/>
              </a:ext>
            </a:extLst>
          </p:cNvPr>
          <p:cNvSpPr txBox="1"/>
          <p:nvPr/>
        </p:nvSpPr>
        <p:spPr>
          <a:xfrm>
            <a:off x="10006279" y="6543446"/>
            <a:ext cx="1705356"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Confidential - Internal Use Only</a:t>
            </a:r>
            <a:endParaRPr lang="en-US" sz="900" dirty="0"/>
          </a:p>
        </p:txBody>
      </p:sp>
      <p:sp>
        <p:nvSpPr>
          <p:cNvPr id="23" name="Text 18">
            <a:extLst>
              <a:ext uri="{FF2B5EF4-FFF2-40B4-BE49-F238E27FC236}">
                <a16:creationId xmlns:a16="http://schemas.microsoft.com/office/drawing/2014/main" id="{7721F2C2-6394-0B44-AD87-30F1232E8C86}"/>
              </a:ext>
            </a:extLst>
          </p:cNvPr>
          <p:cNvSpPr/>
          <p:nvPr/>
        </p:nvSpPr>
        <p:spPr>
          <a:xfrm>
            <a:off x="3391408" y="1352296"/>
            <a:ext cx="603504"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b="1" dirty="0">
                <a:solidFill>
                  <a:srgbClr val="FFFFFF"/>
                </a:solidFill>
              </a:rPr>
              <a:t>Categorize</a:t>
            </a:r>
            <a:endParaRPr lang="en-US" sz="800" dirty="0"/>
          </a:p>
        </p:txBody>
      </p:sp>
      <p:sp>
        <p:nvSpPr>
          <p:cNvPr id="26" name="Text 21">
            <a:extLst>
              <a:ext uri="{FF2B5EF4-FFF2-40B4-BE49-F238E27FC236}">
                <a16:creationId xmlns:a16="http://schemas.microsoft.com/office/drawing/2014/main" id="{BB128746-3F3D-C0C5-45C5-A57D9038B756}"/>
              </a:ext>
            </a:extLst>
          </p:cNvPr>
          <p:cNvSpPr/>
          <p:nvPr/>
        </p:nvSpPr>
        <p:spPr>
          <a:xfrm>
            <a:off x="4053332" y="1345184"/>
            <a:ext cx="603504"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b="1" dirty="0">
                <a:solidFill>
                  <a:srgbClr val="FFFFFF"/>
                </a:solidFill>
              </a:rPr>
              <a:t>Recommend</a:t>
            </a:r>
            <a:endParaRPr lang="en-US" sz="800" dirty="0"/>
          </a:p>
        </p:txBody>
      </p:sp>
      <p:sp>
        <p:nvSpPr>
          <p:cNvPr id="36" name="Text 31">
            <a:extLst>
              <a:ext uri="{FF2B5EF4-FFF2-40B4-BE49-F238E27FC236}">
                <a16:creationId xmlns:a16="http://schemas.microsoft.com/office/drawing/2014/main" id="{EC2A40C6-2F80-E857-0B1A-65096045BBDF}"/>
              </a:ext>
            </a:extLst>
          </p:cNvPr>
          <p:cNvSpPr/>
          <p:nvPr/>
        </p:nvSpPr>
        <p:spPr>
          <a:xfrm>
            <a:off x="1821180" y="2231136"/>
            <a:ext cx="114300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b="1" dirty="0">
                <a:solidFill>
                  <a:srgbClr val="FFFFFF"/>
                </a:solidFill>
              </a:rPr>
              <a:t>Key features</a:t>
            </a:r>
            <a:endParaRPr lang="en-US" sz="800" dirty="0"/>
          </a:p>
        </p:txBody>
      </p:sp>
      <p:grpSp>
        <p:nvGrpSpPr>
          <p:cNvPr id="120" name="Group 119">
            <a:extLst>
              <a:ext uri="{FF2B5EF4-FFF2-40B4-BE49-F238E27FC236}">
                <a16:creationId xmlns:a16="http://schemas.microsoft.com/office/drawing/2014/main" id="{6B8E3A08-4C8D-9AE6-F400-DE51832D58CD}"/>
              </a:ext>
            </a:extLst>
          </p:cNvPr>
          <p:cNvGrpSpPr/>
          <p:nvPr/>
        </p:nvGrpSpPr>
        <p:grpSpPr>
          <a:xfrm>
            <a:off x="5280515" y="2637967"/>
            <a:ext cx="3361209" cy="1024128"/>
            <a:chOff x="4628388" y="2450592"/>
            <a:chExt cx="2651760" cy="1024128"/>
          </a:xfrm>
        </p:grpSpPr>
        <p:sp>
          <p:nvSpPr>
            <p:cNvPr id="43" name="Shape 38">
              <a:extLst>
                <a:ext uri="{FF2B5EF4-FFF2-40B4-BE49-F238E27FC236}">
                  <a16:creationId xmlns:a16="http://schemas.microsoft.com/office/drawing/2014/main" id="{C809FE88-8B66-30F9-D253-C8B56D744C79}"/>
                </a:ext>
              </a:extLst>
            </p:cNvPr>
            <p:cNvSpPr/>
            <p:nvPr/>
          </p:nvSpPr>
          <p:spPr>
            <a:xfrm>
              <a:off x="4628388" y="2450592"/>
              <a:ext cx="2651760" cy="1024128"/>
            </a:xfrm>
            <a:prstGeom prst="rect">
              <a:avLst/>
            </a:prstGeom>
            <a:solidFill>
              <a:srgbClr val="E1F5EE"/>
            </a:solidFill>
            <a:ln w="9525">
              <a:solidFill>
                <a:srgbClr val="1D9E75"/>
              </a:solidFill>
              <a:prstDash val="solid"/>
            </a:ln>
          </p:spPr>
          <p:txBody>
            <a:bodyPr/>
            <a:lstStyle/>
            <a:p>
              <a:endParaRPr lang="en-US"/>
            </a:p>
          </p:txBody>
        </p:sp>
        <p:sp>
          <p:nvSpPr>
            <p:cNvPr id="44" name="Shape 39">
              <a:extLst>
                <a:ext uri="{FF2B5EF4-FFF2-40B4-BE49-F238E27FC236}">
                  <a16:creationId xmlns:a16="http://schemas.microsoft.com/office/drawing/2014/main" id="{5918BDDD-028E-75BF-F41D-7361785D1B60}"/>
                </a:ext>
              </a:extLst>
            </p:cNvPr>
            <p:cNvSpPr/>
            <p:nvPr/>
          </p:nvSpPr>
          <p:spPr>
            <a:xfrm>
              <a:off x="4628388" y="2450592"/>
              <a:ext cx="73152" cy="1024128"/>
            </a:xfrm>
            <a:prstGeom prst="rect">
              <a:avLst/>
            </a:prstGeom>
            <a:solidFill>
              <a:srgbClr val="1D9E75"/>
            </a:solidFill>
            <a:ln w="12700">
              <a:solidFill>
                <a:srgbClr val="1D9E75"/>
              </a:solidFill>
              <a:prstDash val="solid"/>
            </a:ln>
          </p:spPr>
          <p:txBody>
            <a:bodyPr/>
            <a:lstStyle/>
            <a:p>
              <a:endParaRPr lang="en-US"/>
            </a:p>
          </p:txBody>
        </p:sp>
        <p:sp>
          <p:nvSpPr>
            <p:cNvPr id="45" name="Shape 40">
              <a:extLst>
                <a:ext uri="{FF2B5EF4-FFF2-40B4-BE49-F238E27FC236}">
                  <a16:creationId xmlns:a16="http://schemas.microsoft.com/office/drawing/2014/main" id="{40913729-D5E4-2CE1-84F5-2D1BB641294B}"/>
                </a:ext>
              </a:extLst>
            </p:cNvPr>
            <p:cNvSpPr/>
            <p:nvPr/>
          </p:nvSpPr>
          <p:spPr>
            <a:xfrm>
              <a:off x="4792980" y="2615184"/>
              <a:ext cx="420624" cy="420624"/>
            </a:xfrm>
            <a:prstGeom prst="ellipse">
              <a:avLst/>
            </a:prstGeom>
            <a:solidFill>
              <a:srgbClr val="1D9E75"/>
            </a:solidFill>
            <a:ln w="12700">
              <a:solidFill>
                <a:srgbClr val="1D9E75"/>
              </a:solidFill>
              <a:prstDash val="solid"/>
            </a:ln>
          </p:spPr>
          <p:txBody>
            <a:bodyPr/>
            <a:lstStyle/>
            <a:p>
              <a:endParaRPr lang="en-US"/>
            </a:p>
          </p:txBody>
        </p:sp>
        <p:sp>
          <p:nvSpPr>
            <p:cNvPr id="46" name="Text 41">
              <a:extLst>
                <a:ext uri="{FF2B5EF4-FFF2-40B4-BE49-F238E27FC236}">
                  <a16:creationId xmlns:a16="http://schemas.microsoft.com/office/drawing/2014/main" id="{95EADC7B-C018-3D76-3105-0C95F2E217F5}"/>
                </a:ext>
              </a:extLst>
            </p:cNvPr>
            <p:cNvSpPr/>
            <p:nvPr/>
          </p:nvSpPr>
          <p:spPr>
            <a:xfrm>
              <a:off x="4792980" y="2615184"/>
              <a:ext cx="420624" cy="42062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FFFFFF"/>
                  </a:solidFill>
                </a:rPr>
                <a:t>◈</a:t>
              </a:r>
              <a:endParaRPr lang="en-US" sz="1400" dirty="0"/>
            </a:p>
          </p:txBody>
        </p:sp>
        <p:sp>
          <p:nvSpPr>
            <p:cNvPr id="47" name="Text 42">
              <a:extLst>
                <a:ext uri="{FF2B5EF4-FFF2-40B4-BE49-F238E27FC236}">
                  <a16:creationId xmlns:a16="http://schemas.microsoft.com/office/drawing/2014/main" id="{53E54155-E985-7B38-7FCE-408955988832}"/>
                </a:ext>
              </a:extLst>
            </p:cNvPr>
            <p:cNvSpPr/>
            <p:nvPr/>
          </p:nvSpPr>
          <p:spPr>
            <a:xfrm>
              <a:off x="5286756" y="2542032"/>
              <a:ext cx="1901952"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85041"/>
                  </a:solidFill>
                </a:rPr>
                <a:t>API design checks</a:t>
              </a:r>
              <a:endParaRPr lang="en-US" sz="1100" dirty="0"/>
            </a:p>
          </p:txBody>
        </p:sp>
        <p:sp>
          <p:nvSpPr>
            <p:cNvPr id="48" name="Text 43">
              <a:extLst>
                <a:ext uri="{FF2B5EF4-FFF2-40B4-BE49-F238E27FC236}">
                  <a16:creationId xmlns:a16="http://schemas.microsoft.com/office/drawing/2014/main" id="{8C03B21C-7CED-C16D-46A1-83CE9E2C9F2A}"/>
                </a:ext>
              </a:extLst>
            </p:cNvPr>
            <p:cNvSpPr/>
            <p:nvPr/>
          </p:nvSpPr>
          <p:spPr>
            <a:xfrm>
              <a:off x="5286756" y="2798064"/>
              <a:ext cx="1901952" cy="60350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444441"/>
                  </a:solidFill>
                </a:rPr>
                <a:t>Validates REST method usage, versioning strategy, operationId presence, naming conventions and pagination.</a:t>
              </a:r>
              <a:endParaRPr lang="en-US" sz="1050" dirty="0"/>
            </a:p>
          </p:txBody>
        </p:sp>
      </p:grpSp>
      <p:grpSp>
        <p:nvGrpSpPr>
          <p:cNvPr id="109" name="Group 108">
            <a:extLst>
              <a:ext uri="{FF2B5EF4-FFF2-40B4-BE49-F238E27FC236}">
                <a16:creationId xmlns:a16="http://schemas.microsoft.com/office/drawing/2014/main" id="{4A9120B1-F3FA-5209-38F9-102F96029CA3}"/>
              </a:ext>
            </a:extLst>
          </p:cNvPr>
          <p:cNvGrpSpPr/>
          <p:nvPr/>
        </p:nvGrpSpPr>
        <p:grpSpPr>
          <a:xfrm>
            <a:off x="8785540" y="2618051"/>
            <a:ext cx="3059015" cy="1071387"/>
            <a:chOff x="1729740" y="3639312"/>
            <a:chExt cx="2733058" cy="1024128"/>
          </a:xfrm>
        </p:grpSpPr>
        <p:sp>
          <p:nvSpPr>
            <p:cNvPr id="57" name="Shape 51">
              <a:extLst>
                <a:ext uri="{FF2B5EF4-FFF2-40B4-BE49-F238E27FC236}">
                  <a16:creationId xmlns:a16="http://schemas.microsoft.com/office/drawing/2014/main" id="{06CEC862-1D61-A585-D8DA-C9435F7F89ED}"/>
                </a:ext>
              </a:extLst>
            </p:cNvPr>
            <p:cNvSpPr/>
            <p:nvPr/>
          </p:nvSpPr>
          <p:spPr>
            <a:xfrm>
              <a:off x="1729740" y="3639312"/>
              <a:ext cx="73152" cy="1024128"/>
            </a:xfrm>
            <a:prstGeom prst="rect">
              <a:avLst/>
            </a:prstGeom>
            <a:solidFill>
              <a:srgbClr val="BA7517"/>
            </a:solidFill>
            <a:ln w="12700">
              <a:solidFill>
                <a:srgbClr val="BA7517"/>
              </a:solidFill>
              <a:prstDash val="solid"/>
            </a:ln>
          </p:spPr>
          <p:txBody>
            <a:bodyPr/>
            <a:lstStyle/>
            <a:p>
              <a:endParaRPr lang="en-US"/>
            </a:p>
          </p:txBody>
        </p:sp>
        <p:grpSp>
          <p:nvGrpSpPr>
            <p:cNvPr id="101" name="Group 100">
              <a:extLst>
                <a:ext uri="{FF2B5EF4-FFF2-40B4-BE49-F238E27FC236}">
                  <a16:creationId xmlns:a16="http://schemas.microsoft.com/office/drawing/2014/main" id="{A759D337-6714-A500-CB66-96877F49271C}"/>
                </a:ext>
              </a:extLst>
            </p:cNvPr>
            <p:cNvGrpSpPr/>
            <p:nvPr/>
          </p:nvGrpSpPr>
          <p:grpSpPr>
            <a:xfrm>
              <a:off x="1811038" y="3639312"/>
              <a:ext cx="2651760" cy="1024128"/>
              <a:chOff x="1729740" y="3639312"/>
              <a:chExt cx="2651760" cy="1024128"/>
            </a:xfrm>
          </p:grpSpPr>
          <p:sp>
            <p:nvSpPr>
              <p:cNvPr id="56" name="Shape 50">
                <a:extLst>
                  <a:ext uri="{FF2B5EF4-FFF2-40B4-BE49-F238E27FC236}">
                    <a16:creationId xmlns:a16="http://schemas.microsoft.com/office/drawing/2014/main" id="{ECCD23BA-B94C-CC3F-D955-EC19C9197934}"/>
                  </a:ext>
                </a:extLst>
              </p:cNvPr>
              <p:cNvSpPr/>
              <p:nvPr/>
            </p:nvSpPr>
            <p:spPr>
              <a:xfrm>
                <a:off x="1729740" y="3639312"/>
                <a:ext cx="2651760" cy="1024128"/>
              </a:xfrm>
              <a:prstGeom prst="rect">
                <a:avLst/>
              </a:prstGeom>
              <a:solidFill>
                <a:srgbClr val="FAEEDA"/>
              </a:solidFill>
              <a:ln w="9525">
                <a:solidFill>
                  <a:srgbClr val="BA7517"/>
                </a:solidFill>
                <a:prstDash val="solid"/>
              </a:ln>
            </p:spPr>
            <p:txBody>
              <a:bodyPr/>
              <a:lstStyle/>
              <a:p>
                <a:endParaRPr lang="en-US"/>
              </a:p>
            </p:txBody>
          </p:sp>
          <p:sp>
            <p:nvSpPr>
              <p:cNvPr id="58" name="Shape 52">
                <a:extLst>
                  <a:ext uri="{FF2B5EF4-FFF2-40B4-BE49-F238E27FC236}">
                    <a16:creationId xmlns:a16="http://schemas.microsoft.com/office/drawing/2014/main" id="{5309F580-007E-E79F-21D1-3C2CF69552F2}"/>
                  </a:ext>
                </a:extLst>
              </p:cNvPr>
              <p:cNvSpPr/>
              <p:nvPr/>
            </p:nvSpPr>
            <p:spPr>
              <a:xfrm>
                <a:off x="1894332" y="3803904"/>
                <a:ext cx="420624" cy="420624"/>
              </a:xfrm>
              <a:prstGeom prst="ellipse">
                <a:avLst/>
              </a:prstGeom>
              <a:solidFill>
                <a:srgbClr val="BA7517"/>
              </a:solidFill>
              <a:ln w="12700">
                <a:solidFill>
                  <a:srgbClr val="BA7517"/>
                </a:solidFill>
                <a:prstDash val="solid"/>
              </a:ln>
            </p:spPr>
            <p:txBody>
              <a:bodyPr/>
              <a:lstStyle/>
              <a:p>
                <a:endParaRPr lang="en-US"/>
              </a:p>
            </p:txBody>
          </p:sp>
          <p:sp>
            <p:nvSpPr>
              <p:cNvPr id="59" name="Text 53">
                <a:extLst>
                  <a:ext uri="{FF2B5EF4-FFF2-40B4-BE49-F238E27FC236}">
                    <a16:creationId xmlns:a16="http://schemas.microsoft.com/office/drawing/2014/main" id="{69528C42-DF0C-0140-F254-1C9720D1D8D2}"/>
                  </a:ext>
                </a:extLst>
              </p:cNvPr>
              <p:cNvSpPr/>
              <p:nvPr/>
            </p:nvSpPr>
            <p:spPr>
              <a:xfrm>
                <a:off x="1894332" y="3803904"/>
                <a:ext cx="420624" cy="42062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FFFFFF"/>
                    </a:solidFill>
                  </a:rPr>
                  <a:t>▲</a:t>
                </a:r>
                <a:endParaRPr lang="en-US" sz="1400" dirty="0"/>
              </a:p>
            </p:txBody>
          </p:sp>
          <p:sp>
            <p:nvSpPr>
              <p:cNvPr id="60" name="Text 54">
                <a:extLst>
                  <a:ext uri="{FF2B5EF4-FFF2-40B4-BE49-F238E27FC236}">
                    <a16:creationId xmlns:a16="http://schemas.microsoft.com/office/drawing/2014/main" id="{550982E5-C2A6-46E8-2912-CF0CB4E53AD7}"/>
                  </a:ext>
                </a:extLst>
              </p:cNvPr>
              <p:cNvSpPr/>
              <p:nvPr/>
            </p:nvSpPr>
            <p:spPr>
              <a:xfrm>
                <a:off x="2388108" y="3730752"/>
                <a:ext cx="1901952"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633806"/>
                    </a:solidFill>
                  </a:rPr>
                  <a:t>Threat classification</a:t>
                </a:r>
                <a:endParaRPr lang="en-US" sz="1100" dirty="0"/>
              </a:p>
            </p:txBody>
          </p:sp>
          <p:sp>
            <p:nvSpPr>
              <p:cNvPr id="61" name="Text 55">
                <a:extLst>
                  <a:ext uri="{FF2B5EF4-FFF2-40B4-BE49-F238E27FC236}">
                    <a16:creationId xmlns:a16="http://schemas.microsoft.com/office/drawing/2014/main" id="{2694D47F-FC27-59BC-A0E1-86D40529EA69}"/>
                  </a:ext>
                </a:extLst>
              </p:cNvPr>
              <p:cNvSpPr/>
              <p:nvPr/>
            </p:nvSpPr>
            <p:spPr>
              <a:xfrm>
                <a:off x="2388108" y="3986784"/>
                <a:ext cx="1901952" cy="60350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444441"/>
                    </a:solidFill>
                  </a:rPr>
                  <a:t>Every finding rated Critical / High / Medium / Low and mapped to Security, Design, Operational or Governance risk.</a:t>
                </a:r>
                <a:endParaRPr lang="en-US" sz="1050" dirty="0"/>
              </a:p>
            </p:txBody>
          </p:sp>
        </p:grpSp>
      </p:grpSp>
      <p:grpSp>
        <p:nvGrpSpPr>
          <p:cNvPr id="111" name="Group 110">
            <a:extLst>
              <a:ext uri="{FF2B5EF4-FFF2-40B4-BE49-F238E27FC236}">
                <a16:creationId xmlns:a16="http://schemas.microsoft.com/office/drawing/2014/main" id="{60AE0B0C-6639-BB0A-A652-3D103ABC7C0D}"/>
              </a:ext>
            </a:extLst>
          </p:cNvPr>
          <p:cNvGrpSpPr/>
          <p:nvPr/>
        </p:nvGrpSpPr>
        <p:grpSpPr>
          <a:xfrm>
            <a:off x="5297550" y="3816665"/>
            <a:ext cx="3332953" cy="1131269"/>
            <a:chOff x="7517892" y="3639312"/>
            <a:chExt cx="2734032" cy="1030893"/>
          </a:xfrm>
        </p:grpSpPr>
        <p:sp>
          <p:nvSpPr>
            <p:cNvPr id="68" name="Shape 62">
              <a:extLst>
                <a:ext uri="{FF2B5EF4-FFF2-40B4-BE49-F238E27FC236}">
                  <a16:creationId xmlns:a16="http://schemas.microsoft.com/office/drawing/2014/main" id="{B0B20914-E017-32B4-8105-44F63774175D}"/>
                </a:ext>
              </a:extLst>
            </p:cNvPr>
            <p:cNvSpPr/>
            <p:nvPr/>
          </p:nvSpPr>
          <p:spPr>
            <a:xfrm>
              <a:off x="7600164" y="3646077"/>
              <a:ext cx="2651760" cy="1024128"/>
            </a:xfrm>
            <a:prstGeom prst="rect">
              <a:avLst/>
            </a:prstGeom>
            <a:solidFill>
              <a:srgbClr val="E1F5EE"/>
            </a:solidFill>
            <a:ln w="9525">
              <a:solidFill>
                <a:srgbClr val="0F6E56"/>
              </a:solidFill>
              <a:prstDash val="solid"/>
            </a:ln>
          </p:spPr>
          <p:txBody>
            <a:bodyPr/>
            <a:lstStyle/>
            <a:p>
              <a:endParaRPr lang="en-US"/>
            </a:p>
          </p:txBody>
        </p:sp>
        <p:grpSp>
          <p:nvGrpSpPr>
            <p:cNvPr id="110" name="Group 109">
              <a:extLst>
                <a:ext uri="{FF2B5EF4-FFF2-40B4-BE49-F238E27FC236}">
                  <a16:creationId xmlns:a16="http://schemas.microsoft.com/office/drawing/2014/main" id="{FF2A6AE5-5D71-712E-FD85-7B1469BEB9C5}"/>
                </a:ext>
              </a:extLst>
            </p:cNvPr>
            <p:cNvGrpSpPr/>
            <p:nvPr/>
          </p:nvGrpSpPr>
          <p:grpSpPr>
            <a:xfrm>
              <a:off x="7517892" y="3639312"/>
              <a:ext cx="2586476" cy="1024128"/>
              <a:chOff x="7517892" y="3639312"/>
              <a:chExt cx="2586476" cy="1024128"/>
            </a:xfrm>
          </p:grpSpPr>
          <p:sp>
            <p:nvSpPr>
              <p:cNvPr id="69" name="Shape 63">
                <a:extLst>
                  <a:ext uri="{FF2B5EF4-FFF2-40B4-BE49-F238E27FC236}">
                    <a16:creationId xmlns:a16="http://schemas.microsoft.com/office/drawing/2014/main" id="{47B29A8C-B991-47DA-68FD-942ED9CC7C74}"/>
                  </a:ext>
                </a:extLst>
              </p:cNvPr>
              <p:cNvSpPr/>
              <p:nvPr/>
            </p:nvSpPr>
            <p:spPr>
              <a:xfrm>
                <a:off x="7517892" y="3639312"/>
                <a:ext cx="73152" cy="1024128"/>
              </a:xfrm>
              <a:prstGeom prst="rect">
                <a:avLst/>
              </a:prstGeom>
              <a:solidFill>
                <a:srgbClr val="0F6E56"/>
              </a:solidFill>
              <a:ln w="12700">
                <a:solidFill>
                  <a:srgbClr val="0F6E56"/>
                </a:solidFill>
                <a:prstDash val="solid"/>
              </a:ln>
            </p:spPr>
            <p:txBody>
              <a:bodyPr/>
              <a:lstStyle/>
              <a:p>
                <a:endParaRPr lang="en-US"/>
              </a:p>
            </p:txBody>
          </p:sp>
          <p:grpSp>
            <p:nvGrpSpPr>
              <p:cNvPr id="103" name="Group 102">
                <a:extLst>
                  <a:ext uri="{FF2B5EF4-FFF2-40B4-BE49-F238E27FC236}">
                    <a16:creationId xmlns:a16="http://schemas.microsoft.com/office/drawing/2014/main" id="{95E3348C-C68D-8DDD-A7E6-3ADE056C23AA}"/>
                  </a:ext>
                </a:extLst>
              </p:cNvPr>
              <p:cNvGrpSpPr/>
              <p:nvPr/>
            </p:nvGrpSpPr>
            <p:grpSpPr>
              <a:xfrm>
                <a:off x="7708640" y="3705494"/>
                <a:ext cx="2395728" cy="859536"/>
                <a:chOff x="7682484" y="3730752"/>
                <a:chExt cx="2395728" cy="859536"/>
              </a:xfrm>
            </p:grpSpPr>
            <p:sp>
              <p:nvSpPr>
                <p:cNvPr id="70" name="Shape 64">
                  <a:extLst>
                    <a:ext uri="{FF2B5EF4-FFF2-40B4-BE49-F238E27FC236}">
                      <a16:creationId xmlns:a16="http://schemas.microsoft.com/office/drawing/2014/main" id="{823FC286-9451-1D2B-67E1-67DCB3BDF502}"/>
                    </a:ext>
                  </a:extLst>
                </p:cNvPr>
                <p:cNvSpPr/>
                <p:nvPr/>
              </p:nvSpPr>
              <p:spPr>
                <a:xfrm>
                  <a:off x="7682484" y="3803904"/>
                  <a:ext cx="420624" cy="420624"/>
                </a:xfrm>
                <a:prstGeom prst="ellipse">
                  <a:avLst/>
                </a:prstGeom>
                <a:solidFill>
                  <a:srgbClr val="0F6E56"/>
                </a:solidFill>
                <a:ln w="12700">
                  <a:solidFill>
                    <a:srgbClr val="0F6E56"/>
                  </a:solidFill>
                  <a:prstDash val="solid"/>
                </a:ln>
              </p:spPr>
              <p:txBody>
                <a:bodyPr/>
                <a:lstStyle/>
                <a:p>
                  <a:r>
                    <a:rPr lang="en-US" dirty="0">
                      <a:solidFill>
                        <a:srgbClr val="FFFFFF"/>
                      </a:solidFill>
                    </a:rPr>
                    <a:t>≡</a:t>
                  </a:r>
                  <a:endParaRPr lang="en-US" dirty="0"/>
                </a:p>
              </p:txBody>
            </p:sp>
            <p:sp>
              <p:nvSpPr>
                <p:cNvPr id="72" name="Text 66">
                  <a:extLst>
                    <a:ext uri="{FF2B5EF4-FFF2-40B4-BE49-F238E27FC236}">
                      <a16:creationId xmlns:a16="http://schemas.microsoft.com/office/drawing/2014/main" id="{C2E814E3-69B1-7902-9AAD-C8DA5E0DC9C3}"/>
                    </a:ext>
                  </a:extLst>
                </p:cNvPr>
                <p:cNvSpPr/>
                <p:nvPr/>
              </p:nvSpPr>
              <p:spPr>
                <a:xfrm>
                  <a:off x="8176260" y="3730752"/>
                  <a:ext cx="1901952"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4342C"/>
                      </a:solidFill>
                    </a:rPr>
                    <a:t>Benchmark alignment</a:t>
                  </a:r>
                  <a:endParaRPr lang="en-US" sz="1100" dirty="0"/>
                </a:p>
              </p:txBody>
            </p:sp>
            <p:sp>
              <p:nvSpPr>
                <p:cNvPr id="73" name="Text 67">
                  <a:extLst>
                    <a:ext uri="{FF2B5EF4-FFF2-40B4-BE49-F238E27FC236}">
                      <a16:creationId xmlns:a16="http://schemas.microsoft.com/office/drawing/2014/main" id="{5E6801C6-A4BC-24BC-C9AC-30A3086E9E5E}"/>
                    </a:ext>
                  </a:extLst>
                </p:cNvPr>
                <p:cNvSpPr/>
                <p:nvPr/>
              </p:nvSpPr>
              <p:spPr>
                <a:xfrm>
                  <a:off x="8176260" y="3986784"/>
                  <a:ext cx="1901952" cy="60350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444441"/>
                      </a:solidFill>
                    </a:rPr>
                    <a:t>Maps findings to OWASP API Top 10, OpenAPI best practices and ISO governance. Shows compliance % per standard.</a:t>
                  </a:r>
                  <a:endParaRPr lang="en-US" sz="1050" dirty="0"/>
                </a:p>
              </p:txBody>
            </p:sp>
          </p:grpSp>
        </p:grpSp>
      </p:grpSp>
      <p:grpSp>
        <p:nvGrpSpPr>
          <p:cNvPr id="97" name="Group 96">
            <a:extLst>
              <a:ext uri="{FF2B5EF4-FFF2-40B4-BE49-F238E27FC236}">
                <a16:creationId xmlns:a16="http://schemas.microsoft.com/office/drawing/2014/main" id="{E83F89EC-22A2-95FC-153C-29E20602F04F}"/>
              </a:ext>
            </a:extLst>
          </p:cNvPr>
          <p:cNvGrpSpPr/>
          <p:nvPr/>
        </p:nvGrpSpPr>
        <p:grpSpPr>
          <a:xfrm>
            <a:off x="1631721" y="5168085"/>
            <a:ext cx="2976927" cy="750454"/>
            <a:chOff x="1729740" y="4828032"/>
            <a:chExt cx="2788920" cy="530352"/>
          </a:xfrm>
        </p:grpSpPr>
        <p:sp>
          <p:nvSpPr>
            <p:cNvPr id="76" name="Shape 70">
              <a:extLst>
                <a:ext uri="{FF2B5EF4-FFF2-40B4-BE49-F238E27FC236}">
                  <a16:creationId xmlns:a16="http://schemas.microsoft.com/office/drawing/2014/main" id="{920C2482-614F-7827-06CC-87B04113178D}"/>
                </a:ext>
              </a:extLst>
            </p:cNvPr>
            <p:cNvSpPr/>
            <p:nvPr/>
          </p:nvSpPr>
          <p:spPr>
            <a:xfrm>
              <a:off x="1729740" y="4828032"/>
              <a:ext cx="2788920" cy="530352"/>
            </a:xfrm>
            <a:prstGeom prst="rect">
              <a:avLst/>
            </a:prstGeom>
            <a:solidFill>
              <a:srgbClr val="EEEDFE"/>
            </a:solidFill>
            <a:ln w="9525">
              <a:solidFill>
                <a:srgbClr val="7F77DD"/>
              </a:solidFill>
              <a:prstDash val="solid"/>
            </a:ln>
          </p:spPr>
          <p:txBody>
            <a:bodyPr/>
            <a:lstStyle/>
            <a:p>
              <a:endParaRPr lang="en-US"/>
            </a:p>
          </p:txBody>
        </p:sp>
        <p:sp>
          <p:nvSpPr>
            <p:cNvPr id="77" name="Shape 71">
              <a:extLst>
                <a:ext uri="{FF2B5EF4-FFF2-40B4-BE49-F238E27FC236}">
                  <a16:creationId xmlns:a16="http://schemas.microsoft.com/office/drawing/2014/main" id="{3EBFB84E-6B90-57E5-2345-1318641A004D}"/>
                </a:ext>
              </a:extLst>
            </p:cNvPr>
            <p:cNvSpPr/>
            <p:nvPr/>
          </p:nvSpPr>
          <p:spPr>
            <a:xfrm>
              <a:off x="1848612" y="4919472"/>
              <a:ext cx="146304" cy="146304"/>
            </a:xfrm>
            <a:prstGeom prst="ellipse">
              <a:avLst/>
            </a:prstGeom>
            <a:solidFill>
              <a:srgbClr val="534AB7"/>
            </a:solidFill>
            <a:ln w="12700">
              <a:solidFill>
                <a:srgbClr val="534AB7"/>
              </a:solidFill>
              <a:prstDash val="solid"/>
            </a:ln>
          </p:spPr>
          <p:txBody>
            <a:bodyPr/>
            <a:lstStyle/>
            <a:p>
              <a:endParaRPr lang="en-US"/>
            </a:p>
          </p:txBody>
        </p:sp>
        <p:sp>
          <p:nvSpPr>
            <p:cNvPr id="78" name="Text 72">
              <a:extLst>
                <a:ext uri="{FF2B5EF4-FFF2-40B4-BE49-F238E27FC236}">
                  <a16:creationId xmlns:a16="http://schemas.microsoft.com/office/drawing/2014/main" id="{A66CF76E-2C62-3125-3D22-C883BB54E6B4}"/>
                </a:ext>
              </a:extLst>
            </p:cNvPr>
            <p:cNvSpPr/>
            <p:nvPr/>
          </p:nvSpPr>
          <p:spPr>
            <a:xfrm>
              <a:off x="2049780" y="4837176"/>
              <a:ext cx="242316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534AB7"/>
                  </a:solidFill>
                </a:rPr>
                <a:t>API developers &amp; architects</a:t>
              </a:r>
              <a:endParaRPr lang="en-US" sz="1100" dirty="0"/>
            </a:p>
          </p:txBody>
        </p:sp>
        <p:sp>
          <p:nvSpPr>
            <p:cNvPr id="79" name="Text 73">
              <a:extLst>
                <a:ext uri="{FF2B5EF4-FFF2-40B4-BE49-F238E27FC236}">
                  <a16:creationId xmlns:a16="http://schemas.microsoft.com/office/drawing/2014/main" id="{6910E3D0-5353-3588-7BD5-1DAF8AD29971}"/>
                </a:ext>
              </a:extLst>
            </p:cNvPr>
            <p:cNvSpPr/>
            <p:nvPr/>
          </p:nvSpPr>
          <p:spPr>
            <a:xfrm>
              <a:off x="2049780" y="5038344"/>
              <a:ext cx="2423160" cy="29260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444441"/>
                  </a:solidFill>
                </a:rPr>
                <a:t>Get instant spec feedback and fix-ready YAML before code ships to production</a:t>
              </a:r>
              <a:endParaRPr lang="en-US" sz="1050" dirty="0"/>
            </a:p>
          </p:txBody>
        </p:sp>
      </p:grpSp>
      <p:grpSp>
        <p:nvGrpSpPr>
          <p:cNvPr id="98" name="Group 97">
            <a:extLst>
              <a:ext uri="{FF2B5EF4-FFF2-40B4-BE49-F238E27FC236}">
                <a16:creationId xmlns:a16="http://schemas.microsoft.com/office/drawing/2014/main" id="{E28D15B2-CBA5-1BF8-83F8-6A1F186555CB}"/>
              </a:ext>
            </a:extLst>
          </p:cNvPr>
          <p:cNvGrpSpPr/>
          <p:nvPr/>
        </p:nvGrpSpPr>
        <p:grpSpPr>
          <a:xfrm>
            <a:off x="4970079" y="5182269"/>
            <a:ext cx="3145220" cy="746184"/>
            <a:chOff x="4701540" y="4828032"/>
            <a:chExt cx="2788920" cy="530352"/>
          </a:xfrm>
        </p:grpSpPr>
        <p:sp>
          <p:nvSpPr>
            <p:cNvPr id="80" name="Shape 74">
              <a:extLst>
                <a:ext uri="{FF2B5EF4-FFF2-40B4-BE49-F238E27FC236}">
                  <a16:creationId xmlns:a16="http://schemas.microsoft.com/office/drawing/2014/main" id="{37865A66-F188-0855-167D-60AE12767ABC}"/>
                </a:ext>
              </a:extLst>
            </p:cNvPr>
            <p:cNvSpPr/>
            <p:nvPr/>
          </p:nvSpPr>
          <p:spPr>
            <a:xfrm>
              <a:off x="4701540" y="4828032"/>
              <a:ext cx="2788920" cy="530352"/>
            </a:xfrm>
            <a:prstGeom prst="rect">
              <a:avLst/>
            </a:prstGeom>
            <a:solidFill>
              <a:srgbClr val="E1F5EE"/>
            </a:solidFill>
            <a:ln w="9525">
              <a:solidFill>
                <a:srgbClr val="1D9E75"/>
              </a:solidFill>
              <a:prstDash val="solid"/>
            </a:ln>
          </p:spPr>
          <p:txBody>
            <a:bodyPr/>
            <a:lstStyle/>
            <a:p>
              <a:endParaRPr lang="en-US"/>
            </a:p>
          </p:txBody>
        </p:sp>
        <p:sp>
          <p:nvSpPr>
            <p:cNvPr id="81" name="Shape 75">
              <a:extLst>
                <a:ext uri="{FF2B5EF4-FFF2-40B4-BE49-F238E27FC236}">
                  <a16:creationId xmlns:a16="http://schemas.microsoft.com/office/drawing/2014/main" id="{1FF33CAF-E9E1-B7F3-D322-1675526E419D}"/>
                </a:ext>
              </a:extLst>
            </p:cNvPr>
            <p:cNvSpPr/>
            <p:nvPr/>
          </p:nvSpPr>
          <p:spPr>
            <a:xfrm>
              <a:off x="4820412" y="4919472"/>
              <a:ext cx="146304" cy="146304"/>
            </a:xfrm>
            <a:prstGeom prst="ellipse">
              <a:avLst/>
            </a:prstGeom>
            <a:solidFill>
              <a:srgbClr val="0F6E56"/>
            </a:solidFill>
            <a:ln w="12700">
              <a:solidFill>
                <a:srgbClr val="0F6E56"/>
              </a:solidFill>
              <a:prstDash val="solid"/>
            </a:ln>
          </p:spPr>
          <p:txBody>
            <a:bodyPr/>
            <a:lstStyle/>
            <a:p>
              <a:endParaRPr lang="en-US"/>
            </a:p>
          </p:txBody>
        </p:sp>
        <p:sp>
          <p:nvSpPr>
            <p:cNvPr id="82" name="Text 76">
              <a:extLst>
                <a:ext uri="{FF2B5EF4-FFF2-40B4-BE49-F238E27FC236}">
                  <a16:creationId xmlns:a16="http://schemas.microsoft.com/office/drawing/2014/main" id="{441966EA-9EC5-4F55-1173-58B4FDD6FBE7}"/>
                </a:ext>
              </a:extLst>
            </p:cNvPr>
            <p:cNvSpPr/>
            <p:nvPr/>
          </p:nvSpPr>
          <p:spPr>
            <a:xfrm>
              <a:off x="5021580" y="4837176"/>
              <a:ext cx="242316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F6E56"/>
                  </a:solidFill>
                </a:rPr>
                <a:t>Security &amp; governance teams</a:t>
              </a:r>
              <a:endParaRPr lang="en-US" sz="1100" dirty="0"/>
            </a:p>
          </p:txBody>
        </p:sp>
        <p:sp>
          <p:nvSpPr>
            <p:cNvPr id="83" name="Text 77">
              <a:extLst>
                <a:ext uri="{FF2B5EF4-FFF2-40B4-BE49-F238E27FC236}">
                  <a16:creationId xmlns:a16="http://schemas.microsoft.com/office/drawing/2014/main" id="{33928623-B706-F278-E3C8-71791EB1BA5A}"/>
                </a:ext>
              </a:extLst>
            </p:cNvPr>
            <p:cNvSpPr/>
            <p:nvPr/>
          </p:nvSpPr>
          <p:spPr>
            <a:xfrm>
              <a:off x="5021580" y="5038344"/>
              <a:ext cx="2423160" cy="29260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444441"/>
                  </a:solidFill>
                </a:rPr>
                <a:t>Enforce OWASP, OpenAPI and ISO standards consistently across all API teams</a:t>
              </a:r>
              <a:endParaRPr lang="en-US" sz="1050" dirty="0"/>
            </a:p>
          </p:txBody>
        </p:sp>
      </p:grpSp>
      <p:grpSp>
        <p:nvGrpSpPr>
          <p:cNvPr id="100" name="Group 99">
            <a:extLst>
              <a:ext uri="{FF2B5EF4-FFF2-40B4-BE49-F238E27FC236}">
                <a16:creationId xmlns:a16="http://schemas.microsoft.com/office/drawing/2014/main" id="{59AF6E30-5325-3680-D731-FC8F37A9BDAB}"/>
              </a:ext>
            </a:extLst>
          </p:cNvPr>
          <p:cNvGrpSpPr/>
          <p:nvPr/>
        </p:nvGrpSpPr>
        <p:grpSpPr>
          <a:xfrm>
            <a:off x="8426669" y="5182269"/>
            <a:ext cx="3578760" cy="746184"/>
            <a:chOff x="7673340" y="4828032"/>
            <a:chExt cx="2788920" cy="530352"/>
          </a:xfrm>
        </p:grpSpPr>
        <p:sp>
          <p:nvSpPr>
            <p:cNvPr id="84" name="Shape 78">
              <a:extLst>
                <a:ext uri="{FF2B5EF4-FFF2-40B4-BE49-F238E27FC236}">
                  <a16:creationId xmlns:a16="http://schemas.microsoft.com/office/drawing/2014/main" id="{109B1C3A-3975-F04F-5AC8-176178B3415F}"/>
                </a:ext>
              </a:extLst>
            </p:cNvPr>
            <p:cNvSpPr/>
            <p:nvPr/>
          </p:nvSpPr>
          <p:spPr>
            <a:xfrm>
              <a:off x="7673340" y="4828032"/>
              <a:ext cx="2788920" cy="530352"/>
            </a:xfrm>
            <a:prstGeom prst="rect">
              <a:avLst/>
            </a:prstGeom>
            <a:solidFill>
              <a:srgbClr val="FAECE7"/>
            </a:solidFill>
            <a:ln w="9525">
              <a:solidFill>
                <a:srgbClr val="D85A30"/>
              </a:solidFill>
              <a:prstDash val="solid"/>
            </a:ln>
          </p:spPr>
          <p:txBody>
            <a:bodyPr/>
            <a:lstStyle/>
            <a:p>
              <a:endParaRPr lang="en-US"/>
            </a:p>
          </p:txBody>
        </p:sp>
        <p:grpSp>
          <p:nvGrpSpPr>
            <p:cNvPr id="99" name="Group 98">
              <a:extLst>
                <a:ext uri="{FF2B5EF4-FFF2-40B4-BE49-F238E27FC236}">
                  <a16:creationId xmlns:a16="http://schemas.microsoft.com/office/drawing/2014/main" id="{FA352F7D-80FF-0CCD-9653-655CCBDAAB0D}"/>
                </a:ext>
              </a:extLst>
            </p:cNvPr>
            <p:cNvGrpSpPr/>
            <p:nvPr/>
          </p:nvGrpSpPr>
          <p:grpSpPr>
            <a:xfrm>
              <a:off x="7792212" y="4837176"/>
              <a:ext cx="2624328" cy="493776"/>
              <a:chOff x="7792212" y="4837176"/>
              <a:chExt cx="2624328" cy="493776"/>
            </a:xfrm>
          </p:grpSpPr>
          <p:sp>
            <p:nvSpPr>
              <p:cNvPr id="85" name="Shape 79">
                <a:extLst>
                  <a:ext uri="{FF2B5EF4-FFF2-40B4-BE49-F238E27FC236}">
                    <a16:creationId xmlns:a16="http://schemas.microsoft.com/office/drawing/2014/main" id="{C4B943AC-2B3D-CB2E-2D4E-A42AC0FFCB6C}"/>
                  </a:ext>
                </a:extLst>
              </p:cNvPr>
              <p:cNvSpPr/>
              <p:nvPr/>
            </p:nvSpPr>
            <p:spPr>
              <a:xfrm>
                <a:off x="7792212" y="4919472"/>
                <a:ext cx="146304" cy="146304"/>
              </a:xfrm>
              <a:prstGeom prst="ellipse">
                <a:avLst/>
              </a:prstGeom>
              <a:solidFill>
                <a:srgbClr val="993C1D"/>
              </a:solidFill>
              <a:ln w="12700">
                <a:solidFill>
                  <a:srgbClr val="993C1D"/>
                </a:solidFill>
                <a:prstDash val="solid"/>
              </a:ln>
            </p:spPr>
            <p:txBody>
              <a:bodyPr/>
              <a:lstStyle/>
              <a:p>
                <a:endParaRPr lang="en-US"/>
              </a:p>
            </p:txBody>
          </p:sp>
          <p:sp>
            <p:nvSpPr>
              <p:cNvPr id="86" name="Text 80">
                <a:extLst>
                  <a:ext uri="{FF2B5EF4-FFF2-40B4-BE49-F238E27FC236}">
                    <a16:creationId xmlns:a16="http://schemas.microsoft.com/office/drawing/2014/main" id="{FE8901A4-F58D-C7BD-004A-0578B072CB12}"/>
                  </a:ext>
                </a:extLst>
              </p:cNvPr>
              <p:cNvSpPr/>
              <p:nvPr/>
            </p:nvSpPr>
            <p:spPr>
              <a:xfrm>
                <a:off x="7993380" y="4837176"/>
                <a:ext cx="242316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993C1D"/>
                    </a:solidFill>
                  </a:rPr>
                  <a:t>Enterprise architects</a:t>
                </a:r>
                <a:endParaRPr lang="en-US" sz="1100" dirty="0"/>
              </a:p>
            </p:txBody>
          </p:sp>
          <p:sp>
            <p:nvSpPr>
              <p:cNvPr id="87" name="Text 81">
                <a:extLst>
                  <a:ext uri="{FF2B5EF4-FFF2-40B4-BE49-F238E27FC236}">
                    <a16:creationId xmlns:a16="http://schemas.microsoft.com/office/drawing/2014/main" id="{3EF6366C-8E63-1D28-52CB-49EEEE6315B7}"/>
                  </a:ext>
                </a:extLst>
              </p:cNvPr>
              <p:cNvSpPr/>
              <p:nvPr/>
            </p:nvSpPr>
            <p:spPr>
              <a:xfrm>
                <a:off x="7993380" y="5038344"/>
                <a:ext cx="2423160" cy="29260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444441"/>
                    </a:solidFill>
                  </a:rPr>
                  <a:t>Track API health scores as a KPI and drive structured modernisation programmes</a:t>
                </a:r>
                <a:endParaRPr lang="en-US" sz="1050" dirty="0"/>
              </a:p>
            </p:txBody>
          </p:sp>
        </p:grpSp>
      </p:grpSp>
      <p:sp>
        <p:nvSpPr>
          <p:cNvPr id="88" name="Shape 82">
            <a:extLst>
              <a:ext uri="{FF2B5EF4-FFF2-40B4-BE49-F238E27FC236}">
                <a16:creationId xmlns:a16="http://schemas.microsoft.com/office/drawing/2014/main" id="{D9B8FAA1-3A58-A889-C12D-1827222086B4}"/>
              </a:ext>
            </a:extLst>
          </p:cNvPr>
          <p:cNvSpPr/>
          <p:nvPr/>
        </p:nvSpPr>
        <p:spPr>
          <a:xfrm>
            <a:off x="118241" y="5997649"/>
            <a:ext cx="11989676" cy="334814"/>
          </a:xfrm>
          <a:prstGeom prst="rect">
            <a:avLst/>
          </a:prstGeom>
          <a:solidFill>
            <a:srgbClr val="3C3489"/>
          </a:solidFill>
          <a:ln w="12700">
            <a:solidFill>
              <a:srgbClr val="3C3489"/>
            </a:solidFill>
            <a:prstDash val="solid"/>
          </a:ln>
        </p:spPr>
        <p:txBody>
          <a:bodyPr/>
          <a:lstStyle/>
          <a:p>
            <a:endParaRPr lang="en-US"/>
          </a:p>
        </p:txBody>
      </p:sp>
      <p:sp>
        <p:nvSpPr>
          <p:cNvPr id="89" name="Text 83">
            <a:extLst>
              <a:ext uri="{FF2B5EF4-FFF2-40B4-BE49-F238E27FC236}">
                <a16:creationId xmlns:a16="http://schemas.microsoft.com/office/drawing/2014/main" id="{5264C4FB-7708-1074-8BBF-26D8E4C132AE}"/>
              </a:ext>
            </a:extLst>
          </p:cNvPr>
          <p:cNvSpPr/>
          <p:nvPr/>
        </p:nvSpPr>
        <p:spPr>
          <a:xfrm>
            <a:off x="1672842" y="6013387"/>
            <a:ext cx="8686800" cy="28937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rPr>
              <a:t>MVP success criterion: accept a real OpenAPI spec → classify threats → score maturity → generate actionable fixes → demonstrate the agentic loop.</a:t>
            </a:r>
            <a:endParaRPr lang="en-US" sz="1100" dirty="0"/>
          </a:p>
        </p:txBody>
      </p:sp>
      <p:grpSp>
        <p:nvGrpSpPr>
          <p:cNvPr id="91" name="Group 90">
            <a:extLst>
              <a:ext uri="{FF2B5EF4-FFF2-40B4-BE49-F238E27FC236}">
                <a16:creationId xmlns:a16="http://schemas.microsoft.com/office/drawing/2014/main" id="{F4DD236E-1192-3CCC-51C0-0E85863F9D8D}"/>
              </a:ext>
            </a:extLst>
          </p:cNvPr>
          <p:cNvGrpSpPr/>
          <p:nvPr/>
        </p:nvGrpSpPr>
        <p:grpSpPr>
          <a:xfrm>
            <a:off x="160375" y="1210378"/>
            <a:ext cx="11870944" cy="1189414"/>
            <a:chOff x="-2522220" y="1213943"/>
            <a:chExt cx="8686800" cy="914400"/>
          </a:xfrm>
        </p:grpSpPr>
        <p:grpSp>
          <p:nvGrpSpPr>
            <p:cNvPr id="90" name="Group 89">
              <a:extLst>
                <a:ext uri="{FF2B5EF4-FFF2-40B4-BE49-F238E27FC236}">
                  <a16:creationId xmlns:a16="http://schemas.microsoft.com/office/drawing/2014/main" id="{F64B064C-8404-683B-E5B6-E008A3D2D27A}"/>
                </a:ext>
              </a:extLst>
            </p:cNvPr>
            <p:cNvGrpSpPr/>
            <p:nvPr/>
          </p:nvGrpSpPr>
          <p:grpSpPr>
            <a:xfrm>
              <a:off x="-2522220" y="1213943"/>
              <a:ext cx="8686800" cy="914400"/>
              <a:chOff x="1729740" y="1225296"/>
              <a:chExt cx="8686800" cy="914400"/>
            </a:xfrm>
          </p:grpSpPr>
          <p:sp>
            <p:nvSpPr>
              <p:cNvPr id="12" name="Shape 5">
                <a:extLst>
                  <a:ext uri="{FF2B5EF4-FFF2-40B4-BE49-F238E27FC236}">
                    <a16:creationId xmlns:a16="http://schemas.microsoft.com/office/drawing/2014/main" id="{03B25FD8-EBAE-D0F1-4C0F-428D452557F6}"/>
                  </a:ext>
                </a:extLst>
              </p:cNvPr>
              <p:cNvSpPr/>
              <p:nvPr/>
            </p:nvSpPr>
            <p:spPr>
              <a:xfrm>
                <a:off x="1729740" y="1225296"/>
                <a:ext cx="8686800" cy="914400"/>
              </a:xfrm>
              <a:prstGeom prst="rect">
                <a:avLst/>
              </a:prstGeom>
              <a:solidFill>
                <a:srgbClr val="EEEDFE"/>
              </a:solidFill>
              <a:ln w="9525">
                <a:solidFill>
                  <a:srgbClr val="7F77DD"/>
                </a:solidFill>
                <a:prstDash val="solid"/>
              </a:ln>
            </p:spPr>
            <p:txBody>
              <a:bodyPr/>
              <a:lstStyle/>
              <a:p>
                <a:endParaRPr lang="en-US"/>
              </a:p>
            </p:txBody>
          </p:sp>
          <p:sp>
            <p:nvSpPr>
              <p:cNvPr id="13" name="Text 8">
                <a:extLst>
                  <a:ext uri="{FF2B5EF4-FFF2-40B4-BE49-F238E27FC236}">
                    <a16:creationId xmlns:a16="http://schemas.microsoft.com/office/drawing/2014/main" id="{4DB2AD6B-8F79-E805-FF7C-90008997603C}"/>
                  </a:ext>
                </a:extLst>
              </p:cNvPr>
              <p:cNvSpPr/>
              <p:nvPr/>
            </p:nvSpPr>
            <p:spPr>
              <a:xfrm>
                <a:off x="1866900" y="1280160"/>
                <a:ext cx="4114800" cy="21945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26215C"/>
                    </a:solidFill>
                  </a:rPr>
                  <a:t>What SpecSentinel MVP delivers</a:t>
                </a:r>
                <a:endParaRPr lang="en-US" sz="1600" dirty="0"/>
              </a:p>
            </p:txBody>
          </p:sp>
          <p:sp>
            <p:nvSpPr>
              <p:cNvPr id="14" name="Text 9">
                <a:extLst>
                  <a:ext uri="{FF2B5EF4-FFF2-40B4-BE49-F238E27FC236}">
                    <a16:creationId xmlns:a16="http://schemas.microsoft.com/office/drawing/2014/main" id="{67D14F53-CA44-0037-8553-6189C360FC7D}"/>
                  </a:ext>
                </a:extLst>
              </p:cNvPr>
              <p:cNvSpPr/>
              <p:nvPr/>
            </p:nvSpPr>
            <p:spPr>
              <a:xfrm>
                <a:off x="1866900" y="1508760"/>
                <a:ext cx="4160520" cy="5486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534AB7"/>
                    </a:solidFill>
                  </a:rPr>
                  <a:t>An autonomous agentic bot that ingests OpenAPI 3.x specifications (YAML/JSON) and executes a closed-loop governance cycle — Plan → Analyze → Categorize → Recommend → Score → Improve — producing a structured API Health Report with zero manual effort.</a:t>
                </a:r>
                <a:endParaRPr lang="en-US" sz="1050" dirty="0"/>
              </a:p>
            </p:txBody>
          </p:sp>
          <p:sp>
            <p:nvSpPr>
              <p:cNvPr id="15" name="Shape 10">
                <a:extLst>
                  <a:ext uri="{FF2B5EF4-FFF2-40B4-BE49-F238E27FC236}">
                    <a16:creationId xmlns:a16="http://schemas.microsoft.com/office/drawing/2014/main" id="{879820BF-B568-AFAD-71AD-14DF6EE42D61}"/>
                  </a:ext>
                </a:extLst>
              </p:cNvPr>
              <p:cNvSpPr/>
              <p:nvPr/>
            </p:nvSpPr>
            <p:spPr>
              <a:xfrm>
                <a:off x="6164580" y="1280160"/>
                <a:ext cx="0" cy="749808"/>
              </a:xfrm>
              <a:prstGeom prst="line">
                <a:avLst/>
              </a:prstGeom>
              <a:noFill/>
              <a:ln w="9525">
                <a:solidFill>
                  <a:srgbClr val="AFA9EC"/>
                </a:solidFill>
                <a:prstDash val="dash"/>
              </a:ln>
            </p:spPr>
            <p:txBody>
              <a:bodyPr/>
              <a:lstStyle/>
              <a:p>
                <a:endParaRPr lang="en-US"/>
              </a:p>
            </p:txBody>
          </p:sp>
          <p:sp>
            <p:nvSpPr>
              <p:cNvPr id="16" name="Shape 11">
                <a:extLst>
                  <a:ext uri="{FF2B5EF4-FFF2-40B4-BE49-F238E27FC236}">
                    <a16:creationId xmlns:a16="http://schemas.microsoft.com/office/drawing/2014/main" id="{48FF263C-250E-3A73-0F29-B6308BF1BB57}"/>
                  </a:ext>
                </a:extLst>
              </p:cNvPr>
              <p:cNvSpPr/>
              <p:nvPr/>
            </p:nvSpPr>
            <p:spPr>
              <a:xfrm>
                <a:off x="6261399" y="1347292"/>
                <a:ext cx="432799" cy="237744"/>
              </a:xfrm>
              <a:prstGeom prst="roundRect">
                <a:avLst>
                  <a:gd name="adj" fmla="val 50000"/>
                </a:avLst>
              </a:prstGeom>
              <a:solidFill>
                <a:srgbClr val="534AB7"/>
              </a:solidFill>
              <a:ln w="12700">
                <a:solidFill>
                  <a:srgbClr val="534AB7"/>
                </a:solidFill>
                <a:prstDash val="solid"/>
              </a:ln>
            </p:spPr>
            <p:txBody>
              <a:bodyPr/>
              <a:lstStyle/>
              <a:p>
                <a:pPr algn="ctr"/>
                <a:r>
                  <a:rPr lang="en-US" sz="1050" b="1" dirty="0">
                    <a:solidFill>
                      <a:srgbClr val="FFFFFF"/>
                    </a:solidFill>
                  </a:rPr>
                  <a:t>Plan</a:t>
                </a:r>
                <a:endParaRPr lang="en-US" b="1" dirty="0"/>
              </a:p>
            </p:txBody>
          </p:sp>
          <p:sp>
            <p:nvSpPr>
              <p:cNvPr id="17" name="Text 12">
                <a:extLst>
                  <a:ext uri="{FF2B5EF4-FFF2-40B4-BE49-F238E27FC236}">
                    <a16:creationId xmlns:a16="http://schemas.microsoft.com/office/drawing/2014/main" id="{1E709C13-EC99-33A8-BBB4-B01CF8BA4813}"/>
                  </a:ext>
                </a:extLst>
              </p:cNvPr>
              <p:cNvSpPr/>
              <p:nvPr/>
            </p:nvSpPr>
            <p:spPr>
              <a:xfrm>
                <a:off x="6347460" y="1344168"/>
                <a:ext cx="603504"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100" dirty="0"/>
              </a:p>
            </p:txBody>
          </p:sp>
          <p:sp>
            <p:nvSpPr>
              <p:cNvPr id="19" name="Shape 14">
                <a:extLst>
                  <a:ext uri="{FF2B5EF4-FFF2-40B4-BE49-F238E27FC236}">
                    <a16:creationId xmlns:a16="http://schemas.microsoft.com/office/drawing/2014/main" id="{B413DF8E-6283-64F7-27E1-B5232E44FE37}"/>
                  </a:ext>
                </a:extLst>
              </p:cNvPr>
              <p:cNvSpPr/>
              <p:nvPr/>
            </p:nvSpPr>
            <p:spPr>
              <a:xfrm>
                <a:off x="6825036" y="1344168"/>
                <a:ext cx="521298" cy="237744"/>
              </a:xfrm>
              <a:prstGeom prst="roundRect">
                <a:avLst>
                  <a:gd name="adj" fmla="val 50000"/>
                </a:avLst>
              </a:prstGeom>
              <a:solidFill>
                <a:srgbClr val="3C3489"/>
              </a:solidFill>
              <a:ln w="12700">
                <a:solidFill>
                  <a:srgbClr val="3C3489"/>
                </a:solidFill>
                <a:prstDash val="solid"/>
              </a:ln>
            </p:spPr>
            <p:txBody>
              <a:bodyPr/>
              <a:lstStyle/>
              <a:p>
                <a:pPr algn="ctr"/>
                <a:r>
                  <a:rPr lang="en-US" sz="1050" b="1" dirty="0">
                    <a:solidFill>
                      <a:srgbClr val="FFFFFF"/>
                    </a:solidFill>
                  </a:rPr>
                  <a:t>Analyze</a:t>
                </a:r>
                <a:endParaRPr lang="en-US" sz="1050" b="1" dirty="0"/>
              </a:p>
            </p:txBody>
          </p:sp>
          <p:sp>
            <p:nvSpPr>
              <p:cNvPr id="22" name="Shape 17">
                <a:extLst>
                  <a:ext uri="{FF2B5EF4-FFF2-40B4-BE49-F238E27FC236}">
                    <a16:creationId xmlns:a16="http://schemas.microsoft.com/office/drawing/2014/main" id="{5FF3595F-CF1B-C314-E25B-3BC986D9D9EA}"/>
                  </a:ext>
                </a:extLst>
              </p:cNvPr>
              <p:cNvSpPr/>
              <p:nvPr/>
            </p:nvSpPr>
            <p:spPr>
              <a:xfrm>
                <a:off x="7495215" y="1344168"/>
                <a:ext cx="626776" cy="237744"/>
              </a:xfrm>
              <a:prstGeom prst="roundRect">
                <a:avLst>
                  <a:gd name="adj" fmla="val 50000"/>
                </a:avLst>
              </a:prstGeom>
              <a:solidFill>
                <a:srgbClr val="534AB7"/>
              </a:solidFill>
              <a:ln w="12700">
                <a:solidFill>
                  <a:srgbClr val="534AB7"/>
                </a:solidFill>
                <a:prstDash val="solid"/>
              </a:ln>
            </p:spPr>
            <p:txBody>
              <a:bodyPr/>
              <a:lstStyle/>
              <a:p>
                <a:pPr algn="ctr"/>
                <a:r>
                  <a:rPr lang="en-US" sz="1050" b="1" dirty="0">
                    <a:solidFill>
                      <a:schemeClr val="bg1"/>
                    </a:solidFill>
                  </a:rPr>
                  <a:t>Categorize</a:t>
                </a:r>
                <a:endParaRPr lang="en-US" b="1" dirty="0">
                  <a:solidFill>
                    <a:schemeClr val="bg1"/>
                  </a:solidFill>
                </a:endParaRPr>
              </a:p>
            </p:txBody>
          </p:sp>
          <p:sp>
            <p:nvSpPr>
              <p:cNvPr id="25" name="Shape 20">
                <a:extLst>
                  <a:ext uri="{FF2B5EF4-FFF2-40B4-BE49-F238E27FC236}">
                    <a16:creationId xmlns:a16="http://schemas.microsoft.com/office/drawing/2014/main" id="{2BD6B113-2A81-AC9A-6D8F-024545B3E179}"/>
                  </a:ext>
                </a:extLst>
              </p:cNvPr>
              <p:cNvSpPr/>
              <p:nvPr/>
            </p:nvSpPr>
            <p:spPr>
              <a:xfrm>
                <a:off x="8274791" y="1344168"/>
                <a:ext cx="731664" cy="237744"/>
              </a:xfrm>
              <a:prstGeom prst="roundRect">
                <a:avLst>
                  <a:gd name="adj" fmla="val 50000"/>
                </a:avLst>
              </a:prstGeom>
              <a:solidFill>
                <a:srgbClr val="3C3489"/>
              </a:solidFill>
              <a:ln w="12700">
                <a:solidFill>
                  <a:srgbClr val="3C3489"/>
                </a:solidFill>
                <a:prstDash val="solid"/>
              </a:ln>
            </p:spPr>
            <p:txBody>
              <a:bodyPr/>
              <a:lstStyle/>
              <a:p>
                <a:r>
                  <a:rPr lang="en-US" sz="1050" b="1" dirty="0">
                    <a:solidFill>
                      <a:schemeClr val="bg1"/>
                    </a:solidFill>
                  </a:rPr>
                  <a:t>Recommend</a:t>
                </a:r>
                <a:endParaRPr lang="en-US" b="1" dirty="0">
                  <a:solidFill>
                    <a:schemeClr val="bg1"/>
                  </a:solidFill>
                </a:endParaRPr>
              </a:p>
            </p:txBody>
          </p:sp>
          <p:sp>
            <p:nvSpPr>
              <p:cNvPr id="28" name="Shape 23">
                <a:extLst>
                  <a:ext uri="{FF2B5EF4-FFF2-40B4-BE49-F238E27FC236}">
                    <a16:creationId xmlns:a16="http://schemas.microsoft.com/office/drawing/2014/main" id="{AED5EE85-E7FC-9FA8-7571-31661A30F6C7}"/>
                  </a:ext>
                </a:extLst>
              </p:cNvPr>
              <p:cNvSpPr/>
              <p:nvPr/>
            </p:nvSpPr>
            <p:spPr>
              <a:xfrm>
                <a:off x="9126919" y="1344168"/>
                <a:ext cx="471473" cy="237744"/>
              </a:xfrm>
              <a:prstGeom prst="roundRect">
                <a:avLst>
                  <a:gd name="adj" fmla="val 50000"/>
                </a:avLst>
              </a:prstGeom>
              <a:solidFill>
                <a:srgbClr val="534AB7"/>
              </a:solidFill>
              <a:ln w="12700">
                <a:solidFill>
                  <a:srgbClr val="534AB7"/>
                </a:solidFill>
                <a:prstDash val="solid"/>
              </a:ln>
            </p:spPr>
            <p:txBody>
              <a:bodyPr/>
              <a:lstStyle/>
              <a:p>
                <a:pPr algn="ctr"/>
                <a:r>
                  <a:rPr lang="en-US" sz="1050" b="1" dirty="0">
                    <a:solidFill>
                      <a:schemeClr val="bg1"/>
                    </a:solidFill>
                  </a:rPr>
                  <a:t>Score</a:t>
                </a:r>
              </a:p>
            </p:txBody>
          </p:sp>
          <p:sp>
            <p:nvSpPr>
              <p:cNvPr id="31" name="Shape 26">
                <a:extLst>
                  <a:ext uri="{FF2B5EF4-FFF2-40B4-BE49-F238E27FC236}">
                    <a16:creationId xmlns:a16="http://schemas.microsoft.com/office/drawing/2014/main" id="{CD2BC7F1-F7EC-6DBB-66C5-26F9788DAB60}"/>
                  </a:ext>
                </a:extLst>
              </p:cNvPr>
              <p:cNvSpPr/>
              <p:nvPr/>
            </p:nvSpPr>
            <p:spPr>
              <a:xfrm>
                <a:off x="9761230" y="1344168"/>
                <a:ext cx="603504" cy="237744"/>
              </a:xfrm>
              <a:prstGeom prst="roundRect">
                <a:avLst>
                  <a:gd name="adj" fmla="val 50000"/>
                </a:avLst>
              </a:prstGeom>
              <a:solidFill>
                <a:srgbClr val="3C3489"/>
              </a:solidFill>
              <a:ln w="12700">
                <a:solidFill>
                  <a:srgbClr val="3C3489"/>
                </a:solidFill>
                <a:prstDash val="solid"/>
              </a:ln>
            </p:spPr>
            <p:txBody>
              <a:bodyPr/>
              <a:lstStyle/>
              <a:p>
                <a:pPr algn="ctr"/>
                <a:r>
                  <a:rPr lang="en-US" sz="1050" b="1" dirty="0">
                    <a:solidFill>
                      <a:schemeClr val="bg1"/>
                    </a:solidFill>
                  </a:rPr>
                  <a:t>Improve</a:t>
                </a:r>
                <a:endParaRPr lang="en-US" b="1" dirty="0">
                  <a:solidFill>
                    <a:schemeClr val="bg1"/>
                  </a:solidFill>
                </a:endParaRPr>
              </a:p>
            </p:txBody>
          </p:sp>
          <p:sp>
            <p:nvSpPr>
              <p:cNvPr id="33" name="Text 28">
                <a:extLst>
                  <a:ext uri="{FF2B5EF4-FFF2-40B4-BE49-F238E27FC236}">
                    <a16:creationId xmlns:a16="http://schemas.microsoft.com/office/drawing/2014/main" id="{FF29053B-0349-60DF-D14E-D4568E872223}"/>
                  </a:ext>
                </a:extLst>
              </p:cNvPr>
              <p:cNvSpPr/>
              <p:nvPr/>
            </p:nvSpPr>
            <p:spPr>
              <a:xfrm>
                <a:off x="6347460" y="1691265"/>
                <a:ext cx="3977640" cy="20116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3C3489"/>
                    </a:solidFill>
                  </a:rPr>
                  <a:t>Autonomous closed-loop — no manual intervention required</a:t>
                </a:r>
                <a:endParaRPr lang="en-US" sz="1000" dirty="0"/>
              </a:p>
            </p:txBody>
          </p:sp>
          <p:sp>
            <p:nvSpPr>
              <p:cNvPr id="34" name="Text 29">
                <a:extLst>
                  <a:ext uri="{FF2B5EF4-FFF2-40B4-BE49-F238E27FC236}">
                    <a16:creationId xmlns:a16="http://schemas.microsoft.com/office/drawing/2014/main" id="{275C75F6-8E2C-BE0E-D338-FB5FB9DC1F6C}"/>
                  </a:ext>
                </a:extLst>
              </p:cNvPr>
              <p:cNvSpPr/>
              <p:nvPr/>
            </p:nvSpPr>
            <p:spPr>
              <a:xfrm>
                <a:off x="6347460" y="1866978"/>
                <a:ext cx="3977640" cy="1828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7F77DD"/>
                    </a:solidFill>
                  </a:rPr>
                  <a:t>Input: OpenAPI 3.x YAML / JSON  ·  Output: Structured API Health Report + JSON export</a:t>
                </a:r>
                <a:endParaRPr lang="en-US" sz="1000" dirty="0"/>
              </a:p>
            </p:txBody>
          </p:sp>
        </p:grpSp>
        <p:sp>
          <p:nvSpPr>
            <p:cNvPr id="29" name="Text 24">
              <a:extLst>
                <a:ext uri="{FF2B5EF4-FFF2-40B4-BE49-F238E27FC236}">
                  <a16:creationId xmlns:a16="http://schemas.microsoft.com/office/drawing/2014/main" id="{8941EF85-291D-E1D4-5C3F-FFFA0736E417}"/>
                </a:ext>
              </a:extLst>
            </p:cNvPr>
            <p:cNvSpPr/>
            <p:nvPr/>
          </p:nvSpPr>
          <p:spPr>
            <a:xfrm>
              <a:off x="4709160" y="1346099"/>
              <a:ext cx="603504"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800" dirty="0"/>
            </a:p>
          </p:txBody>
        </p:sp>
        <p:sp>
          <p:nvSpPr>
            <p:cNvPr id="20" name="Text 15">
              <a:extLst>
                <a:ext uri="{FF2B5EF4-FFF2-40B4-BE49-F238E27FC236}">
                  <a16:creationId xmlns:a16="http://schemas.microsoft.com/office/drawing/2014/main" id="{12B664F7-7BAF-F60F-8B4F-4663B75C0615}"/>
                </a:ext>
              </a:extLst>
            </p:cNvPr>
            <p:cNvSpPr/>
            <p:nvPr/>
          </p:nvSpPr>
          <p:spPr>
            <a:xfrm>
              <a:off x="2735580" y="1344702"/>
              <a:ext cx="603504"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800" dirty="0"/>
            </a:p>
          </p:txBody>
        </p:sp>
      </p:grpSp>
      <p:sp>
        <p:nvSpPr>
          <p:cNvPr id="92" name="Arrow: Right 91">
            <a:extLst>
              <a:ext uri="{FF2B5EF4-FFF2-40B4-BE49-F238E27FC236}">
                <a16:creationId xmlns:a16="http://schemas.microsoft.com/office/drawing/2014/main" id="{46FE9F99-CFEC-F037-B58F-77B2C5F41E52}"/>
              </a:ext>
            </a:extLst>
          </p:cNvPr>
          <p:cNvSpPr/>
          <p:nvPr/>
        </p:nvSpPr>
        <p:spPr>
          <a:xfrm>
            <a:off x="6985176" y="1428586"/>
            <a:ext cx="101841" cy="2274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Arrow: Right 92">
            <a:extLst>
              <a:ext uri="{FF2B5EF4-FFF2-40B4-BE49-F238E27FC236}">
                <a16:creationId xmlns:a16="http://schemas.microsoft.com/office/drawing/2014/main" id="{1A0664BC-D10B-41F9-AD2A-EAD85501339D}"/>
              </a:ext>
            </a:extLst>
          </p:cNvPr>
          <p:cNvSpPr/>
          <p:nvPr/>
        </p:nvSpPr>
        <p:spPr>
          <a:xfrm>
            <a:off x="7882492" y="1435160"/>
            <a:ext cx="101841" cy="2274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Arrow: Right 93">
            <a:extLst>
              <a:ext uri="{FF2B5EF4-FFF2-40B4-BE49-F238E27FC236}">
                <a16:creationId xmlns:a16="http://schemas.microsoft.com/office/drawing/2014/main" id="{FD5DA367-74DA-BF81-AC20-2FB64E8CD56B}"/>
              </a:ext>
            </a:extLst>
          </p:cNvPr>
          <p:cNvSpPr/>
          <p:nvPr/>
        </p:nvSpPr>
        <p:spPr>
          <a:xfrm>
            <a:off x="8937456" y="1425959"/>
            <a:ext cx="101841" cy="2274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Arrow: Right 94">
            <a:extLst>
              <a:ext uri="{FF2B5EF4-FFF2-40B4-BE49-F238E27FC236}">
                <a16:creationId xmlns:a16="http://schemas.microsoft.com/office/drawing/2014/main" id="{53A1E101-C533-9788-C4E3-271A69F1D416}"/>
              </a:ext>
            </a:extLst>
          </p:cNvPr>
          <p:cNvSpPr/>
          <p:nvPr/>
        </p:nvSpPr>
        <p:spPr>
          <a:xfrm>
            <a:off x="10150083" y="1408878"/>
            <a:ext cx="101841" cy="2274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Arrow: Right 95">
            <a:extLst>
              <a:ext uri="{FF2B5EF4-FFF2-40B4-BE49-F238E27FC236}">
                <a16:creationId xmlns:a16="http://schemas.microsoft.com/office/drawing/2014/main" id="{642F9F72-9479-2F19-20C5-7912384C92DD}"/>
              </a:ext>
            </a:extLst>
          </p:cNvPr>
          <p:cNvSpPr/>
          <p:nvPr/>
        </p:nvSpPr>
        <p:spPr>
          <a:xfrm>
            <a:off x="10968571" y="1435152"/>
            <a:ext cx="101841" cy="2274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8" name="Group 107">
            <a:extLst>
              <a:ext uri="{FF2B5EF4-FFF2-40B4-BE49-F238E27FC236}">
                <a16:creationId xmlns:a16="http://schemas.microsoft.com/office/drawing/2014/main" id="{18BF183E-5F04-CEFD-AC63-45A155A07685}"/>
              </a:ext>
            </a:extLst>
          </p:cNvPr>
          <p:cNvGrpSpPr/>
          <p:nvPr/>
        </p:nvGrpSpPr>
        <p:grpSpPr>
          <a:xfrm>
            <a:off x="2066097" y="3818942"/>
            <a:ext cx="3038041" cy="1123844"/>
            <a:chOff x="3430257" y="3665268"/>
            <a:chExt cx="2664000" cy="1118177"/>
          </a:xfrm>
        </p:grpSpPr>
        <p:sp>
          <p:nvSpPr>
            <p:cNvPr id="107" name="Shape 50">
              <a:extLst>
                <a:ext uri="{FF2B5EF4-FFF2-40B4-BE49-F238E27FC236}">
                  <a16:creationId xmlns:a16="http://schemas.microsoft.com/office/drawing/2014/main" id="{2ADED6BC-60B8-0652-7E22-8DECE6DFADE4}"/>
                </a:ext>
              </a:extLst>
            </p:cNvPr>
            <p:cNvSpPr/>
            <p:nvPr/>
          </p:nvSpPr>
          <p:spPr>
            <a:xfrm>
              <a:off x="3442497" y="3665268"/>
              <a:ext cx="2651760" cy="1118177"/>
            </a:xfrm>
            <a:prstGeom prst="rect">
              <a:avLst/>
            </a:prstGeom>
            <a:solidFill>
              <a:schemeClr val="accent2">
                <a:lumMod val="20000"/>
                <a:lumOff val="80000"/>
              </a:schemeClr>
            </a:solidFill>
            <a:ln w="9525">
              <a:solidFill>
                <a:srgbClr val="FF0000"/>
              </a:solidFill>
              <a:prstDash val="solid"/>
            </a:ln>
          </p:spPr>
          <p:txBody>
            <a:bodyPr/>
            <a:lstStyle/>
            <a:p>
              <a:endParaRPr lang="en-US"/>
            </a:p>
          </p:txBody>
        </p:sp>
        <p:grpSp>
          <p:nvGrpSpPr>
            <p:cNvPr id="106" name="Group 105">
              <a:extLst>
                <a:ext uri="{FF2B5EF4-FFF2-40B4-BE49-F238E27FC236}">
                  <a16:creationId xmlns:a16="http://schemas.microsoft.com/office/drawing/2014/main" id="{E899E48B-8578-5BC1-3A59-EFD913C36231}"/>
                </a:ext>
              </a:extLst>
            </p:cNvPr>
            <p:cNvGrpSpPr/>
            <p:nvPr/>
          </p:nvGrpSpPr>
          <p:grpSpPr>
            <a:xfrm>
              <a:off x="3430257" y="3665268"/>
              <a:ext cx="2560320" cy="1112240"/>
              <a:chOff x="3638860" y="4264174"/>
              <a:chExt cx="2560320" cy="1024128"/>
            </a:xfrm>
          </p:grpSpPr>
          <p:sp>
            <p:nvSpPr>
              <p:cNvPr id="64" name="Shape 58">
                <a:extLst>
                  <a:ext uri="{FF2B5EF4-FFF2-40B4-BE49-F238E27FC236}">
                    <a16:creationId xmlns:a16="http://schemas.microsoft.com/office/drawing/2014/main" id="{38F7054C-6795-DC6B-C332-120399045FA5}"/>
                  </a:ext>
                </a:extLst>
              </p:cNvPr>
              <p:cNvSpPr/>
              <p:nvPr/>
            </p:nvSpPr>
            <p:spPr>
              <a:xfrm>
                <a:off x="3801407" y="4413163"/>
                <a:ext cx="420624" cy="420624"/>
              </a:xfrm>
              <a:prstGeom prst="ellipse">
                <a:avLst/>
              </a:prstGeom>
              <a:solidFill>
                <a:srgbClr val="D85A30"/>
              </a:solidFill>
              <a:ln w="12700">
                <a:solidFill>
                  <a:srgbClr val="D85A30"/>
                </a:solidFill>
                <a:prstDash val="solid"/>
              </a:ln>
            </p:spPr>
            <p:txBody>
              <a:bodyPr/>
              <a:lstStyle/>
              <a:p>
                <a:endParaRPr lang="en-US" dirty="0"/>
              </a:p>
            </p:txBody>
          </p:sp>
          <p:grpSp>
            <p:nvGrpSpPr>
              <p:cNvPr id="105" name="Group 104">
                <a:extLst>
                  <a:ext uri="{FF2B5EF4-FFF2-40B4-BE49-F238E27FC236}">
                    <a16:creationId xmlns:a16="http://schemas.microsoft.com/office/drawing/2014/main" id="{92F4536F-B104-9964-6C74-51966BA248D0}"/>
                  </a:ext>
                </a:extLst>
              </p:cNvPr>
              <p:cNvGrpSpPr/>
              <p:nvPr/>
            </p:nvGrpSpPr>
            <p:grpSpPr>
              <a:xfrm>
                <a:off x="3638860" y="4264174"/>
                <a:ext cx="2560320" cy="1024128"/>
                <a:chOff x="4628388" y="4218690"/>
                <a:chExt cx="2560320" cy="1024128"/>
              </a:xfrm>
            </p:grpSpPr>
            <p:grpSp>
              <p:nvGrpSpPr>
                <p:cNvPr id="102" name="Group 101">
                  <a:extLst>
                    <a:ext uri="{FF2B5EF4-FFF2-40B4-BE49-F238E27FC236}">
                      <a16:creationId xmlns:a16="http://schemas.microsoft.com/office/drawing/2014/main" id="{BE73A7CC-20D7-F56C-744A-9D63BAFC18B2}"/>
                    </a:ext>
                  </a:extLst>
                </p:cNvPr>
                <p:cNvGrpSpPr/>
                <p:nvPr/>
              </p:nvGrpSpPr>
              <p:grpSpPr>
                <a:xfrm>
                  <a:off x="4793411" y="4321959"/>
                  <a:ext cx="2395297" cy="859536"/>
                  <a:chOff x="4793411" y="3730752"/>
                  <a:chExt cx="2395297" cy="859536"/>
                </a:xfrm>
              </p:grpSpPr>
              <p:sp>
                <p:nvSpPr>
                  <p:cNvPr id="66" name="Text 60">
                    <a:extLst>
                      <a:ext uri="{FF2B5EF4-FFF2-40B4-BE49-F238E27FC236}">
                        <a16:creationId xmlns:a16="http://schemas.microsoft.com/office/drawing/2014/main" id="{351DD7FB-B0B7-86F1-702C-188E05FE0DEF}"/>
                      </a:ext>
                    </a:extLst>
                  </p:cNvPr>
                  <p:cNvSpPr/>
                  <p:nvPr/>
                </p:nvSpPr>
                <p:spPr>
                  <a:xfrm>
                    <a:off x="5286756" y="3730752"/>
                    <a:ext cx="1901952"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712B13"/>
                        </a:solidFill>
                      </a:rPr>
                      <a:t>Fix recommendations</a:t>
                    </a:r>
                    <a:endParaRPr lang="en-US" sz="1100" dirty="0"/>
                  </a:p>
                </p:txBody>
              </p:sp>
              <p:sp>
                <p:nvSpPr>
                  <p:cNvPr id="67" name="Text 61">
                    <a:extLst>
                      <a:ext uri="{FF2B5EF4-FFF2-40B4-BE49-F238E27FC236}">
                        <a16:creationId xmlns:a16="http://schemas.microsoft.com/office/drawing/2014/main" id="{8802B192-E67D-7C2D-B8B2-7D59B978520F}"/>
                      </a:ext>
                    </a:extLst>
                  </p:cNvPr>
                  <p:cNvSpPr/>
                  <p:nvPr/>
                </p:nvSpPr>
                <p:spPr>
                  <a:xfrm>
                    <a:off x="5286756" y="3986784"/>
                    <a:ext cx="1901952" cy="60350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444441"/>
                        </a:solidFill>
                      </a:rPr>
                      <a:t>Issue description, risk rationale, remediation steps and ready-to-use YAML/JSON snippet for every finding.</a:t>
                    </a:r>
                    <a:endParaRPr lang="en-US" sz="1050" dirty="0"/>
                  </a:p>
                </p:txBody>
              </p:sp>
              <p:sp>
                <p:nvSpPr>
                  <p:cNvPr id="65" name="Text 59">
                    <a:extLst>
                      <a:ext uri="{FF2B5EF4-FFF2-40B4-BE49-F238E27FC236}">
                        <a16:creationId xmlns:a16="http://schemas.microsoft.com/office/drawing/2014/main" id="{35337D94-C7B9-D4AB-DFB3-566CC7006346}"/>
                      </a:ext>
                    </a:extLst>
                  </p:cNvPr>
                  <p:cNvSpPr/>
                  <p:nvPr/>
                </p:nvSpPr>
                <p:spPr>
                  <a:xfrm>
                    <a:off x="4793411" y="3776471"/>
                    <a:ext cx="420624" cy="42062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t>✎</a:t>
                    </a:r>
                  </a:p>
                </p:txBody>
              </p:sp>
            </p:grpSp>
            <p:sp>
              <p:nvSpPr>
                <p:cNvPr id="63" name="Shape 57">
                  <a:extLst>
                    <a:ext uri="{FF2B5EF4-FFF2-40B4-BE49-F238E27FC236}">
                      <a16:creationId xmlns:a16="http://schemas.microsoft.com/office/drawing/2014/main" id="{990E4323-FB00-8A78-BFFA-36218AD227EB}"/>
                    </a:ext>
                  </a:extLst>
                </p:cNvPr>
                <p:cNvSpPr/>
                <p:nvPr/>
              </p:nvSpPr>
              <p:spPr>
                <a:xfrm>
                  <a:off x="4628388" y="4218690"/>
                  <a:ext cx="73152" cy="1024128"/>
                </a:xfrm>
                <a:prstGeom prst="rect">
                  <a:avLst/>
                </a:prstGeom>
                <a:solidFill>
                  <a:srgbClr val="D85A30"/>
                </a:solidFill>
                <a:ln w="12700">
                  <a:solidFill>
                    <a:srgbClr val="D85A30"/>
                  </a:solidFill>
                  <a:prstDash val="solid"/>
                </a:ln>
              </p:spPr>
              <p:txBody>
                <a:bodyPr/>
                <a:lstStyle/>
                <a:p>
                  <a:endParaRPr lang="en-US"/>
                </a:p>
              </p:txBody>
            </p:sp>
          </p:grpSp>
        </p:grpSp>
      </p:grpSp>
      <p:sp>
        <p:nvSpPr>
          <p:cNvPr id="112" name="Arrow: Right 111">
            <a:extLst>
              <a:ext uri="{FF2B5EF4-FFF2-40B4-BE49-F238E27FC236}">
                <a16:creationId xmlns:a16="http://schemas.microsoft.com/office/drawing/2014/main" id="{9B338203-A059-80D0-E145-314633ED765A}"/>
              </a:ext>
            </a:extLst>
          </p:cNvPr>
          <p:cNvSpPr/>
          <p:nvPr/>
        </p:nvSpPr>
        <p:spPr>
          <a:xfrm>
            <a:off x="268014" y="5168085"/>
            <a:ext cx="1330018" cy="829564"/>
          </a:xfrm>
          <a:prstGeom prst="rightArrow">
            <a:avLst/>
          </a:prstGeom>
          <a:solidFill>
            <a:srgbClr val="0F6E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Target Users</a:t>
            </a:r>
          </a:p>
        </p:txBody>
      </p:sp>
      <p:grpSp>
        <p:nvGrpSpPr>
          <p:cNvPr id="119" name="Group 118">
            <a:extLst>
              <a:ext uri="{FF2B5EF4-FFF2-40B4-BE49-F238E27FC236}">
                <a16:creationId xmlns:a16="http://schemas.microsoft.com/office/drawing/2014/main" id="{83111A18-BD21-24E3-1CA9-05152515903B}"/>
              </a:ext>
            </a:extLst>
          </p:cNvPr>
          <p:cNvGrpSpPr/>
          <p:nvPr/>
        </p:nvGrpSpPr>
        <p:grpSpPr>
          <a:xfrm>
            <a:off x="2067701" y="2655861"/>
            <a:ext cx="3027393" cy="1024128"/>
            <a:chOff x="1281683" y="2692501"/>
            <a:chExt cx="3027393" cy="1024128"/>
          </a:xfrm>
        </p:grpSpPr>
        <p:grpSp>
          <p:nvGrpSpPr>
            <p:cNvPr id="114" name="Group 113">
              <a:extLst>
                <a:ext uri="{FF2B5EF4-FFF2-40B4-BE49-F238E27FC236}">
                  <a16:creationId xmlns:a16="http://schemas.microsoft.com/office/drawing/2014/main" id="{05ACF45B-C66B-93C7-B5D4-A34E46250409}"/>
                </a:ext>
              </a:extLst>
            </p:cNvPr>
            <p:cNvGrpSpPr/>
            <p:nvPr/>
          </p:nvGrpSpPr>
          <p:grpSpPr>
            <a:xfrm>
              <a:off x="1281683" y="2692501"/>
              <a:ext cx="3027393" cy="1024128"/>
              <a:chOff x="1270903" y="2857093"/>
              <a:chExt cx="2651760" cy="1024128"/>
            </a:xfrm>
          </p:grpSpPr>
          <p:sp>
            <p:nvSpPr>
              <p:cNvPr id="39" name="Shape 34">
                <a:extLst>
                  <a:ext uri="{FF2B5EF4-FFF2-40B4-BE49-F238E27FC236}">
                    <a16:creationId xmlns:a16="http://schemas.microsoft.com/office/drawing/2014/main" id="{BAFC5BCD-144F-F17F-6AD4-280E0D456172}"/>
                  </a:ext>
                </a:extLst>
              </p:cNvPr>
              <p:cNvSpPr/>
              <p:nvPr/>
            </p:nvSpPr>
            <p:spPr>
              <a:xfrm>
                <a:off x="1411021" y="3018395"/>
                <a:ext cx="420624" cy="420624"/>
              </a:xfrm>
              <a:prstGeom prst="ellipse">
                <a:avLst/>
              </a:prstGeom>
              <a:solidFill>
                <a:srgbClr val="E24B4A"/>
              </a:solidFill>
              <a:ln w="12700">
                <a:solidFill>
                  <a:srgbClr val="E24B4A"/>
                </a:solidFill>
                <a:prstDash val="solid"/>
              </a:ln>
            </p:spPr>
            <p:txBody>
              <a:bodyPr/>
              <a:lstStyle/>
              <a:p>
                <a:endParaRPr lang="en-US"/>
              </a:p>
            </p:txBody>
          </p:sp>
          <p:grpSp>
            <p:nvGrpSpPr>
              <p:cNvPr id="113" name="Group 112">
                <a:extLst>
                  <a:ext uri="{FF2B5EF4-FFF2-40B4-BE49-F238E27FC236}">
                    <a16:creationId xmlns:a16="http://schemas.microsoft.com/office/drawing/2014/main" id="{2DD3C0ED-F9E4-8BBA-88C1-78303BD824A5}"/>
                  </a:ext>
                </a:extLst>
              </p:cNvPr>
              <p:cNvGrpSpPr/>
              <p:nvPr/>
            </p:nvGrpSpPr>
            <p:grpSpPr>
              <a:xfrm>
                <a:off x="1270903" y="2857093"/>
                <a:ext cx="2651760" cy="1024128"/>
                <a:chOff x="1729740" y="2450592"/>
                <a:chExt cx="2651760" cy="1024128"/>
              </a:xfrm>
            </p:grpSpPr>
            <p:sp>
              <p:nvSpPr>
                <p:cNvPr id="37" name="Shape 32">
                  <a:extLst>
                    <a:ext uri="{FF2B5EF4-FFF2-40B4-BE49-F238E27FC236}">
                      <a16:creationId xmlns:a16="http://schemas.microsoft.com/office/drawing/2014/main" id="{4FE865BC-07E7-C7AA-D019-DD3565B63F10}"/>
                    </a:ext>
                  </a:extLst>
                </p:cNvPr>
                <p:cNvSpPr/>
                <p:nvPr/>
              </p:nvSpPr>
              <p:spPr>
                <a:xfrm>
                  <a:off x="1729740" y="2450592"/>
                  <a:ext cx="2651760" cy="1024128"/>
                </a:xfrm>
                <a:prstGeom prst="rect">
                  <a:avLst/>
                </a:prstGeom>
                <a:solidFill>
                  <a:srgbClr val="FCEBEB"/>
                </a:solidFill>
                <a:ln w="9525">
                  <a:solidFill>
                    <a:srgbClr val="E24B4A"/>
                  </a:solidFill>
                  <a:prstDash val="solid"/>
                </a:ln>
              </p:spPr>
              <p:txBody>
                <a:bodyPr/>
                <a:lstStyle/>
                <a:p>
                  <a:endParaRPr lang="en-US" dirty="0"/>
                </a:p>
              </p:txBody>
            </p:sp>
            <p:sp>
              <p:nvSpPr>
                <p:cNvPr id="38" name="Shape 33">
                  <a:extLst>
                    <a:ext uri="{FF2B5EF4-FFF2-40B4-BE49-F238E27FC236}">
                      <a16:creationId xmlns:a16="http://schemas.microsoft.com/office/drawing/2014/main" id="{4CB2BE6B-5BC6-11AD-162D-3CCCE7853FDE}"/>
                    </a:ext>
                  </a:extLst>
                </p:cNvPr>
                <p:cNvSpPr/>
                <p:nvPr/>
              </p:nvSpPr>
              <p:spPr>
                <a:xfrm>
                  <a:off x="1729740" y="2450592"/>
                  <a:ext cx="73152" cy="1024128"/>
                </a:xfrm>
                <a:prstGeom prst="rect">
                  <a:avLst/>
                </a:prstGeom>
                <a:solidFill>
                  <a:srgbClr val="E24B4A"/>
                </a:solidFill>
                <a:ln w="12700">
                  <a:solidFill>
                    <a:srgbClr val="E24B4A"/>
                  </a:solidFill>
                  <a:prstDash val="solid"/>
                </a:ln>
              </p:spPr>
              <p:txBody>
                <a:bodyPr/>
                <a:lstStyle/>
                <a:p>
                  <a:endParaRPr lang="en-US"/>
                </a:p>
              </p:txBody>
            </p:sp>
            <p:sp>
              <p:nvSpPr>
                <p:cNvPr id="41" name="Text 36">
                  <a:extLst>
                    <a:ext uri="{FF2B5EF4-FFF2-40B4-BE49-F238E27FC236}">
                      <a16:creationId xmlns:a16="http://schemas.microsoft.com/office/drawing/2014/main" id="{64DE76E9-F909-EA52-41F3-98467A6E8AD6}"/>
                    </a:ext>
                  </a:extLst>
                </p:cNvPr>
                <p:cNvSpPr/>
                <p:nvPr/>
              </p:nvSpPr>
              <p:spPr>
                <a:xfrm>
                  <a:off x="2388108" y="2542032"/>
                  <a:ext cx="1901952"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A32D2D"/>
                      </a:solidFill>
                    </a:rPr>
                    <a:t>Security analysis</a:t>
                  </a:r>
                  <a:endParaRPr lang="en-US" sz="1100" dirty="0"/>
                </a:p>
              </p:txBody>
            </p:sp>
            <p:sp>
              <p:nvSpPr>
                <p:cNvPr id="42" name="Text 37">
                  <a:extLst>
                    <a:ext uri="{FF2B5EF4-FFF2-40B4-BE49-F238E27FC236}">
                      <a16:creationId xmlns:a16="http://schemas.microsoft.com/office/drawing/2014/main" id="{AEDE21C4-2585-C524-BD8D-FB9F51692176}"/>
                    </a:ext>
                  </a:extLst>
                </p:cNvPr>
                <p:cNvSpPr/>
                <p:nvPr/>
              </p:nvSpPr>
              <p:spPr>
                <a:xfrm>
                  <a:off x="2388108" y="2798064"/>
                  <a:ext cx="1901952" cy="60350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444441"/>
                      </a:solidFill>
                    </a:rPr>
                    <a:t>Detects missing OAuth2, JWT, API Key schemes. Flags absent 401/403/429 responses and sensitive schema exposure.</a:t>
                  </a:r>
                  <a:endParaRPr lang="en-US" sz="1050" dirty="0"/>
                </a:p>
              </p:txBody>
            </p:sp>
          </p:grpSp>
        </p:grpSp>
        <p:sp>
          <p:nvSpPr>
            <p:cNvPr id="117" name="Shape 34">
              <a:extLst>
                <a:ext uri="{FF2B5EF4-FFF2-40B4-BE49-F238E27FC236}">
                  <a16:creationId xmlns:a16="http://schemas.microsoft.com/office/drawing/2014/main" id="{D623CC6D-C1E9-92EF-48EF-3E75F46D9F21}"/>
                </a:ext>
              </a:extLst>
            </p:cNvPr>
            <p:cNvSpPr/>
            <p:nvPr/>
          </p:nvSpPr>
          <p:spPr>
            <a:xfrm>
              <a:off x="1413286" y="2821855"/>
              <a:ext cx="420624" cy="420624"/>
            </a:xfrm>
            <a:prstGeom prst="ellipse">
              <a:avLst/>
            </a:prstGeom>
            <a:solidFill>
              <a:srgbClr val="E24B4A"/>
            </a:solidFill>
            <a:ln w="12700">
              <a:solidFill>
                <a:srgbClr val="E24B4A"/>
              </a:solidFill>
              <a:prstDash val="solid"/>
            </a:ln>
          </p:spPr>
          <p:txBody>
            <a:bodyPr/>
            <a:lstStyle/>
            <a:p>
              <a:r>
                <a:rPr lang="en-US" dirty="0">
                  <a:solidFill>
                    <a:srgbClr val="FFFFFF"/>
                  </a:solidFill>
                </a:rPr>
                <a:t>✦</a:t>
              </a:r>
              <a:endParaRPr lang="en-US" dirty="0"/>
            </a:p>
          </p:txBody>
        </p:sp>
      </p:grpSp>
      <p:sp>
        <p:nvSpPr>
          <p:cNvPr id="122" name="Arrow: Right 121">
            <a:extLst>
              <a:ext uri="{FF2B5EF4-FFF2-40B4-BE49-F238E27FC236}">
                <a16:creationId xmlns:a16="http://schemas.microsoft.com/office/drawing/2014/main" id="{BCA4317E-4634-A5DF-C3D3-A323D866AFF5}"/>
              </a:ext>
            </a:extLst>
          </p:cNvPr>
          <p:cNvSpPr/>
          <p:nvPr/>
        </p:nvSpPr>
        <p:spPr>
          <a:xfrm>
            <a:off x="291004" y="2645051"/>
            <a:ext cx="1577209" cy="2108991"/>
          </a:xfrm>
          <a:prstGeom prst="rightArrow">
            <a:avLst/>
          </a:prstGeom>
          <a:solidFill>
            <a:srgbClr val="993C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Key features</a:t>
            </a:r>
          </a:p>
        </p:txBody>
      </p:sp>
      <p:cxnSp>
        <p:nvCxnSpPr>
          <p:cNvPr id="124" name="Straight Connector 123">
            <a:extLst>
              <a:ext uri="{FF2B5EF4-FFF2-40B4-BE49-F238E27FC236}">
                <a16:creationId xmlns:a16="http://schemas.microsoft.com/office/drawing/2014/main" id="{12A66E7C-0E0D-E0A4-5610-249C57ABDD67}"/>
              </a:ext>
            </a:extLst>
          </p:cNvPr>
          <p:cNvCxnSpPr/>
          <p:nvPr/>
        </p:nvCxnSpPr>
        <p:spPr>
          <a:xfrm>
            <a:off x="118241" y="5044966"/>
            <a:ext cx="11989676"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5" name="Straight Connector 124">
            <a:extLst>
              <a:ext uri="{FF2B5EF4-FFF2-40B4-BE49-F238E27FC236}">
                <a16:creationId xmlns:a16="http://schemas.microsoft.com/office/drawing/2014/main" id="{FCFFDFE4-87CF-6AE6-370D-CCF3D0395B49}"/>
              </a:ext>
            </a:extLst>
          </p:cNvPr>
          <p:cNvCxnSpPr/>
          <p:nvPr/>
        </p:nvCxnSpPr>
        <p:spPr>
          <a:xfrm>
            <a:off x="120871" y="2536932"/>
            <a:ext cx="11989676"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2" name="Group 1">
            <a:extLst>
              <a:ext uri="{FF2B5EF4-FFF2-40B4-BE49-F238E27FC236}">
                <a16:creationId xmlns:a16="http://schemas.microsoft.com/office/drawing/2014/main" id="{B4D043F2-29ED-450A-2D6E-233C8D426616}"/>
              </a:ext>
            </a:extLst>
          </p:cNvPr>
          <p:cNvGrpSpPr/>
          <p:nvPr/>
        </p:nvGrpSpPr>
        <p:grpSpPr>
          <a:xfrm>
            <a:off x="8766944" y="3826740"/>
            <a:ext cx="3124523" cy="1116046"/>
            <a:chOff x="7517892" y="2450592"/>
            <a:chExt cx="2651760" cy="1024128"/>
          </a:xfrm>
        </p:grpSpPr>
        <p:sp>
          <p:nvSpPr>
            <p:cNvPr id="3" name="Shape 44">
              <a:extLst>
                <a:ext uri="{FF2B5EF4-FFF2-40B4-BE49-F238E27FC236}">
                  <a16:creationId xmlns:a16="http://schemas.microsoft.com/office/drawing/2014/main" id="{1322155E-0B98-E724-507F-8E1D4D9E2AC6}"/>
                </a:ext>
              </a:extLst>
            </p:cNvPr>
            <p:cNvSpPr/>
            <p:nvPr/>
          </p:nvSpPr>
          <p:spPr>
            <a:xfrm>
              <a:off x="7517892" y="2450592"/>
              <a:ext cx="2651760" cy="1024128"/>
            </a:xfrm>
            <a:prstGeom prst="rect">
              <a:avLst/>
            </a:prstGeom>
            <a:solidFill>
              <a:srgbClr val="EEEDFE"/>
            </a:solidFill>
            <a:ln w="9525">
              <a:solidFill>
                <a:srgbClr val="7F77DD"/>
              </a:solidFill>
              <a:prstDash val="solid"/>
            </a:ln>
          </p:spPr>
          <p:txBody>
            <a:bodyPr/>
            <a:lstStyle/>
            <a:p>
              <a:endParaRPr lang="en-US"/>
            </a:p>
          </p:txBody>
        </p:sp>
        <p:sp>
          <p:nvSpPr>
            <p:cNvPr id="7" name="Shape 45">
              <a:extLst>
                <a:ext uri="{FF2B5EF4-FFF2-40B4-BE49-F238E27FC236}">
                  <a16:creationId xmlns:a16="http://schemas.microsoft.com/office/drawing/2014/main" id="{9E8F0A42-0A1D-667E-B227-DAAE3D5A2AC5}"/>
                </a:ext>
              </a:extLst>
            </p:cNvPr>
            <p:cNvSpPr/>
            <p:nvPr/>
          </p:nvSpPr>
          <p:spPr>
            <a:xfrm>
              <a:off x="7517892" y="2450592"/>
              <a:ext cx="73152" cy="1024128"/>
            </a:xfrm>
            <a:prstGeom prst="rect">
              <a:avLst/>
            </a:prstGeom>
            <a:solidFill>
              <a:srgbClr val="7F77DD"/>
            </a:solidFill>
            <a:ln w="12700">
              <a:solidFill>
                <a:srgbClr val="7F77DD"/>
              </a:solidFill>
              <a:prstDash val="solid"/>
            </a:ln>
          </p:spPr>
          <p:txBody>
            <a:bodyPr/>
            <a:lstStyle/>
            <a:p>
              <a:endParaRPr lang="en-US"/>
            </a:p>
          </p:txBody>
        </p:sp>
        <p:sp>
          <p:nvSpPr>
            <p:cNvPr id="18" name="Shape 46">
              <a:extLst>
                <a:ext uri="{FF2B5EF4-FFF2-40B4-BE49-F238E27FC236}">
                  <a16:creationId xmlns:a16="http://schemas.microsoft.com/office/drawing/2014/main" id="{E6DF90F2-ED80-3B59-AB29-FFCD27FF2032}"/>
                </a:ext>
              </a:extLst>
            </p:cNvPr>
            <p:cNvSpPr/>
            <p:nvPr/>
          </p:nvSpPr>
          <p:spPr>
            <a:xfrm>
              <a:off x="7682484" y="2615184"/>
              <a:ext cx="420624" cy="420624"/>
            </a:xfrm>
            <a:prstGeom prst="ellipse">
              <a:avLst/>
            </a:prstGeom>
            <a:solidFill>
              <a:srgbClr val="7F77DD"/>
            </a:solidFill>
            <a:ln w="12700">
              <a:solidFill>
                <a:srgbClr val="7F77DD"/>
              </a:solidFill>
              <a:prstDash val="solid"/>
            </a:ln>
          </p:spPr>
          <p:txBody>
            <a:bodyPr/>
            <a:lstStyle/>
            <a:p>
              <a:endParaRPr lang="en-US"/>
            </a:p>
          </p:txBody>
        </p:sp>
        <p:sp>
          <p:nvSpPr>
            <p:cNvPr id="21" name="Text 47">
              <a:extLst>
                <a:ext uri="{FF2B5EF4-FFF2-40B4-BE49-F238E27FC236}">
                  <a16:creationId xmlns:a16="http://schemas.microsoft.com/office/drawing/2014/main" id="{8C098690-FCFC-2151-B762-C016D66931D8}"/>
                </a:ext>
              </a:extLst>
            </p:cNvPr>
            <p:cNvSpPr/>
            <p:nvPr/>
          </p:nvSpPr>
          <p:spPr>
            <a:xfrm>
              <a:off x="7682484" y="2615184"/>
              <a:ext cx="420624" cy="42062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FFFFFF"/>
                  </a:solidFill>
                </a:rPr>
                <a:t>◉</a:t>
              </a:r>
              <a:endParaRPr lang="en-US" sz="1400" dirty="0"/>
            </a:p>
          </p:txBody>
        </p:sp>
        <p:sp>
          <p:nvSpPr>
            <p:cNvPr id="24" name="Text 48">
              <a:extLst>
                <a:ext uri="{FF2B5EF4-FFF2-40B4-BE49-F238E27FC236}">
                  <a16:creationId xmlns:a16="http://schemas.microsoft.com/office/drawing/2014/main" id="{FB1456C1-E993-FF7D-50BD-97679F4D7615}"/>
                </a:ext>
              </a:extLst>
            </p:cNvPr>
            <p:cNvSpPr/>
            <p:nvPr/>
          </p:nvSpPr>
          <p:spPr>
            <a:xfrm>
              <a:off x="8176260" y="2542032"/>
              <a:ext cx="1901952"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3C3489"/>
                  </a:solidFill>
                </a:rPr>
                <a:t>Health score engine</a:t>
              </a:r>
              <a:endParaRPr lang="en-US" sz="1100" dirty="0"/>
            </a:p>
          </p:txBody>
        </p:sp>
        <p:sp>
          <p:nvSpPr>
            <p:cNvPr id="27" name="Text 49">
              <a:extLst>
                <a:ext uri="{FF2B5EF4-FFF2-40B4-BE49-F238E27FC236}">
                  <a16:creationId xmlns:a16="http://schemas.microsoft.com/office/drawing/2014/main" id="{984CEB3B-DE90-8821-4052-93DAFE64CC3B}"/>
                </a:ext>
              </a:extLst>
            </p:cNvPr>
            <p:cNvSpPr/>
            <p:nvPr/>
          </p:nvSpPr>
          <p:spPr>
            <a:xfrm>
              <a:off x="8176260" y="2798064"/>
              <a:ext cx="1901952" cy="60350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444441"/>
                  </a:solidFill>
                </a:rPr>
                <a:t>Computes 0–100 score across 5 weighted categories. Maps result to Poor / Moderate / Good / Excellent bands.</a:t>
              </a:r>
              <a:endParaRPr lang="en-US" sz="1050" dirty="0"/>
            </a:p>
          </p:txBody>
        </p:sp>
      </p:grpSp>
    </p:spTree>
    <p:extLst>
      <p:ext uri="{BB962C8B-B14F-4D97-AF65-F5344CB8AC3E}">
        <p14:creationId xmlns:p14="http://schemas.microsoft.com/office/powerpoint/2010/main" val="3845472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7CE20-E7E1-8717-C2B7-0148C9F0573E}"/>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50A3ADA5-68F9-2776-F6E5-2CC39F2F7AB8}"/>
              </a:ext>
            </a:extLst>
          </p:cNvPr>
          <p:cNvSpPr/>
          <p:nvPr/>
        </p:nvSpPr>
        <p:spPr>
          <a:xfrm>
            <a:off x="0" y="0"/>
            <a:ext cx="12191695" cy="114300"/>
          </a:xfrm>
          <a:prstGeom prst="rect">
            <a:avLst/>
          </a:prstGeom>
          <a:solidFill>
            <a:srgbClr val="0F62FE"/>
          </a:solidFill>
          <a:ln/>
        </p:spPr>
        <p:txBody>
          <a:bodyPr/>
          <a:lstStyle/>
          <a:p>
            <a:endParaRPr lang="en-IN"/>
          </a:p>
        </p:txBody>
      </p:sp>
      <p:sp>
        <p:nvSpPr>
          <p:cNvPr id="5" name="Shape 3">
            <a:extLst>
              <a:ext uri="{FF2B5EF4-FFF2-40B4-BE49-F238E27FC236}">
                <a16:creationId xmlns:a16="http://schemas.microsoft.com/office/drawing/2014/main" id="{1B2E10DF-2CD6-B566-EF33-E26BBDA22FA8}"/>
              </a:ext>
            </a:extLst>
          </p:cNvPr>
          <p:cNvSpPr/>
          <p:nvPr/>
        </p:nvSpPr>
        <p:spPr>
          <a:xfrm>
            <a:off x="0" y="900212"/>
            <a:ext cx="12191695" cy="45719"/>
          </a:xfrm>
          <a:prstGeom prst="rect">
            <a:avLst/>
          </a:prstGeom>
          <a:solidFill>
            <a:srgbClr val="E0E0E0"/>
          </a:solidFill>
          <a:ln/>
        </p:spPr>
        <p:txBody>
          <a:bodyPr/>
          <a:lstStyle/>
          <a:p>
            <a:endParaRPr lang="en-IN"/>
          </a:p>
        </p:txBody>
      </p:sp>
      <p:sp>
        <p:nvSpPr>
          <p:cNvPr id="6" name="Text 4">
            <a:extLst>
              <a:ext uri="{FF2B5EF4-FFF2-40B4-BE49-F238E27FC236}">
                <a16:creationId xmlns:a16="http://schemas.microsoft.com/office/drawing/2014/main" id="{383A195A-0CFF-C4D5-ED18-0285E48CEC18}"/>
              </a:ext>
            </a:extLst>
          </p:cNvPr>
          <p:cNvSpPr txBox="1"/>
          <p:nvPr/>
        </p:nvSpPr>
        <p:spPr>
          <a:xfrm>
            <a:off x="571500" y="253462"/>
            <a:ext cx="6165202" cy="523951"/>
          </a:xfrm>
          <a:prstGeom prst="rect">
            <a:avLst/>
          </a:prstGeom>
          <a:noFill/>
          <a:ln/>
        </p:spPr>
        <p:txBody>
          <a:bodyPr wrap="square" lIns="0" tIns="0" rIns="0" bIns="0" rtlCol="0" anchor="ctr"/>
          <a:lstStyle/>
          <a:p>
            <a:pPr>
              <a:lnSpc>
                <a:spcPct val="90000"/>
              </a:lnSpc>
              <a:spcBef>
                <a:spcPct val="0"/>
              </a:spcBef>
              <a:spcAft>
                <a:spcPts val="600"/>
              </a:spcAft>
            </a:pPr>
            <a:r>
              <a:rPr lang="en-US" sz="3200" dirty="0"/>
              <a:t>Solution Design &amp; Architecture</a:t>
            </a:r>
          </a:p>
        </p:txBody>
      </p:sp>
      <p:sp>
        <p:nvSpPr>
          <p:cNvPr id="8" name="Shape 6">
            <a:extLst>
              <a:ext uri="{FF2B5EF4-FFF2-40B4-BE49-F238E27FC236}">
                <a16:creationId xmlns:a16="http://schemas.microsoft.com/office/drawing/2014/main" id="{2DC6692F-A848-2F18-4A10-A12ECA04ADA6}"/>
              </a:ext>
            </a:extLst>
          </p:cNvPr>
          <p:cNvSpPr/>
          <p:nvPr/>
        </p:nvSpPr>
        <p:spPr>
          <a:xfrm>
            <a:off x="0" y="6372454"/>
            <a:ext cx="12191695" cy="485546"/>
          </a:xfrm>
          <a:prstGeom prst="rect">
            <a:avLst/>
          </a:prstGeom>
          <a:solidFill>
            <a:srgbClr val="FFFFFF"/>
          </a:solidFill>
          <a:ln/>
        </p:spPr>
        <p:txBody>
          <a:bodyPr/>
          <a:lstStyle/>
          <a:p>
            <a:endParaRPr lang="en-IN"/>
          </a:p>
        </p:txBody>
      </p:sp>
      <p:sp>
        <p:nvSpPr>
          <p:cNvPr id="9" name="Shape 7">
            <a:extLst>
              <a:ext uri="{FF2B5EF4-FFF2-40B4-BE49-F238E27FC236}">
                <a16:creationId xmlns:a16="http://schemas.microsoft.com/office/drawing/2014/main" id="{C33F1B6C-F9C0-5F0B-F2AA-9060A91B19D5}"/>
              </a:ext>
            </a:extLst>
          </p:cNvPr>
          <p:cNvSpPr/>
          <p:nvPr/>
        </p:nvSpPr>
        <p:spPr>
          <a:xfrm>
            <a:off x="0" y="6372454"/>
            <a:ext cx="12191695" cy="9144"/>
          </a:xfrm>
          <a:prstGeom prst="rect">
            <a:avLst/>
          </a:prstGeom>
          <a:solidFill>
            <a:srgbClr val="E0E0E0"/>
          </a:solidFill>
          <a:ln/>
        </p:spPr>
        <p:txBody>
          <a:bodyPr/>
          <a:lstStyle/>
          <a:p>
            <a:endParaRPr lang="en-IN"/>
          </a:p>
        </p:txBody>
      </p:sp>
      <p:sp>
        <p:nvSpPr>
          <p:cNvPr id="10" name="Text 8">
            <a:extLst>
              <a:ext uri="{FF2B5EF4-FFF2-40B4-BE49-F238E27FC236}">
                <a16:creationId xmlns:a16="http://schemas.microsoft.com/office/drawing/2014/main" id="{89E066A7-9062-852A-678B-91386FA3727C}"/>
              </a:ext>
            </a:extLst>
          </p:cNvPr>
          <p:cNvSpPr txBox="1"/>
          <p:nvPr/>
        </p:nvSpPr>
        <p:spPr>
          <a:xfrm>
            <a:off x="571500" y="6543446"/>
            <a:ext cx="1828800"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COE Automation Hackathon 2026</a:t>
            </a:r>
            <a:endParaRPr lang="en-US" sz="900" dirty="0"/>
          </a:p>
        </p:txBody>
      </p:sp>
      <p:sp>
        <p:nvSpPr>
          <p:cNvPr id="11" name="Text 9">
            <a:extLst>
              <a:ext uri="{FF2B5EF4-FFF2-40B4-BE49-F238E27FC236}">
                <a16:creationId xmlns:a16="http://schemas.microsoft.com/office/drawing/2014/main" id="{0D5564A5-B460-6685-3436-5337B55BD13B}"/>
              </a:ext>
            </a:extLst>
          </p:cNvPr>
          <p:cNvSpPr txBox="1"/>
          <p:nvPr/>
        </p:nvSpPr>
        <p:spPr>
          <a:xfrm>
            <a:off x="10006279" y="6543446"/>
            <a:ext cx="1705356"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Confidential - Internal Use Only</a:t>
            </a:r>
            <a:endParaRPr lang="en-US" sz="900" dirty="0"/>
          </a:p>
        </p:txBody>
      </p:sp>
      <p:sp>
        <p:nvSpPr>
          <p:cNvPr id="49" name="TextBox 48">
            <a:extLst>
              <a:ext uri="{FF2B5EF4-FFF2-40B4-BE49-F238E27FC236}">
                <a16:creationId xmlns:a16="http://schemas.microsoft.com/office/drawing/2014/main" id="{DEB1017A-5DDD-D252-405C-E4E940182301}"/>
              </a:ext>
            </a:extLst>
          </p:cNvPr>
          <p:cNvSpPr txBox="1"/>
          <p:nvPr/>
        </p:nvSpPr>
        <p:spPr>
          <a:xfrm>
            <a:off x="869937" y="1247467"/>
            <a:ext cx="9724031" cy="3683358"/>
          </a:xfrm>
          <a:prstGeom prst="rect">
            <a:avLst/>
          </a:prstGeom>
        </p:spPr>
        <p:txBody>
          <a:bodyPr vert="horz" lIns="91440" tIns="45720" rIns="91440" bIns="45720" rtlCol="0" anchor="ctr">
            <a:normAutofit/>
          </a:bodyPr>
          <a:lstStyle/>
          <a:p>
            <a:pPr marL="285750" indent="-285750">
              <a:lnSpc>
                <a:spcPct val="90000"/>
              </a:lnSpc>
              <a:spcAft>
                <a:spcPts val="600"/>
              </a:spcAft>
              <a:buFont typeface="Arial" panose="020B0604020202020204" pitchFamily="34" charset="0"/>
              <a:buChar char="•"/>
            </a:pPr>
            <a:endParaRPr lang="en-US" sz="2800" dirty="0"/>
          </a:p>
        </p:txBody>
      </p:sp>
      <p:cxnSp>
        <p:nvCxnSpPr>
          <p:cNvPr id="155" name="conn">
            <a:extLst>
              <a:ext uri="{FF2B5EF4-FFF2-40B4-BE49-F238E27FC236}">
                <a16:creationId xmlns:a16="http://schemas.microsoft.com/office/drawing/2014/main" id="{A0969890-26D0-8A28-5945-EFBA5FC16CF9}"/>
              </a:ext>
            </a:extLst>
          </p:cNvPr>
          <p:cNvCxnSpPr>
            <a:cxnSpLocks/>
          </p:cNvCxnSpPr>
          <p:nvPr/>
        </p:nvCxnSpPr>
        <p:spPr>
          <a:xfrm>
            <a:off x="5577054" y="1351094"/>
            <a:ext cx="0" cy="97108"/>
          </a:xfrm>
          <a:prstGeom prst="line">
            <a:avLst/>
          </a:prstGeom>
          <a:noFill/>
          <a:ln w="15240">
            <a:solidFill>
              <a:srgbClr val="888780"/>
            </a:solidFill>
            <a:tailEnd type="arrow"/>
          </a:ln>
        </p:spPr>
      </p:cxnSp>
      <p:grpSp>
        <p:nvGrpSpPr>
          <p:cNvPr id="156" name="GROUP_ui_layer">
            <a:extLst>
              <a:ext uri="{FF2B5EF4-FFF2-40B4-BE49-F238E27FC236}">
                <a16:creationId xmlns:a16="http://schemas.microsoft.com/office/drawing/2014/main" id="{18D57E6E-323C-3BE2-1C0F-37788F432D6E}"/>
              </a:ext>
            </a:extLst>
          </p:cNvPr>
          <p:cNvGrpSpPr/>
          <p:nvPr/>
        </p:nvGrpSpPr>
        <p:grpSpPr>
          <a:xfrm>
            <a:off x="823751" y="1424246"/>
            <a:ext cx="9555480" cy="704040"/>
            <a:chOff x="228600" y="896112"/>
            <a:chExt cx="8686800" cy="530352"/>
          </a:xfrm>
        </p:grpSpPr>
        <p:sp>
          <p:nvSpPr>
            <p:cNvPr id="157" name="shape">
              <a:extLst>
                <a:ext uri="{FF2B5EF4-FFF2-40B4-BE49-F238E27FC236}">
                  <a16:creationId xmlns:a16="http://schemas.microsoft.com/office/drawing/2014/main" id="{2FD6337D-3471-A659-08D4-C41FDAC98B6E}"/>
                </a:ext>
              </a:extLst>
            </p:cNvPr>
            <p:cNvSpPr/>
            <p:nvPr/>
          </p:nvSpPr>
          <p:spPr>
            <a:xfrm>
              <a:off x="228600" y="896112"/>
              <a:ext cx="8686800" cy="530352"/>
            </a:xfrm>
            <a:prstGeom prst="rect">
              <a:avLst/>
            </a:prstGeom>
            <a:solidFill>
              <a:srgbClr val="E6F1FB"/>
            </a:solidFill>
            <a:ln w="9525">
              <a:solidFill>
                <a:srgbClr val="185FA5"/>
              </a:solidFill>
            </a:ln>
          </p:spPr>
          <p:txBody>
            <a:bodyPr/>
            <a:lstStyle/>
            <a:p>
              <a:endParaRPr lang="en-US" sz="2800"/>
            </a:p>
          </p:txBody>
        </p:sp>
        <p:sp>
          <p:nvSpPr>
            <p:cNvPr id="158" name="shape">
              <a:extLst>
                <a:ext uri="{FF2B5EF4-FFF2-40B4-BE49-F238E27FC236}">
                  <a16:creationId xmlns:a16="http://schemas.microsoft.com/office/drawing/2014/main" id="{8CB207DB-5859-5921-7FFD-13E36AB2523C}"/>
                </a:ext>
              </a:extLst>
            </p:cNvPr>
            <p:cNvSpPr/>
            <p:nvPr/>
          </p:nvSpPr>
          <p:spPr>
            <a:xfrm>
              <a:off x="228600" y="896112"/>
              <a:ext cx="8686800" cy="59436"/>
            </a:xfrm>
            <a:prstGeom prst="rect">
              <a:avLst/>
            </a:prstGeom>
            <a:solidFill>
              <a:srgbClr val="185FA5"/>
            </a:solidFill>
            <a:ln w="0">
              <a:solidFill>
                <a:srgbClr val="185FA5"/>
              </a:solidFill>
            </a:ln>
          </p:spPr>
          <p:txBody>
            <a:bodyPr/>
            <a:lstStyle/>
            <a:p>
              <a:endParaRPr lang="en-US" sz="2800"/>
            </a:p>
          </p:txBody>
        </p:sp>
        <p:sp>
          <p:nvSpPr>
            <p:cNvPr id="159" name="shape">
              <a:extLst>
                <a:ext uri="{FF2B5EF4-FFF2-40B4-BE49-F238E27FC236}">
                  <a16:creationId xmlns:a16="http://schemas.microsoft.com/office/drawing/2014/main" id="{FC77434B-2792-D4A5-8060-2B5347966BE4}"/>
                </a:ext>
              </a:extLst>
            </p:cNvPr>
            <p:cNvSpPr/>
            <p:nvPr/>
          </p:nvSpPr>
          <p:spPr>
            <a:xfrm>
              <a:off x="320040" y="969264"/>
              <a:ext cx="658368" cy="384048"/>
            </a:xfrm>
            <a:prstGeom prst="rect">
              <a:avLst/>
            </a:prstGeom>
            <a:solidFill>
              <a:srgbClr val="185FA5"/>
            </a:solidFill>
            <a:ln w="0">
              <a:solidFill>
                <a:srgbClr val="185FA5"/>
              </a:solidFill>
            </a:ln>
          </p:spPr>
          <p:txBody>
            <a:bodyPr/>
            <a:lstStyle/>
            <a:p>
              <a:endParaRPr lang="en-US" sz="2800"/>
            </a:p>
          </p:txBody>
        </p:sp>
        <p:sp>
          <p:nvSpPr>
            <p:cNvPr id="160" name="text">
              <a:extLst>
                <a:ext uri="{FF2B5EF4-FFF2-40B4-BE49-F238E27FC236}">
                  <a16:creationId xmlns:a16="http://schemas.microsoft.com/office/drawing/2014/main" id="{B55C9FCF-9DC7-6315-BAD5-F72C90DECEE0}"/>
                </a:ext>
              </a:extLst>
            </p:cNvPr>
            <p:cNvSpPr txBox="1"/>
            <p:nvPr/>
          </p:nvSpPr>
          <p:spPr>
            <a:xfrm>
              <a:off x="320040" y="969264"/>
              <a:ext cx="658368" cy="384048"/>
            </a:xfrm>
            <a:prstGeom prst="rect">
              <a:avLst/>
            </a:prstGeom>
            <a:noFill/>
            <a:ln>
              <a:noFill/>
            </a:ln>
          </p:spPr>
          <p:txBody>
            <a:bodyPr wrap="square" rtlCol="0"/>
            <a:lstStyle/>
            <a:p>
              <a:pPr algn="ctr"/>
              <a:r>
                <a:rPr lang="en-US" sz="1000" b="1" dirty="0">
                  <a:solidFill>
                    <a:srgbClr val="FFFFFF"/>
                  </a:solidFill>
                </a:rPr>
                <a:t>UI
layer</a:t>
              </a:r>
            </a:p>
          </p:txBody>
        </p:sp>
        <p:sp>
          <p:nvSpPr>
            <p:cNvPr id="161" name="Web frontend_bg">
              <a:extLst>
                <a:ext uri="{FF2B5EF4-FFF2-40B4-BE49-F238E27FC236}">
                  <a16:creationId xmlns:a16="http://schemas.microsoft.com/office/drawing/2014/main" id="{262A813F-B882-C052-748A-4456B2428DE2}"/>
                </a:ext>
              </a:extLst>
            </p:cNvPr>
            <p:cNvSpPr/>
            <p:nvPr/>
          </p:nvSpPr>
          <p:spPr>
            <a:xfrm>
              <a:off x="1005840" y="969264"/>
              <a:ext cx="3291840" cy="384048"/>
            </a:xfrm>
            <a:prstGeom prst="rect">
              <a:avLst/>
            </a:prstGeom>
            <a:solidFill>
              <a:srgbClr val="FFFFFF"/>
            </a:solidFill>
            <a:ln w="9525">
              <a:solidFill>
                <a:srgbClr val="185FA5"/>
              </a:solidFill>
            </a:ln>
          </p:spPr>
          <p:txBody>
            <a:bodyPr/>
            <a:lstStyle/>
            <a:p>
              <a:endParaRPr lang="en-US" sz="2800"/>
            </a:p>
          </p:txBody>
        </p:sp>
        <p:sp>
          <p:nvSpPr>
            <p:cNvPr id="162" name="Web frontend_top">
              <a:extLst>
                <a:ext uri="{FF2B5EF4-FFF2-40B4-BE49-F238E27FC236}">
                  <a16:creationId xmlns:a16="http://schemas.microsoft.com/office/drawing/2014/main" id="{A27D1F8E-0A2B-F1D5-3799-59D984559297}"/>
                </a:ext>
              </a:extLst>
            </p:cNvPr>
            <p:cNvSpPr/>
            <p:nvPr/>
          </p:nvSpPr>
          <p:spPr>
            <a:xfrm>
              <a:off x="1005840" y="969264"/>
              <a:ext cx="3291840" cy="50292"/>
            </a:xfrm>
            <a:prstGeom prst="rect">
              <a:avLst/>
            </a:prstGeom>
            <a:solidFill>
              <a:srgbClr val="185FA5"/>
            </a:solidFill>
            <a:ln w="0">
              <a:solidFill>
                <a:srgbClr val="185FA5"/>
              </a:solidFill>
            </a:ln>
          </p:spPr>
          <p:txBody>
            <a:bodyPr/>
            <a:lstStyle/>
            <a:p>
              <a:endParaRPr lang="en-US" sz="2800"/>
            </a:p>
          </p:txBody>
        </p:sp>
        <p:sp>
          <p:nvSpPr>
            <p:cNvPr id="163" name="Web frontend_title">
              <a:extLst>
                <a:ext uri="{FF2B5EF4-FFF2-40B4-BE49-F238E27FC236}">
                  <a16:creationId xmlns:a16="http://schemas.microsoft.com/office/drawing/2014/main" id="{20B7E346-3C60-2CD8-97EB-1829DD7A717F}"/>
                </a:ext>
              </a:extLst>
            </p:cNvPr>
            <p:cNvSpPr txBox="1"/>
            <p:nvPr/>
          </p:nvSpPr>
          <p:spPr>
            <a:xfrm>
              <a:off x="1097280" y="1014984"/>
              <a:ext cx="3108960" cy="201168"/>
            </a:xfrm>
            <a:prstGeom prst="rect">
              <a:avLst/>
            </a:prstGeom>
            <a:noFill/>
            <a:ln>
              <a:noFill/>
            </a:ln>
          </p:spPr>
          <p:txBody>
            <a:bodyPr wrap="square" rtlCol="0"/>
            <a:lstStyle/>
            <a:p>
              <a:pPr algn="l"/>
              <a:r>
                <a:rPr lang="en-US" sz="1100" b="1" dirty="0">
                  <a:solidFill>
                    <a:srgbClr val="042C53"/>
                  </a:solidFill>
                </a:rPr>
                <a:t>Web frontend</a:t>
              </a:r>
            </a:p>
          </p:txBody>
        </p:sp>
        <p:sp>
          <p:nvSpPr>
            <p:cNvPr id="164" name="Web frontend_sub">
              <a:extLst>
                <a:ext uri="{FF2B5EF4-FFF2-40B4-BE49-F238E27FC236}">
                  <a16:creationId xmlns:a16="http://schemas.microsoft.com/office/drawing/2014/main" id="{CBA872E7-4CB9-2AE9-FF5D-C0152A2F5463}"/>
                </a:ext>
              </a:extLst>
            </p:cNvPr>
            <p:cNvSpPr txBox="1"/>
            <p:nvPr/>
          </p:nvSpPr>
          <p:spPr>
            <a:xfrm>
              <a:off x="1097280" y="1216152"/>
              <a:ext cx="3127248" cy="91439"/>
            </a:xfrm>
            <a:prstGeom prst="rect">
              <a:avLst/>
            </a:prstGeom>
            <a:noFill/>
            <a:ln>
              <a:noFill/>
            </a:ln>
          </p:spPr>
          <p:txBody>
            <a:bodyPr wrap="square" rtlCol="0"/>
            <a:lstStyle/>
            <a:p>
              <a:pPr algn="l"/>
              <a:r>
                <a:rPr lang="en-US" sz="1000" b="0" dirty="0">
                  <a:solidFill>
                    <a:srgbClr val="0C447C"/>
                  </a:solidFill>
                </a:rPr>
                <a:t>Flask + HTML/JS  ·  browser upload interface</a:t>
              </a:r>
            </a:p>
          </p:txBody>
        </p:sp>
        <p:sp>
          <p:nvSpPr>
            <p:cNvPr id="165" name="REST API client_bg">
              <a:extLst>
                <a:ext uri="{FF2B5EF4-FFF2-40B4-BE49-F238E27FC236}">
                  <a16:creationId xmlns:a16="http://schemas.microsoft.com/office/drawing/2014/main" id="{91C0CF04-2BBB-98AF-D7F9-E2F98187AA99}"/>
                </a:ext>
              </a:extLst>
            </p:cNvPr>
            <p:cNvSpPr/>
            <p:nvPr/>
          </p:nvSpPr>
          <p:spPr>
            <a:xfrm>
              <a:off x="4617720" y="969264"/>
              <a:ext cx="3291840" cy="384048"/>
            </a:xfrm>
            <a:prstGeom prst="rect">
              <a:avLst/>
            </a:prstGeom>
            <a:solidFill>
              <a:srgbClr val="FFFFFF"/>
            </a:solidFill>
            <a:ln w="9525">
              <a:solidFill>
                <a:srgbClr val="185FA5"/>
              </a:solidFill>
            </a:ln>
          </p:spPr>
          <p:txBody>
            <a:bodyPr/>
            <a:lstStyle/>
            <a:p>
              <a:endParaRPr lang="en-US" sz="2800"/>
            </a:p>
          </p:txBody>
        </p:sp>
        <p:sp>
          <p:nvSpPr>
            <p:cNvPr id="166" name="REST API client_top">
              <a:extLst>
                <a:ext uri="{FF2B5EF4-FFF2-40B4-BE49-F238E27FC236}">
                  <a16:creationId xmlns:a16="http://schemas.microsoft.com/office/drawing/2014/main" id="{74A4CBA2-E621-0317-9CFF-60957508AE22}"/>
                </a:ext>
              </a:extLst>
            </p:cNvPr>
            <p:cNvSpPr/>
            <p:nvPr/>
          </p:nvSpPr>
          <p:spPr>
            <a:xfrm>
              <a:off x="4617720" y="969264"/>
              <a:ext cx="3291840" cy="50292"/>
            </a:xfrm>
            <a:prstGeom prst="rect">
              <a:avLst/>
            </a:prstGeom>
            <a:solidFill>
              <a:srgbClr val="185FA5"/>
            </a:solidFill>
            <a:ln w="0">
              <a:solidFill>
                <a:srgbClr val="185FA5"/>
              </a:solidFill>
            </a:ln>
          </p:spPr>
          <p:txBody>
            <a:bodyPr/>
            <a:lstStyle/>
            <a:p>
              <a:endParaRPr lang="en-US" sz="2800"/>
            </a:p>
          </p:txBody>
        </p:sp>
        <p:sp>
          <p:nvSpPr>
            <p:cNvPr id="167" name="REST API client_title">
              <a:extLst>
                <a:ext uri="{FF2B5EF4-FFF2-40B4-BE49-F238E27FC236}">
                  <a16:creationId xmlns:a16="http://schemas.microsoft.com/office/drawing/2014/main" id="{B77982CF-2694-703A-D5D5-FB8E80BC806C}"/>
                </a:ext>
              </a:extLst>
            </p:cNvPr>
            <p:cNvSpPr txBox="1"/>
            <p:nvPr/>
          </p:nvSpPr>
          <p:spPr>
            <a:xfrm>
              <a:off x="4709159" y="1014984"/>
              <a:ext cx="3108960" cy="201168"/>
            </a:xfrm>
            <a:prstGeom prst="rect">
              <a:avLst/>
            </a:prstGeom>
            <a:noFill/>
            <a:ln>
              <a:noFill/>
            </a:ln>
          </p:spPr>
          <p:txBody>
            <a:bodyPr wrap="square" rtlCol="0"/>
            <a:lstStyle/>
            <a:p>
              <a:pPr algn="l"/>
              <a:r>
                <a:rPr lang="en-US" sz="1100" b="1" dirty="0">
                  <a:solidFill>
                    <a:srgbClr val="042C53"/>
                  </a:solidFill>
                </a:rPr>
                <a:t>REST API client</a:t>
              </a:r>
            </a:p>
          </p:txBody>
        </p:sp>
        <p:sp>
          <p:nvSpPr>
            <p:cNvPr id="168" name="REST API client_sub">
              <a:extLst>
                <a:ext uri="{FF2B5EF4-FFF2-40B4-BE49-F238E27FC236}">
                  <a16:creationId xmlns:a16="http://schemas.microsoft.com/office/drawing/2014/main" id="{AA1083CB-C774-48E1-6969-F059B4FA8146}"/>
                </a:ext>
              </a:extLst>
            </p:cNvPr>
            <p:cNvSpPr txBox="1"/>
            <p:nvPr/>
          </p:nvSpPr>
          <p:spPr>
            <a:xfrm>
              <a:off x="4709159" y="1216152"/>
              <a:ext cx="3127248" cy="91439"/>
            </a:xfrm>
            <a:prstGeom prst="rect">
              <a:avLst/>
            </a:prstGeom>
            <a:noFill/>
            <a:ln>
              <a:noFill/>
            </a:ln>
          </p:spPr>
          <p:txBody>
            <a:bodyPr wrap="square" rtlCol="0"/>
            <a:lstStyle/>
            <a:p>
              <a:pPr algn="l"/>
              <a:r>
                <a:rPr lang="en-US" sz="1000" b="0" dirty="0">
                  <a:solidFill>
                    <a:srgbClr val="0C447C"/>
                  </a:solidFill>
                </a:rPr>
                <a:t>curl / Postman  ·  HTTP/JSON programmatic access</a:t>
              </a:r>
            </a:p>
          </p:txBody>
        </p:sp>
      </p:grpSp>
      <p:cxnSp>
        <p:nvCxnSpPr>
          <p:cNvPr id="169" name="conn">
            <a:extLst>
              <a:ext uri="{FF2B5EF4-FFF2-40B4-BE49-F238E27FC236}">
                <a16:creationId xmlns:a16="http://schemas.microsoft.com/office/drawing/2014/main" id="{D99D995B-E2B7-3D5C-5EC8-E51F0C55021A}"/>
              </a:ext>
            </a:extLst>
          </p:cNvPr>
          <p:cNvCxnSpPr>
            <a:cxnSpLocks/>
          </p:cNvCxnSpPr>
          <p:nvPr/>
        </p:nvCxnSpPr>
        <p:spPr>
          <a:xfrm>
            <a:off x="5612527" y="2135902"/>
            <a:ext cx="0" cy="97108"/>
          </a:xfrm>
          <a:prstGeom prst="line">
            <a:avLst/>
          </a:prstGeom>
          <a:noFill/>
          <a:ln w="15240">
            <a:solidFill>
              <a:srgbClr val="534AB7"/>
            </a:solidFill>
            <a:tailEnd type="arrow"/>
          </a:ln>
        </p:spPr>
      </p:cxnSp>
      <p:grpSp>
        <p:nvGrpSpPr>
          <p:cNvPr id="170" name="GROUP_backend_layer">
            <a:extLst>
              <a:ext uri="{FF2B5EF4-FFF2-40B4-BE49-F238E27FC236}">
                <a16:creationId xmlns:a16="http://schemas.microsoft.com/office/drawing/2014/main" id="{C2F1E776-7946-569F-3A17-C2939165122D}"/>
              </a:ext>
            </a:extLst>
          </p:cNvPr>
          <p:cNvGrpSpPr/>
          <p:nvPr/>
        </p:nvGrpSpPr>
        <p:grpSpPr>
          <a:xfrm>
            <a:off x="823751" y="2240580"/>
            <a:ext cx="9555480" cy="693199"/>
            <a:chOff x="228600" y="1499616"/>
            <a:chExt cx="8686800" cy="530352"/>
          </a:xfrm>
        </p:grpSpPr>
        <p:sp>
          <p:nvSpPr>
            <p:cNvPr id="171" name="shape">
              <a:extLst>
                <a:ext uri="{FF2B5EF4-FFF2-40B4-BE49-F238E27FC236}">
                  <a16:creationId xmlns:a16="http://schemas.microsoft.com/office/drawing/2014/main" id="{85371904-65E2-012C-0119-114C993210AF}"/>
                </a:ext>
              </a:extLst>
            </p:cNvPr>
            <p:cNvSpPr/>
            <p:nvPr/>
          </p:nvSpPr>
          <p:spPr>
            <a:xfrm>
              <a:off x="228600" y="1499616"/>
              <a:ext cx="8686800" cy="530352"/>
            </a:xfrm>
            <a:prstGeom prst="rect">
              <a:avLst/>
            </a:prstGeom>
            <a:solidFill>
              <a:srgbClr val="EEEDFE"/>
            </a:solidFill>
            <a:ln w="9525">
              <a:solidFill>
                <a:srgbClr val="534AB7"/>
              </a:solidFill>
            </a:ln>
          </p:spPr>
          <p:txBody>
            <a:bodyPr/>
            <a:lstStyle/>
            <a:p>
              <a:endParaRPr lang="en-US" sz="2800"/>
            </a:p>
          </p:txBody>
        </p:sp>
        <p:sp>
          <p:nvSpPr>
            <p:cNvPr id="172" name="shape">
              <a:extLst>
                <a:ext uri="{FF2B5EF4-FFF2-40B4-BE49-F238E27FC236}">
                  <a16:creationId xmlns:a16="http://schemas.microsoft.com/office/drawing/2014/main" id="{73061304-9FE9-EB23-53EF-C23D8DBA1A77}"/>
                </a:ext>
              </a:extLst>
            </p:cNvPr>
            <p:cNvSpPr/>
            <p:nvPr/>
          </p:nvSpPr>
          <p:spPr>
            <a:xfrm>
              <a:off x="228600" y="1499616"/>
              <a:ext cx="8686800" cy="59436"/>
            </a:xfrm>
            <a:prstGeom prst="rect">
              <a:avLst/>
            </a:prstGeom>
            <a:solidFill>
              <a:srgbClr val="534AB7"/>
            </a:solidFill>
            <a:ln w="0">
              <a:solidFill>
                <a:srgbClr val="534AB7"/>
              </a:solidFill>
            </a:ln>
          </p:spPr>
          <p:txBody>
            <a:bodyPr/>
            <a:lstStyle/>
            <a:p>
              <a:endParaRPr lang="en-US" sz="2800"/>
            </a:p>
          </p:txBody>
        </p:sp>
        <p:sp>
          <p:nvSpPr>
            <p:cNvPr id="173" name="shape">
              <a:extLst>
                <a:ext uri="{FF2B5EF4-FFF2-40B4-BE49-F238E27FC236}">
                  <a16:creationId xmlns:a16="http://schemas.microsoft.com/office/drawing/2014/main" id="{E94323D1-B5EE-AA89-80BE-0BB9F8F67AC8}"/>
                </a:ext>
              </a:extLst>
            </p:cNvPr>
            <p:cNvSpPr/>
            <p:nvPr/>
          </p:nvSpPr>
          <p:spPr>
            <a:xfrm>
              <a:off x="320040" y="1572768"/>
              <a:ext cx="658368" cy="384048"/>
            </a:xfrm>
            <a:prstGeom prst="rect">
              <a:avLst/>
            </a:prstGeom>
            <a:solidFill>
              <a:srgbClr val="534AB7"/>
            </a:solidFill>
            <a:ln w="0">
              <a:solidFill>
                <a:srgbClr val="534AB7"/>
              </a:solidFill>
            </a:ln>
          </p:spPr>
          <p:txBody>
            <a:bodyPr/>
            <a:lstStyle/>
            <a:p>
              <a:endParaRPr lang="en-US" sz="2800"/>
            </a:p>
          </p:txBody>
        </p:sp>
        <p:sp>
          <p:nvSpPr>
            <p:cNvPr id="174" name="text">
              <a:extLst>
                <a:ext uri="{FF2B5EF4-FFF2-40B4-BE49-F238E27FC236}">
                  <a16:creationId xmlns:a16="http://schemas.microsoft.com/office/drawing/2014/main" id="{E5C1143D-8EA7-D413-EAFE-BAE1FEBD76D4}"/>
                </a:ext>
              </a:extLst>
            </p:cNvPr>
            <p:cNvSpPr txBox="1"/>
            <p:nvPr/>
          </p:nvSpPr>
          <p:spPr>
            <a:xfrm>
              <a:off x="320040" y="1572768"/>
              <a:ext cx="658368" cy="384048"/>
            </a:xfrm>
            <a:prstGeom prst="rect">
              <a:avLst/>
            </a:prstGeom>
            <a:noFill/>
            <a:ln>
              <a:noFill/>
            </a:ln>
          </p:spPr>
          <p:txBody>
            <a:bodyPr wrap="square" rtlCol="0"/>
            <a:lstStyle/>
            <a:p>
              <a:pPr algn="ctr"/>
              <a:r>
                <a:rPr lang="en-US" sz="1000" b="1" dirty="0">
                  <a:solidFill>
                    <a:srgbClr val="FFFFFF"/>
                  </a:solidFill>
                </a:rPr>
                <a:t>Back-
end</a:t>
              </a:r>
            </a:p>
          </p:txBody>
        </p:sp>
        <p:sp>
          <p:nvSpPr>
            <p:cNvPr id="175" name="FastAPI server_bg">
              <a:extLst>
                <a:ext uri="{FF2B5EF4-FFF2-40B4-BE49-F238E27FC236}">
                  <a16:creationId xmlns:a16="http://schemas.microsoft.com/office/drawing/2014/main" id="{111019F4-0382-0DD5-5E69-F074C248B3B6}"/>
                </a:ext>
              </a:extLst>
            </p:cNvPr>
            <p:cNvSpPr/>
            <p:nvPr/>
          </p:nvSpPr>
          <p:spPr>
            <a:xfrm>
              <a:off x="1005840" y="1572768"/>
              <a:ext cx="6903720" cy="384048"/>
            </a:xfrm>
            <a:prstGeom prst="rect">
              <a:avLst/>
            </a:prstGeom>
            <a:solidFill>
              <a:srgbClr val="FFFFFF"/>
            </a:solidFill>
            <a:ln w="9525">
              <a:solidFill>
                <a:srgbClr val="534AB7"/>
              </a:solidFill>
            </a:ln>
          </p:spPr>
          <p:txBody>
            <a:bodyPr/>
            <a:lstStyle/>
            <a:p>
              <a:endParaRPr lang="en-US" sz="2800"/>
            </a:p>
          </p:txBody>
        </p:sp>
        <p:sp>
          <p:nvSpPr>
            <p:cNvPr id="176" name="FastAPI server_top">
              <a:extLst>
                <a:ext uri="{FF2B5EF4-FFF2-40B4-BE49-F238E27FC236}">
                  <a16:creationId xmlns:a16="http://schemas.microsoft.com/office/drawing/2014/main" id="{19169153-6261-3E1B-E6C4-A8C033E949C1}"/>
                </a:ext>
              </a:extLst>
            </p:cNvPr>
            <p:cNvSpPr/>
            <p:nvPr/>
          </p:nvSpPr>
          <p:spPr>
            <a:xfrm>
              <a:off x="1005840" y="1572768"/>
              <a:ext cx="6903720" cy="50292"/>
            </a:xfrm>
            <a:prstGeom prst="rect">
              <a:avLst/>
            </a:prstGeom>
            <a:solidFill>
              <a:srgbClr val="534AB7"/>
            </a:solidFill>
            <a:ln w="0">
              <a:solidFill>
                <a:srgbClr val="534AB7"/>
              </a:solidFill>
            </a:ln>
          </p:spPr>
          <p:txBody>
            <a:bodyPr/>
            <a:lstStyle/>
            <a:p>
              <a:endParaRPr lang="en-US" sz="2800"/>
            </a:p>
          </p:txBody>
        </p:sp>
        <p:sp>
          <p:nvSpPr>
            <p:cNvPr id="177" name="FastAPI server_title">
              <a:extLst>
                <a:ext uri="{FF2B5EF4-FFF2-40B4-BE49-F238E27FC236}">
                  <a16:creationId xmlns:a16="http://schemas.microsoft.com/office/drawing/2014/main" id="{167BFCA3-8466-76D6-930E-743B23D0F9CA}"/>
                </a:ext>
              </a:extLst>
            </p:cNvPr>
            <p:cNvSpPr txBox="1"/>
            <p:nvPr/>
          </p:nvSpPr>
          <p:spPr>
            <a:xfrm>
              <a:off x="1097280" y="1618488"/>
              <a:ext cx="6720840" cy="201168"/>
            </a:xfrm>
            <a:prstGeom prst="rect">
              <a:avLst/>
            </a:prstGeom>
            <a:noFill/>
            <a:ln>
              <a:noFill/>
            </a:ln>
          </p:spPr>
          <p:txBody>
            <a:bodyPr wrap="square" rtlCol="0"/>
            <a:lstStyle/>
            <a:p>
              <a:pPr algn="l"/>
              <a:r>
                <a:rPr lang="en-US" sz="1100" b="1" dirty="0">
                  <a:solidFill>
                    <a:srgbClr val="26215C"/>
                  </a:solidFill>
                </a:rPr>
                <a:t>FastAPI server</a:t>
              </a:r>
            </a:p>
          </p:txBody>
        </p:sp>
        <p:sp>
          <p:nvSpPr>
            <p:cNvPr id="178" name="FastAPI server_sub">
              <a:extLst>
                <a:ext uri="{FF2B5EF4-FFF2-40B4-BE49-F238E27FC236}">
                  <a16:creationId xmlns:a16="http://schemas.microsoft.com/office/drawing/2014/main" id="{0025CB00-78E0-D2C8-F9D2-24CE6215D615}"/>
                </a:ext>
              </a:extLst>
            </p:cNvPr>
            <p:cNvSpPr txBox="1"/>
            <p:nvPr/>
          </p:nvSpPr>
          <p:spPr>
            <a:xfrm>
              <a:off x="1097280" y="1819656"/>
              <a:ext cx="6739128" cy="91439"/>
            </a:xfrm>
            <a:prstGeom prst="rect">
              <a:avLst/>
            </a:prstGeom>
            <a:noFill/>
            <a:ln>
              <a:noFill/>
            </a:ln>
          </p:spPr>
          <p:txBody>
            <a:bodyPr wrap="square" rtlCol="0"/>
            <a:lstStyle/>
            <a:p>
              <a:pPr algn="l"/>
              <a:r>
                <a:rPr lang="en-US" sz="1000" b="0" dirty="0">
                  <a:solidFill>
                    <a:srgbClr val="3C3489"/>
                  </a:solidFill>
                </a:rPr>
                <a:t>POST /analyze  ·  POST /analyze/text  ·  GET /health  ·  GET /stats  ·  POST /refresh</a:t>
              </a:r>
            </a:p>
          </p:txBody>
        </p:sp>
      </p:grpSp>
      <p:cxnSp>
        <p:nvCxnSpPr>
          <p:cNvPr id="179" name="conn">
            <a:extLst>
              <a:ext uri="{FF2B5EF4-FFF2-40B4-BE49-F238E27FC236}">
                <a16:creationId xmlns:a16="http://schemas.microsoft.com/office/drawing/2014/main" id="{730B5C86-311D-0017-0556-487482720DAC}"/>
              </a:ext>
            </a:extLst>
          </p:cNvPr>
          <p:cNvCxnSpPr>
            <a:cxnSpLocks/>
          </p:cNvCxnSpPr>
          <p:nvPr/>
        </p:nvCxnSpPr>
        <p:spPr>
          <a:xfrm>
            <a:off x="5632234" y="2952238"/>
            <a:ext cx="0" cy="97108"/>
          </a:xfrm>
          <a:prstGeom prst="line">
            <a:avLst/>
          </a:prstGeom>
          <a:noFill/>
          <a:ln w="15240">
            <a:solidFill>
              <a:srgbClr val="0F6E56"/>
            </a:solidFill>
            <a:tailEnd type="arrow"/>
          </a:ln>
        </p:spPr>
      </p:cxnSp>
      <p:grpSp>
        <p:nvGrpSpPr>
          <p:cNvPr id="180" name="GROUP_engine_layer">
            <a:extLst>
              <a:ext uri="{FF2B5EF4-FFF2-40B4-BE49-F238E27FC236}">
                <a16:creationId xmlns:a16="http://schemas.microsoft.com/office/drawing/2014/main" id="{0E751C5F-45ED-474F-BE5F-D31E218D44E7}"/>
              </a:ext>
            </a:extLst>
          </p:cNvPr>
          <p:cNvGrpSpPr/>
          <p:nvPr/>
        </p:nvGrpSpPr>
        <p:grpSpPr>
          <a:xfrm>
            <a:off x="823751" y="3041131"/>
            <a:ext cx="9555480" cy="755396"/>
            <a:chOff x="228600" y="2103120"/>
            <a:chExt cx="8686800" cy="621792"/>
          </a:xfrm>
        </p:grpSpPr>
        <p:sp>
          <p:nvSpPr>
            <p:cNvPr id="181" name="shape">
              <a:extLst>
                <a:ext uri="{FF2B5EF4-FFF2-40B4-BE49-F238E27FC236}">
                  <a16:creationId xmlns:a16="http://schemas.microsoft.com/office/drawing/2014/main" id="{CB22F705-6325-E225-4A89-DE48B52C74B3}"/>
                </a:ext>
              </a:extLst>
            </p:cNvPr>
            <p:cNvSpPr/>
            <p:nvPr/>
          </p:nvSpPr>
          <p:spPr>
            <a:xfrm>
              <a:off x="228600" y="2103120"/>
              <a:ext cx="8686800" cy="621792"/>
            </a:xfrm>
            <a:prstGeom prst="rect">
              <a:avLst/>
            </a:prstGeom>
            <a:solidFill>
              <a:srgbClr val="E1F5EE"/>
            </a:solidFill>
            <a:ln w="9525">
              <a:solidFill>
                <a:srgbClr val="0F6E56"/>
              </a:solidFill>
            </a:ln>
          </p:spPr>
          <p:txBody>
            <a:bodyPr/>
            <a:lstStyle/>
            <a:p>
              <a:endParaRPr lang="en-US" sz="2800"/>
            </a:p>
          </p:txBody>
        </p:sp>
        <p:sp>
          <p:nvSpPr>
            <p:cNvPr id="182" name="shape">
              <a:extLst>
                <a:ext uri="{FF2B5EF4-FFF2-40B4-BE49-F238E27FC236}">
                  <a16:creationId xmlns:a16="http://schemas.microsoft.com/office/drawing/2014/main" id="{4BAD2245-882A-B416-E8C4-9DD093224934}"/>
                </a:ext>
              </a:extLst>
            </p:cNvPr>
            <p:cNvSpPr/>
            <p:nvPr/>
          </p:nvSpPr>
          <p:spPr>
            <a:xfrm>
              <a:off x="228600" y="2103120"/>
              <a:ext cx="8686800" cy="59436"/>
            </a:xfrm>
            <a:prstGeom prst="rect">
              <a:avLst/>
            </a:prstGeom>
            <a:solidFill>
              <a:srgbClr val="0F6E56"/>
            </a:solidFill>
            <a:ln w="0">
              <a:solidFill>
                <a:srgbClr val="0F6E56"/>
              </a:solidFill>
            </a:ln>
          </p:spPr>
          <p:txBody>
            <a:bodyPr/>
            <a:lstStyle/>
            <a:p>
              <a:endParaRPr lang="en-US" sz="2800"/>
            </a:p>
          </p:txBody>
        </p:sp>
        <p:sp>
          <p:nvSpPr>
            <p:cNvPr id="183" name="shape">
              <a:extLst>
                <a:ext uri="{FF2B5EF4-FFF2-40B4-BE49-F238E27FC236}">
                  <a16:creationId xmlns:a16="http://schemas.microsoft.com/office/drawing/2014/main" id="{3232C155-E863-F28D-3649-C8078651C0BB}"/>
                </a:ext>
              </a:extLst>
            </p:cNvPr>
            <p:cNvSpPr/>
            <p:nvPr/>
          </p:nvSpPr>
          <p:spPr>
            <a:xfrm>
              <a:off x="320040" y="2176272"/>
              <a:ext cx="658368" cy="548640"/>
            </a:xfrm>
            <a:prstGeom prst="rect">
              <a:avLst/>
            </a:prstGeom>
            <a:solidFill>
              <a:srgbClr val="0F6E56"/>
            </a:solidFill>
            <a:ln w="0">
              <a:solidFill>
                <a:srgbClr val="0F6E56"/>
              </a:solidFill>
            </a:ln>
          </p:spPr>
          <p:txBody>
            <a:bodyPr/>
            <a:lstStyle/>
            <a:p>
              <a:endParaRPr lang="en-US" sz="2800"/>
            </a:p>
          </p:txBody>
        </p:sp>
        <p:sp>
          <p:nvSpPr>
            <p:cNvPr id="184" name="text">
              <a:extLst>
                <a:ext uri="{FF2B5EF4-FFF2-40B4-BE49-F238E27FC236}">
                  <a16:creationId xmlns:a16="http://schemas.microsoft.com/office/drawing/2014/main" id="{1B32C26C-8E0D-5D1A-BC52-D7BE8577494A}"/>
                </a:ext>
              </a:extLst>
            </p:cNvPr>
            <p:cNvSpPr txBox="1"/>
            <p:nvPr/>
          </p:nvSpPr>
          <p:spPr>
            <a:xfrm>
              <a:off x="320040" y="2176272"/>
              <a:ext cx="658368" cy="548640"/>
            </a:xfrm>
            <a:prstGeom prst="rect">
              <a:avLst/>
            </a:prstGeom>
            <a:noFill/>
            <a:ln>
              <a:noFill/>
            </a:ln>
          </p:spPr>
          <p:txBody>
            <a:bodyPr wrap="square" rtlCol="0"/>
            <a:lstStyle/>
            <a:p>
              <a:pPr algn="ctr"/>
              <a:r>
                <a:rPr lang="en-US" sz="1000" b="1" dirty="0">
                  <a:solidFill>
                    <a:srgbClr val="FFFFFF"/>
                  </a:solidFill>
                </a:rPr>
                <a:t>Engine
layer</a:t>
              </a:r>
            </a:p>
          </p:txBody>
        </p:sp>
        <p:sp>
          <p:nvSpPr>
            <p:cNvPr id="185" name="Signal extractor_bg">
              <a:extLst>
                <a:ext uri="{FF2B5EF4-FFF2-40B4-BE49-F238E27FC236}">
                  <a16:creationId xmlns:a16="http://schemas.microsoft.com/office/drawing/2014/main" id="{9DAC16F4-639E-1A75-1804-00B33EC48E77}"/>
                </a:ext>
              </a:extLst>
            </p:cNvPr>
            <p:cNvSpPr/>
            <p:nvPr/>
          </p:nvSpPr>
          <p:spPr>
            <a:xfrm>
              <a:off x="1005840" y="2194560"/>
              <a:ext cx="1719072" cy="475488"/>
            </a:xfrm>
            <a:prstGeom prst="rect">
              <a:avLst/>
            </a:prstGeom>
            <a:solidFill>
              <a:srgbClr val="FFFFFF"/>
            </a:solidFill>
            <a:ln w="9525">
              <a:solidFill>
                <a:srgbClr val="0F6E56"/>
              </a:solidFill>
            </a:ln>
          </p:spPr>
          <p:txBody>
            <a:bodyPr/>
            <a:lstStyle/>
            <a:p>
              <a:endParaRPr lang="en-US" sz="2800"/>
            </a:p>
          </p:txBody>
        </p:sp>
        <p:sp>
          <p:nvSpPr>
            <p:cNvPr id="186" name="Signal extractor_top">
              <a:extLst>
                <a:ext uri="{FF2B5EF4-FFF2-40B4-BE49-F238E27FC236}">
                  <a16:creationId xmlns:a16="http://schemas.microsoft.com/office/drawing/2014/main" id="{FECDF5FC-A992-5F35-761D-52F5BAE016AD}"/>
                </a:ext>
              </a:extLst>
            </p:cNvPr>
            <p:cNvSpPr/>
            <p:nvPr/>
          </p:nvSpPr>
          <p:spPr>
            <a:xfrm>
              <a:off x="1005840" y="2194560"/>
              <a:ext cx="1719072" cy="50292"/>
            </a:xfrm>
            <a:prstGeom prst="rect">
              <a:avLst/>
            </a:prstGeom>
            <a:solidFill>
              <a:srgbClr val="0F6E56"/>
            </a:solidFill>
            <a:ln w="0">
              <a:solidFill>
                <a:srgbClr val="0F6E56"/>
              </a:solidFill>
            </a:ln>
          </p:spPr>
          <p:txBody>
            <a:bodyPr/>
            <a:lstStyle/>
            <a:p>
              <a:endParaRPr lang="en-US" sz="2800"/>
            </a:p>
          </p:txBody>
        </p:sp>
        <p:sp>
          <p:nvSpPr>
            <p:cNvPr id="187" name="Signal extractor_title">
              <a:extLst>
                <a:ext uri="{FF2B5EF4-FFF2-40B4-BE49-F238E27FC236}">
                  <a16:creationId xmlns:a16="http://schemas.microsoft.com/office/drawing/2014/main" id="{68483D08-2E53-6581-91E9-8521A847DE93}"/>
                </a:ext>
              </a:extLst>
            </p:cNvPr>
            <p:cNvSpPr txBox="1"/>
            <p:nvPr/>
          </p:nvSpPr>
          <p:spPr>
            <a:xfrm>
              <a:off x="1097280" y="2240279"/>
              <a:ext cx="1536192" cy="201168"/>
            </a:xfrm>
            <a:prstGeom prst="rect">
              <a:avLst/>
            </a:prstGeom>
            <a:noFill/>
            <a:ln>
              <a:noFill/>
            </a:ln>
          </p:spPr>
          <p:txBody>
            <a:bodyPr wrap="square" rtlCol="0"/>
            <a:lstStyle/>
            <a:p>
              <a:pPr algn="l"/>
              <a:r>
                <a:rPr lang="en-US" sz="1100" b="1" dirty="0">
                  <a:solidFill>
                    <a:srgbClr val="04342C"/>
                  </a:solidFill>
                </a:rPr>
                <a:t>Signal extractor</a:t>
              </a:r>
            </a:p>
          </p:txBody>
        </p:sp>
        <p:sp>
          <p:nvSpPr>
            <p:cNvPr id="188" name="Signal extractor_sub">
              <a:extLst>
                <a:ext uri="{FF2B5EF4-FFF2-40B4-BE49-F238E27FC236}">
                  <a16:creationId xmlns:a16="http://schemas.microsoft.com/office/drawing/2014/main" id="{6B01C702-AC16-3343-AA10-685733093DD9}"/>
                </a:ext>
              </a:extLst>
            </p:cNvPr>
            <p:cNvSpPr txBox="1"/>
            <p:nvPr/>
          </p:nvSpPr>
          <p:spPr>
            <a:xfrm>
              <a:off x="1078992" y="2458204"/>
              <a:ext cx="1554480" cy="182880"/>
            </a:xfrm>
            <a:prstGeom prst="rect">
              <a:avLst/>
            </a:prstGeom>
            <a:noFill/>
            <a:ln>
              <a:noFill/>
            </a:ln>
          </p:spPr>
          <p:txBody>
            <a:bodyPr wrap="square" rtlCol="0"/>
            <a:lstStyle/>
            <a:p>
              <a:pPr algn="l"/>
              <a:r>
                <a:rPr lang="en-US" sz="1000" b="0" dirty="0">
                  <a:solidFill>
                    <a:srgbClr val="085041"/>
                  </a:solidFill>
                </a:rPr>
                <a:t>50+ signals</a:t>
              </a:r>
            </a:p>
          </p:txBody>
        </p:sp>
        <p:cxnSp>
          <p:nvCxnSpPr>
            <p:cNvPr id="189" name="conn">
              <a:extLst>
                <a:ext uri="{FF2B5EF4-FFF2-40B4-BE49-F238E27FC236}">
                  <a16:creationId xmlns:a16="http://schemas.microsoft.com/office/drawing/2014/main" id="{4F35E4C7-9726-A332-117E-03167F754801}"/>
                </a:ext>
              </a:extLst>
            </p:cNvPr>
            <p:cNvCxnSpPr/>
            <p:nvPr/>
          </p:nvCxnSpPr>
          <p:spPr>
            <a:xfrm>
              <a:off x="2724912" y="2432304"/>
              <a:ext cx="128016" cy="0"/>
            </a:xfrm>
            <a:prstGeom prst="line">
              <a:avLst/>
            </a:prstGeom>
            <a:noFill/>
            <a:ln w="15240">
              <a:solidFill>
                <a:srgbClr val="1D9E75"/>
              </a:solidFill>
              <a:tailEnd type="arrow"/>
            </a:ln>
          </p:spPr>
        </p:cxnSp>
        <p:sp>
          <p:nvSpPr>
            <p:cNvPr id="190" name="Rule matcher_bg">
              <a:extLst>
                <a:ext uri="{FF2B5EF4-FFF2-40B4-BE49-F238E27FC236}">
                  <a16:creationId xmlns:a16="http://schemas.microsoft.com/office/drawing/2014/main" id="{F5A14A15-F622-F783-D92E-7F8938E6BF0F}"/>
                </a:ext>
              </a:extLst>
            </p:cNvPr>
            <p:cNvSpPr/>
            <p:nvPr/>
          </p:nvSpPr>
          <p:spPr>
            <a:xfrm>
              <a:off x="2852928" y="2194560"/>
              <a:ext cx="1719072" cy="475488"/>
            </a:xfrm>
            <a:prstGeom prst="rect">
              <a:avLst/>
            </a:prstGeom>
            <a:solidFill>
              <a:srgbClr val="FFFFFF"/>
            </a:solidFill>
            <a:ln w="9525">
              <a:solidFill>
                <a:srgbClr val="0F6E56"/>
              </a:solidFill>
            </a:ln>
          </p:spPr>
          <p:txBody>
            <a:bodyPr/>
            <a:lstStyle/>
            <a:p>
              <a:endParaRPr lang="en-US" sz="2800"/>
            </a:p>
          </p:txBody>
        </p:sp>
        <p:sp>
          <p:nvSpPr>
            <p:cNvPr id="191" name="Rule matcher_top">
              <a:extLst>
                <a:ext uri="{FF2B5EF4-FFF2-40B4-BE49-F238E27FC236}">
                  <a16:creationId xmlns:a16="http://schemas.microsoft.com/office/drawing/2014/main" id="{DEF63C45-4DF5-F390-8BA4-4B0B366268BF}"/>
                </a:ext>
              </a:extLst>
            </p:cNvPr>
            <p:cNvSpPr/>
            <p:nvPr/>
          </p:nvSpPr>
          <p:spPr>
            <a:xfrm>
              <a:off x="2852928" y="2194560"/>
              <a:ext cx="1719072" cy="50292"/>
            </a:xfrm>
            <a:prstGeom prst="rect">
              <a:avLst/>
            </a:prstGeom>
            <a:solidFill>
              <a:srgbClr val="0F6E56"/>
            </a:solidFill>
            <a:ln w="0">
              <a:solidFill>
                <a:srgbClr val="0F6E56"/>
              </a:solidFill>
            </a:ln>
          </p:spPr>
          <p:txBody>
            <a:bodyPr/>
            <a:lstStyle/>
            <a:p>
              <a:endParaRPr lang="en-US" sz="2800"/>
            </a:p>
          </p:txBody>
        </p:sp>
        <p:sp>
          <p:nvSpPr>
            <p:cNvPr id="192" name="Rule matcher_title">
              <a:extLst>
                <a:ext uri="{FF2B5EF4-FFF2-40B4-BE49-F238E27FC236}">
                  <a16:creationId xmlns:a16="http://schemas.microsoft.com/office/drawing/2014/main" id="{94C23512-6D7A-A658-13C6-EAD76ED075B5}"/>
                </a:ext>
              </a:extLst>
            </p:cNvPr>
            <p:cNvSpPr txBox="1"/>
            <p:nvPr/>
          </p:nvSpPr>
          <p:spPr>
            <a:xfrm>
              <a:off x="2944368" y="2240279"/>
              <a:ext cx="1536192" cy="201168"/>
            </a:xfrm>
            <a:prstGeom prst="rect">
              <a:avLst/>
            </a:prstGeom>
            <a:noFill/>
            <a:ln>
              <a:noFill/>
            </a:ln>
          </p:spPr>
          <p:txBody>
            <a:bodyPr wrap="square" rtlCol="0"/>
            <a:lstStyle/>
            <a:p>
              <a:pPr algn="l"/>
              <a:r>
                <a:rPr lang="en-US" sz="1100" b="1" dirty="0">
                  <a:solidFill>
                    <a:srgbClr val="04342C"/>
                  </a:solidFill>
                </a:rPr>
                <a:t>Rule matcher</a:t>
              </a:r>
            </a:p>
          </p:txBody>
        </p:sp>
        <p:sp>
          <p:nvSpPr>
            <p:cNvPr id="193" name="Rule matcher_sub">
              <a:extLst>
                <a:ext uri="{FF2B5EF4-FFF2-40B4-BE49-F238E27FC236}">
                  <a16:creationId xmlns:a16="http://schemas.microsoft.com/office/drawing/2014/main" id="{B47576DB-7EF2-82EA-01AF-EAFABA480939}"/>
                </a:ext>
              </a:extLst>
            </p:cNvPr>
            <p:cNvSpPr txBox="1"/>
            <p:nvPr/>
          </p:nvSpPr>
          <p:spPr>
            <a:xfrm>
              <a:off x="2944368" y="2441448"/>
              <a:ext cx="1554480" cy="182880"/>
            </a:xfrm>
            <a:prstGeom prst="rect">
              <a:avLst/>
            </a:prstGeom>
            <a:noFill/>
            <a:ln>
              <a:noFill/>
            </a:ln>
          </p:spPr>
          <p:txBody>
            <a:bodyPr wrap="square" rtlCol="0"/>
            <a:lstStyle/>
            <a:p>
              <a:pPr algn="l"/>
              <a:r>
                <a:rPr lang="en-US" sz="1000" b="0" dirty="0">
                  <a:solidFill>
                    <a:srgbClr val="085041"/>
                  </a:solidFill>
                </a:rPr>
                <a:t>Vector search · ChromaDB</a:t>
              </a:r>
            </a:p>
          </p:txBody>
        </p:sp>
        <p:cxnSp>
          <p:nvCxnSpPr>
            <p:cNvPr id="194" name="conn">
              <a:extLst>
                <a:ext uri="{FF2B5EF4-FFF2-40B4-BE49-F238E27FC236}">
                  <a16:creationId xmlns:a16="http://schemas.microsoft.com/office/drawing/2014/main" id="{25903B40-284F-F4C3-7318-27B65CF621B2}"/>
                </a:ext>
              </a:extLst>
            </p:cNvPr>
            <p:cNvCxnSpPr/>
            <p:nvPr/>
          </p:nvCxnSpPr>
          <p:spPr>
            <a:xfrm>
              <a:off x="4572000" y="2432304"/>
              <a:ext cx="128015" cy="0"/>
            </a:xfrm>
            <a:prstGeom prst="line">
              <a:avLst/>
            </a:prstGeom>
            <a:noFill/>
            <a:ln w="15240">
              <a:solidFill>
                <a:srgbClr val="1D9E75"/>
              </a:solidFill>
              <a:tailEnd type="arrow"/>
            </a:ln>
          </p:spPr>
        </p:cxnSp>
        <p:sp>
          <p:nvSpPr>
            <p:cNvPr id="195" name="Health scorer_bg">
              <a:extLst>
                <a:ext uri="{FF2B5EF4-FFF2-40B4-BE49-F238E27FC236}">
                  <a16:creationId xmlns:a16="http://schemas.microsoft.com/office/drawing/2014/main" id="{83D78813-4A37-E399-3E3C-26D450451C46}"/>
                </a:ext>
              </a:extLst>
            </p:cNvPr>
            <p:cNvSpPr/>
            <p:nvPr/>
          </p:nvSpPr>
          <p:spPr>
            <a:xfrm>
              <a:off x="4700016" y="2194560"/>
              <a:ext cx="1719072" cy="475488"/>
            </a:xfrm>
            <a:prstGeom prst="rect">
              <a:avLst/>
            </a:prstGeom>
            <a:solidFill>
              <a:srgbClr val="FFFFFF"/>
            </a:solidFill>
            <a:ln w="9525">
              <a:solidFill>
                <a:srgbClr val="0F6E56"/>
              </a:solidFill>
            </a:ln>
          </p:spPr>
          <p:txBody>
            <a:bodyPr/>
            <a:lstStyle/>
            <a:p>
              <a:endParaRPr lang="en-US" sz="2800"/>
            </a:p>
          </p:txBody>
        </p:sp>
        <p:sp>
          <p:nvSpPr>
            <p:cNvPr id="196" name="Health scorer_top">
              <a:extLst>
                <a:ext uri="{FF2B5EF4-FFF2-40B4-BE49-F238E27FC236}">
                  <a16:creationId xmlns:a16="http://schemas.microsoft.com/office/drawing/2014/main" id="{CFD476F1-F8AA-F0EA-77AF-DF83D506CB42}"/>
                </a:ext>
              </a:extLst>
            </p:cNvPr>
            <p:cNvSpPr/>
            <p:nvPr/>
          </p:nvSpPr>
          <p:spPr>
            <a:xfrm>
              <a:off x="4700016" y="2194560"/>
              <a:ext cx="1719072" cy="50292"/>
            </a:xfrm>
            <a:prstGeom prst="rect">
              <a:avLst/>
            </a:prstGeom>
            <a:solidFill>
              <a:srgbClr val="0F6E56"/>
            </a:solidFill>
            <a:ln w="0">
              <a:solidFill>
                <a:srgbClr val="0F6E56"/>
              </a:solidFill>
            </a:ln>
          </p:spPr>
          <p:txBody>
            <a:bodyPr/>
            <a:lstStyle/>
            <a:p>
              <a:endParaRPr lang="en-US" sz="2800"/>
            </a:p>
          </p:txBody>
        </p:sp>
        <p:sp>
          <p:nvSpPr>
            <p:cNvPr id="197" name="Health scorer_title">
              <a:extLst>
                <a:ext uri="{FF2B5EF4-FFF2-40B4-BE49-F238E27FC236}">
                  <a16:creationId xmlns:a16="http://schemas.microsoft.com/office/drawing/2014/main" id="{004FB6C5-6FED-620E-DBDD-FACD7D6DE40B}"/>
                </a:ext>
              </a:extLst>
            </p:cNvPr>
            <p:cNvSpPr txBox="1"/>
            <p:nvPr/>
          </p:nvSpPr>
          <p:spPr>
            <a:xfrm>
              <a:off x="4791455" y="2240279"/>
              <a:ext cx="1536192" cy="201168"/>
            </a:xfrm>
            <a:prstGeom prst="rect">
              <a:avLst/>
            </a:prstGeom>
            <a:noFill/>
            <a:ln>
              <a:noFill/>
            </a:ln>
          </p:spPr>
          <p:txBody>
            <a:bodyPr wrap="square" rtlCol="0"/>
            <a:lstStyle/>
            <a:p>
              <a:pPr algn="l"/>
              <a:r>
                <a:rPr lang="en-US" sz="1100" b="1" dirty="0">
                  <a:solidFill>
                    <a:srgbClr val="04342C"/>
                  </a:solidFill>
                </a:rPr>
                <a:t>Health scorer</a:t>
              </a:r>
            </a:p>
          </p:txBody>
        </p:sp>
        <p:sp>
          <p:nvSpPr>
            <p:cNvPr id="198" name="Health scorer_sub">
              <a:extLst>
                <a:ext uri="{FF2B5EF4-FFF2-40B4-BE49-F238E27FC236}">
                  <a16:creationId xmlns:a16="http://schemas.microsoft.com/office/drawing/2014/main" id="{496CCC41-E22E-FA96-BEAA-2D3D09413EF8}"/>
                </a:ext>
              </a:extLst>
            </p:cNvPr>
            <p:cNvSpPr txBox="1"/>
            <p:nvPr/>
          </p:nvSpPr>
          <p:spPr>
            <a:xfrm>
              <a:off x="4791455" y="2441448"/>
              <a:ext cx="1554480" cy="182880"/>
            </a:xfrm>
            <a:prstGeom prst="rect">
              <a:avLst/>
            </a:prstGeom>
            <a:noFill/>
            <a:ln>
              <a:noFill/>
            </a:ln>
          </p:spPr>
          <p:txBody>
            <a:bodyPr wrap="square" rtlCol="0"/>
            <a:lstStyle/>
            <a:p>
              <a:pPr algn="l"/>
              <a:r>
                <a:rPr lang="en-US" sz="1000" b="0" dirty="0">
                  <a:solidFill>
                    <a:srgbClr val="085041"/>
                  </a:solidFill>
                </a:rPr>
                <a:t>0–100 weighted</a:t>
              </a:r>
            </a:p>
          </p:txBody>
        </p:sp>
        <p:cxnSp>
          <p:nvCxnSpPr>
            <p:cNvPr id="199" name="conn">
              <a:extLst>
                <a:ext uri="{FF2B5EF4-FFF2-40B4-BE49-F238E27FC236}">
                  <a16:creationId xmlns:a16="http://schemas.microsoft.com/office/drawing/2014/main" id="{59999371-9994-E5FD-815F-1D2F372E93AB}"/>
                </a:ext>
              </a:extLst>
            </p:cNvPr>
            <p:cNvCxnSpPr/>
            <p:nvPr/>
          </p:nvCxnSpPr>
          <p:spPr>
            <a:xfrm>
              <a:off x="6419088" y="2432304"/>
              <a:ext cx="128016" cy="0"/>
            </a:xfrm>
            <a:prstGeom prst="line">
              <a:avLst/>
            </a:prstGeom>
            <a:noFill/>
            <a:ln w="15240">
              <a:solidFill>
                <a:srgbClr val="1D9E75"/>
              </a:solidFill>
              <a:tailEnd type="arrow"/>
            </a:ln>
          </p:spPr>
        </p:cxnSp>
        <p:sp>
          <p:nvSpPr>
            <p:cNvPr id="200" name="Report gen._bg">
              <a:extLst>
                <a:ext uri="{FF2B5EF4-FFF2-40B4-BE49-F238E27FC236}">
                  <a16:creationId xmlns:a16="http://schemas.microsoft.com/office/drawing/2014/main" id="{E3EAD789-299C-E04A-8C1B-DC1D3353710D}"/>
                </a:ext>
              </a:extLst>
            </p:cNvPr>
            <p:cNvSpPr/>
            <p:nvPr/>
          </p:nvSpPr>
          <p:spPr>
            <a:xfrm>
              <a:off x="6547104" y="2194560"/>
              <a:ext cx="1225296" cy="475488"/>
            </a:xfrm>
            <a:prstGeom prst="rect">
              <a:avLst/>
            </a:prstGeom>
            <a:solidFill>
              <a:srgbClr val="FFFFFF"/>
            </a:solidFill>
            <a:ln w="9525">
              <a:solidFill>
                <a:srgbClr val="0F6E56"/>
              </a:solidFill>
            </a:ln>
          </p:spPr>
          <p:txBody>
            <a:bodyPr/>
            <a:lstStyle/>
            <a:p>
              <a:endParaRPr lang="en-US" sz="2800"/>
            </a:p>
          </p:txBody>
        </p:sp>
        <p:sp>
          <p:nvSpPr>
            <p:cNvPr id="201" name="Report gen._top">
              <a:extLst>
                <a:ext uri="{FF2B5EF4-FFF2-40B4-BE49-F238E27FC236}">
                  <a16:creationId xmlns:a16="http://schemas.microsoft.com/office/drawing/2014/main" id="{42DF8844-30E6-68E0-8459-F74DEE73FE0E}"/>
                </a:ext>
              </a:extLst>
            </p:cNvPr>
            <p:cNvSpPr/>
            <p:nvPr/>
          </p:nvSpPr>
          <p:spPr>
            <a:xfrm>
              <a:off x="6547104" y="2194560"/>
              <a:ext cx="1225296" cy="50292"/>
            </a:xfrm>
            <a:prstGeom prst="rect">
              <a:avLst/>
            </a:prstGeom>
            <a:solidFill>
              <a:srgbClr val="0F6E56"/>
            </a:solidFill>
            <a:ln w="0">
              <a:solidFill>
                <a:srgbClr val="0F6E56"/>
              </a:solidFill>
            </a:ln>
          </p:spPr>
          <p:txBody>
            <a:bodyPr/>
            <a:lstStyle/>
            <a:p>
              <a:endParaRPr lang="en-US" sz="2800"/>
            </a:p>
          </p:txBody>
        </p:sp>
        <p:sp>
          <p:nvSpPr>
            <p:cNvPr id="202" name="Report gen._title">
              <a:extLst>
                <a:ext uri="{FF2B5EF4-FFF2-40B4-BE49-F238E27FC236}">
                  <a16:creationId xmlns:a16="http://schemas.microsoft.com/office/drawing/2014/main" id="{53677B9A-AF70-D917-14B4-6EC0E17C0FFE}"/>
                </a:ext>
              </a:extLst>
            </p:cNvPr>
            <p:cNvSpPr txBox="1"/>
            <p:nvPr/>
          </p:nvSpPr>
          <p:spPr>
            <a:xfrm>
              <a:off x="6638544" y="2240279"/>
              <a:ext cx="1042416" cy="201168"/>
            </a:xfrm>
            <a:prstGeom prst="rect">
              <a:avLst/>
            </a:prstGeom>
            <a:noFill/>
            <a:ln>
              <a:noFill/>
            </a:ln>
          </p:spPr>
          <p:txBody>
            <a:bodyPr wrap="square" rtlCol="0"/>
            <a:lstStyle/>
            <a:p>
              <a:pPr algn="l"/>
              <a:r>
                <a:rPr lang="en-US" sz="1100" b="1" dirty="0">
                  <a:solidFill>
                    <a:srgbClr val="04342C"/>
                  </a:solidFill>
                </a:rPr>
                <a:t>Report gen.</a:t>
              </a:r>
            </a:p>
          </p:txBody>
        </p:sp>
        <p:sp>
          <p:nvSpPr>
            <p:cNvPr id="203" name="Report gen._sub">
              <a:extLst>
                <a:ext uri="{FF2B5EF4-FFF2-40B4-BE49-F238E27FC236}">
                  <a16:creationId xmlns:a16="http://schemas.microsoft.com/office/drawing/2014/main" id="{1CE06EAD-2E18-1BE5-A256-4D38793D9B32}"/>
                </a:ext>
              </a:extLst>
            </p:cNvPr>
            <p:cNvSpPr txBox="1"/>
            <p:nvPr/>
          </p:nvSpPr>
          <p:spPr>
            <a:xfrm>
              <a:off x="6638544" y="2441448"/>
              <a:ext cx="1060704" cy="182880"/>
            </a:xfrm>
            <a:prstGeom prst="rect">
              <a:avLst/>
            </a:prstGeom>
            <a:noFill/>
            <a:ln>
              <a:noFill/>
            </a:ln>
          </p:spPr>
          <p:txBody>
            <a:bodyPr wrap="square" rtlCol="0"/>
            <a:lstStyle/>
            <a:p>
              <a:pPr algn="l"/>
              <a:r>
                <a:rPr lang="en-US" sz="1000" b="0" dirty="0">
                  <a:solidFill>
                    <a:srgbClr val="085041"/>
                  </a:solidFill>
                </a:rPr>
                <a:t>JSON / text</a:t>
              </a:r>
            </a:p>
          </p:txBody>
        </p:sp>
      </p:grpSp>
      <p:cxnSp>
        <p:nvCxnSpPr>
          <p:cNvPr id="204" name="conn">
            <a:extLst>
              <a:ext uri="{FF2B5EF4-FFF2-40B4-BE49-F238E27FC236}">
                <a16:creationId xmlns:a16="http://schemas.microsoft.com/office/drawing/2014/main" id="{0DB269D6-ED46-4507-7331-6F05BDDBF1FD}"/>
              </a:ext>
            </a:extLst>
          </p:cNvPr>
          <p:cNvCxnSpPr>
            <a:cxnSpLocks/>
          </p:cNvCxnSpPr>
          <p:nvPr/>
        </p:nvCxnSpPr>
        <p:spPr>
          <a:xfrm>
            <a:off x="4307614" y="3799146"/>
            <a:ext cx="0" cy="97109"/>
          </a:xfrm>
          <a:prstGeom prst="line">
            <a:avLst/>
          </a:prstGeom>
          <a:noFill/>
          <a:ln w="12700">
            <a:solidFill>
              <a:srgbClr val="1D9E75"/>
            </a:solidFill>
            <a:tailEnd type="arrow"/>
          </a:ln>
        </p:spPr>
      </p:cxnSp>
      <p:grpSp>
        <p:nvGrpSpPr>
          <p:cNvPr id="205" name="GROUP_vector_db">
            <a:extLst>
              <a:ext uri="{FF2B5EF4-FFF2-40B4-BE49-F238E27FC236}">
                <a16:creationId xmlns:a16="http://schemas.microsoft.com/office/drawing/2014/main" id="{99F3A35B-9018-FD83-D25C-3979ED044916}"/>
              </a:ext>
            </a:extLst>
          </p:cNvPr>
          <p:cNvGrpSpPr/>
          <p:nvPr/>
        </p:nvGrpSpPr>
        <p:grpSpPr>
          <a:xfrm>
            <a:off x="823750" y="3923540"/>
            <a:ext cx="4606747" cy="846917"/>
            <a:chOff x="228600" y="2871216"/>
            <a:chExt cx="4187952" cy="749808"/>
          </a:xfrm>
        </p:grpSpPr>
        <p:sp>
          <p:nvSpPr>
            <p:cNvPr id="206" name="shape">
              <a:extLst>
                <a:ext uri="{FF2B5EF4-FFF2-40B4-BE49-F238E27FC236}">
                  <a16:creationId xmlns:a16="http://schemas.microsoft.com/office/drawing/2014/main" id="{E5083934-E48B-06A5-4260-6D5F8AB78255}"/>
                </a:ext>
              </a:extLst>
            </p:cNvPr>
            <p:cNvSpPr/>
            <p:nvPr/>
          </p:nvSpPr>
          <p:spPr>
            <a:xfrm>
              <a:off x="228600" y="2871216"/>
              <a:ext cx="4187952" cy="749808"/>
            </a:xfrm>
            <a:prstGeom prst="rect">
              <a:avLst/>
            </a:prstGeom>
            <a:solidFill>
              <a:srgbClr val="FAEEDA"/>
            </a:solidFill>
            <a:ln w="9525">
              <a:solidFill>
                <a:srgbClr val="BA7517"/>
              </a:solidFill>
            </a:ln>
          </p:spPr>
          <p:txBody>
            <a:bodyPr/>
            <a:lstStyle/>
            <a:p>
              <a:endParaRPr lang="en-US" sz="2800"/>
            </a:p>
          </p:txBody>
        </p:sp>
        <p:sp>
          <p:nvSpPr>
            <p:cNvPr id="207" name="shape">
              <a:extLst>
                <a:ext uri="{FF2B5EF4-FFF2-40B4-BE49-F238E27FC236}">
                  <a16:creationId xmlns:a16="http://schemas.microsoft.com/office/drawing/2014/main" id="{DB52A7BE-94D5-F3DE-3B1D-593477FEDEF0}"/>
                </a:ext>
              </a:extLst>
            </p:cNvPr>
            <p:cNvSpPr/>
            <p:nvPr/>
          </p:nvSpPr>
          <p:spPr>
            <a:xfrm>
              <a:off x="228600" y="2871216"/>
              <a:ext cx="4187952" cy="59436"/>
            </a:xfrm>
            <a:prstGeom prst="rect">
              <a:avLst/>
            </a:prstGeom>
            <a:solidFill>
              <a:srgbClr val="BA7517"/>
            </a:solidFill>
            <a:ln w="0">
              <a:solidFill>
                <a:srgbClr val="BA7517"/>
              </a:solidFill>
            </a:ln>
          </p:spPr>
          <p:txBody>
            <a:bodyPr/>
            <a:lstStyle/>
            <a:p>
              <a:endParaRPr lang="en-US" sz="2800"/>
            </a:p>
          </p:txBody>
        </p:sp>
        <p:sp>
          <p:nvSpPr>
            <p:cNvPr id="208" name="shape">
              <a:extLst>
                <a:ext uri="{FF2B5EF4-FFF2-40B4-BE49-F238E27FC236}">
                  <a16:creationId xmlns:a16="http://schemas.microsoft.com/office/drawing/2014/main" id="{D442AFB2-9D54-481A-58E9-A2E20F3AA2A9}"/>
                </a:ext>
              </a:extLst>
            </p:cNvPr>
            <p:cNvSpPr/>
            <p:nvPr/>
          </p:nvSpPr>
          <p:spPr>
            <a:xfrm>
              <a:off x="320040" y="2944368"/>
              <a:ext cx="658368" cy="603503"/>
            </a:xfrm>
            <a:prstGeom prst="rect">
              <a:avLst/>
            </a:prstGeom>
            <a:solidFill>
              <a:srgbClr val="BA7517"/>
            </a:solidFill>
            <a:ln w="0">
              <a:solidFill>
                <a:srgbClr val="BA7517"/>
              </a:solidFill>
            </a:ln>
          </p:spPr>
          <p:txBody>
            <a:bodyPr/>
            <a:lstStyle/>
            <a:p>
              <a:endParaRPr lang="en-US" sz="2800"/>
            </a:p>
          </p:txBody>
        </p:sp>
        <p:sp>
          <p:nvSpPr>
            <p:cNvPr id="209" name="text">
              <a:extLst>
                <a:ext uri="{FF2B5EF4-FFF2-40B4-BE49-F238E27FC236}">
                  <a16:creationId xmlns:a16="http://schemas.microsoft.com/office/drawing/2014/main" id="{507FEA81-1F46-C07F-04C6-C841E76C9637}"/>
                </a:ext>
              </a:extLst>
            </p:cNvPr>
            <p:cNvSpPr txBox="1"/>
            <p:nvPr/>
          </p:nvSpPr>
          <p:spPr>
            <a:xfrm>
              <a:off x="320040" y="2944367"/>
              <a:ext cx="658368" cy="638379"/>
            </a:xfrm>
            <a:prstGeom prst="rect">
              <a:avLst/>
            </a:prstGeom>
            <a:noFill/>
            <a:ln>
              <a:noFill/>
            </a:ln>
          </p:spPr>
          <p:txBody>
            <a:bodyPr wrap="square" rtlCol="0"/>
            <a:lstStyle/>
            <a:p>
              <a:pPr algn="ctr"/>
              <a:r>
                <a:rPr lang="en-US" sz="1000" b="1" dirty="0">
                  <a:solidFill>
                    <a:srgbClr val="FFFFFF"/>
                  </a:solidFill>
                </a:rPr>
                <a:t>Vector
DB</a:t>
              </a:r>
            </a:p>
          </p:txBody>
        </p:sp>
        <p:sp>
          <p:nvSpPr>
            <p:cNvPr id="210" name="ChromaDB_bg">
              <a:extLst>
                <a:ext uri="{FF2B5EF4-FFF2-40B4-BE49-F238E27FC236}">
                  <a16:creationId xmlns:a16="http://schemas.microsoft.com/office/drawing/2014/main" id="{68543404-4322-96BB-AC34-ADF49E95383A}"/>
                </a:ext>
              </a:extLst>
            </p:cNvPr>
            <p:cNvSpPr/>
            <p:nvPr/>
          </p:nvSpPr>
          <p:spPr>
            <a:xfrm>
              <a:off x="1005840" y="2953512"/>
              <a:ext cx="1591056" cy="629236"/>
            </a:xfrm>
            <a:prstGeom prst="rect">
              <a:avLst/>
            </a:prstGeom>
            <a:solidFill>
              <a:srgbClr val="FFFFFF"/>
            </a:solidFill>
            <a:ln w="9525">
              <a:solidFill>
                <a:srgbClr val="BA7517"/>
              </a:solidFill>
            </a:ln>
          </p:spPr>
          <p:txBody>
            <a:bodyPr/>
            <a:lstStyle/>
            <a:p>
              <a:endParaRPr lang="en-US" sz="2800" dirty="0"/>
            </a:p>
          </p:txBody>
        </p:sp>
        <p:sp>
          <p:nvSpPr>
            <p:cNvPr id="211" name="ChromaDB_top">
              <a:extLst>
                <a:ext uri="{FF2B5EF4-FFF2-40B4-BE49-F238E27FC236}">
                  <a16:creationId xmlns:a16="http://schemas.microsoft.com/office/drawing/2014/main" id="{222407F1-3273-D4D6-7161-C56F5C4CE162}"/>
                </a:ext>
              </a:extLst>
            </p:cNvPr>
            <p:cNvSpPr/>
            <p:nvPr/>
          </p:nvSpPr>
          <p:spPr>
            <a:xfrm>
              <a:off x="1005840" y="2953512"/>
              <a:ext cx="1591056" cy="50292"/>
            </a:xfrm>
            <a:prstGeom prst="rect">
              <a:avLst/>
            </a:prstGeom>
            <a:solidFill>
              <a:srgbClr val="BA7517"/>
            </a:solidFill>
            <a:ln w="0">
              <a:solidFill>
                <a:srgbClr val="BA7517"/>
              </a:solidFill>
            </a:ln>
          </p:spPr>
          <p:txBody>
            <a:bodyPr/>
            <a:lstStyle/>
            <a:p>
              <a:endParaRPr lang="en-US" sz="2800"/>
            </a:p>
          </p:txBody>
        </p:sp>
        <p:sp>
          <p:nvSpPr>
            <p:cNvPr id="212" name="ChromaDB_title">
              <a:extLst>
                <a:ext uri="{FF2B5EF4-FFF2-40B4-BE49-F238E27FC236}">
                  <a16:creationId xmlns:a16="http://schemas.microsoft.com/office/drawing/2014/main" id="{6128920E-1593-5DEF-2E6C-AC54B2058F59}"/>
                </a:ext>
              </a:extLst>
            </p:cNvPr>
            <p:cNvSpPr txBox="1"/>
            <p:nvPr/>
          </p:nvSpPr>
          <p:spPr>
            <a:xfrm>
              <a:off x="1097280" y="2999232"/>
              <a:ext cx="1408176" cy="201168"/>
            </a:xfrm>
            <a:prstGeom prst="rect">
              <a:avLst/>
            </a:prstGeom>
            <a:noFill/>
            <a:ln>
              <a:noFill/>
            </a:ln>
          </p:spPr>
          <p:txBody>
            <a:bodyPr wrap="square" rtlCol="0"/>
            <a:lstStyle/>
            <a:p>
              <a:pPr algn="l"/>
              <a:r>
                <a:rPr lang="en-US" sz="1100" b="1" dirty="0">
                  <a:solidFill>
                    <a:srgbClr val="412402"/>
                  </a:solidFill>
                </a:rPr>
                <a:t>ChromaDB</a:t>
              </a:r>
            </a:p>
          </p:txBody>
        </p:sp>
        <p:sp>
          <p:nvSpPr>
            <p:cNvPr id="213" name="ChromaDB_sub">
              <a:extLst>
                <a:ext uri="{FF2B5EF4-FFF2-40B4-BE49-F238E27FC236}">
                  <a16:creationId xmlns:a16="http://schemas.microsoft.com/office/drawing/2014/main" id="{6FF94B7C-02EB-B34E-D746-9A4694629237}"/>
                </a:ext>
              </a:extLst>
            </p:cNvPr>
            <p:cNvSpPr txBox="1"/>
            <p:nvPr/>
          </p:nvSpPr>
          <p:spPr>
            <a:xfrm>
              <a:off x="1097280" y="3171278"/>
              <a:ext cx="1426464" cy="301751"/>
            </a:xfrm>
            <a:prstGeom prst="rect">
              <a:avLst/>
            </a:prstGeom>
            <a:noFill/>
            <a:ln>
              <a:noFill/>
            </a:ln>
          </p:spPr>
          <p:txBody>
            <a:bodyPr wrap="square" rtlCol="0"/>
            <a:lstStyle/>
            <a:p>
              <a:pPr algn="l"/>
              <a:r>
                <a:rPr lang="en-US" sz="900" b="0" dirty="0">
                  <a:solidFill>
                    <a:srgbClr val="633806"/>
                  </a:solidFill>
                </a:rPr>
                <a:t>Cosine similarity
Persistent storage
Auto-refresh</a:t>
              </a:r>
            </a:p>
          </p:txBody>
        </p:sp>
        <p:sp>
          <p:nvSpPr>
            <p:cNvPr id="214" name="Security · 10 rules_pill">
              <a:extLst>
                <a:ext uri="{FF2B5EF4-FFF2-40B4-BE49-F238E27FC236}">
                  <a16:creationId xmlns:a16="http://schemas.microsoft.com/office/drawing/2014/main" id="{6BF1657E-946A-FEDE-A380-6818DE191BA1}"/>
                </a:ext>
              </a:extLst>
            </p:cNvPr>
            <p:cNvSpPr/>
            <p:nvPr/>
          </p:nvSpPr>
          <p:spPr>
            <a:xfrm>
              <a:off x="2724912" y="2971800"/>
              <a:ext cx="1572768" cy="155448"/>
            </a:xfrm>
            <a:prstGeom prst="rect">
              <a:avLst/>
            </a:prstGeom>
            <a:solidFill>
              <a:srgbClr val="E24B4A"/>
            </a:solidFill>
            <a:ln w="0">
              <a:solidFill>
                <a:srgbClr val="E24B4A"/>
              </a:solidFill>
            </a:ln>
          </p:spPr>
          <p:txBody>
            <a:bodyPr/>
            <a:lstStyle/>
            <a:p>
              <a:endParaRPr lang="en-US" sz="2800"/>
            </a:p>
          </p:txBody>
        </p:sp>
        <p:sp>
          <p:nvSpPr>
            <p:cNvPr id="215" name="Security · 10 rules_ptxt">
              <a:extLst>
                <a:ext uri="{FF2B5EF4-FFF2-40B4-BE49-F238E27FC236}">
                  <a16:creationId xmlns:a16="http://schemas.microsoft.com/office/drawing/2014/main" id="{30CC34C7-E6E9-2234-4E65-4922C92B3500}"/>
                </a:ext>
              </a:extLst>
            </p:cNvPr>
            <p:cNvSpPr txBox="1"/>
            <p:nvPr/>
          </p:nvSpPr>
          <p:spPr>
            <a:xfrm>
              <a:off x="2724912" y="2971800"/>
              <a:ext cx="1572768" cy="155448"/>
            </a:xfrm>
            <a:prstGeom prst="rect">
              <a:avLst/>
            </a:prstGeom>
            <a:noFill/>
            <a:ln>
              <a:noFill/>
            </a:ln>
          </p:spPr>
          <p:txBody>
            <a:bodyPr wrap="square" rtlCol="0"/>
            <a:lstStyle/>
            <a:p>
              <a:pPr algn="ctr"/>
              <a:r>
                <a:rPr lang="en-US" sz="1000" b="1" dirty="0">
                  <a:solidFill>
                    <a:srgbClr val="FFFFFF"/>
                  </a:solidFill>
                </a:rPr>
                <a:t>Security · 10 rules</a:t>
              </a:r>
            </a:p>
          </p:txBody>
        </p:sp>
        <p:sp>
          <p:nvSpPr>
            <p:cNvPr id="216" name="Design · 8 rules_pill">
              <a:extLst>
                <a:ext uri="{FF2B5EF4-FFF2-40B4-BE49-F238E27FC236}">
                  <a16:creationId xmlns:a16="http://schemas.microsoft.com/office/drawing/2014/main" id="{F0722D3C-5BD0-48F6-F402-62F919F1EECD}"/>
                </a:ext>
              </a:extLst>
            </p:cNvPr>
            <p:cNvSpPr/>
            <p:nvPr/>
          </p:nvSpPr>
          <p:spPr>
            <a:xfrm>
              <a:off x="2724912" y="3154680"/>
              <a:ext cx="1572768" cy="155448"/>
            </a:xfrm>
            <a:prstGeom prst="rect">
              <a:avLst/>
            </a:prstGeom>
            <a:solidFill>
              <a:srgbClr val="0F6E56"/>
            </a:solidFill>
            <a:ln w="0">
              <a:solidFill>
                <a:srgbClr val="0F6E56"/>
              </a:solidFill>
            </a:ln>
          </p:spPr>
          <p:txBody>
            <a:bodyPr/>
            <a:lstStyle/>
            <a:p>
              <a:endParaRPr lang="en-US" sz="2800"/>
            </a:p>
          </p:txBody>
        </p:sp>
        <p:sp>
          <p:nvSpPr>
            <p:cNvPr id="217" name="Design · 8 rules_ptxt">
              <a:extLst>
                <a:ext uri="{FF2B5EF4-FFF2-40B4-BE49-F238E27FC236}">
                  <a16:creationId xmlns:a16="http://schemas.microsoft.com/office/drawing/2014/main" id="{517B9BED-5735-60A1-93ED-A76260F04BEC}"/>
                </a:ext>
              </a:extLst>
            </p:cNvPr>
            <p:cNvSpPr txBox="1"/>
            <p:nvPr/>
          </p:nvSpPr>
          <p:spPr>
            <a:xfrm>
              <a:off x="2724912" y="3154680"/>
              <a:ext cx="1572768" cy="155448"/>
            </a:xfrm>
            <a:prstGeom prst="rect">
              <a:avLst/>
            </a:prstGeom>
            <a:noFill/>
            <a:ln>
              <a:noFill/>
            </a:ln>
          </p:spPr>
          <p:txBody>
            <a:bodyPr wrap="square" rtlCol="0"/>
            <a:lstStyle/>
            <a:p>
              <a:pPr algn="ctr"/>
              <a:r>
                <a:rPr lang="en-US" sz="1000" b="1" dirty="0">
                  <a:solidFill>
                    <a:srgbClr val="FFFFFF"/>
                  </a:solidFill>
                </a:rPr>
                <a:t>Design · 8 rules</a:t>
              </a:r>
            </a:p>
          </p:txBody>
        </p:sp>
        <p:sp>
          <p:nvSpPr>
            <p:cNvPr id="218" name="Errors / Docs / Gov · 4+3+4_pill">
              <a:extLst>
                <a:ext uri="{FF2B5EF4-FFF2-40B4-BE49-F238E27FC236}">
                  <a16:creationId xmlns:a16="http://schemas.microsoft.com/office/drawing/2014/main" id="{C80664FA-3ABF-3D06-C03E-DD380FEC765E}"/>
                </a:ext>
              </a:extLst>
            </p:cNvPr>
            <p:cNvSpPr/>
            <p:nvPr/>
          </p:nvSpPr>
          <p:spPr>
            <a:xfrm>
              <a:off x="2724912" y="3337560"/>
              <a:ext cx="1572768" cy="155448"/>
            </a:xfrm>
            <a:prstGeom prst="rect">
              <a:avLst/>
            </a:prstGeom>
            <a:solidFill>
              <a:srgbClr val="534AB7"/>
            </a:solidFill>
            <a:ln w="0">
              <a:solidFill>
                <a:srgbClr val="534AB7"/>
              </a:solidFill>
            </a:ln>
          </p:spPr>
          <p:txBody>
            <a:bodyPr/>
            <a:lstStyle/>
            <a:p>
              <a:endParaRPr lang="en-US" sz="2800"/>
            </a:p>
          </p:txBody>
        </p:sp>
        <p:sp>
          <p:nvSpPr>
            <p:cNvPr id="219" name="Errors / Docs / Gov · 4+3+4_ptxt">
              <a:extLst>
                <a:ext uri="{FF2B5EF4-FFF2-40B4-BE49-F238E27FC236}">
                  <a16:creationId xmlns:a16="http://schemas.microsoft.com/office/drawing/2014/main" id="{AC6DC067-B86D-26F7-D4A6-31FE202D8047}"/>
                </a:ext>
              </a:extLst>
            </p:cNvPr>
            <p:cNvSpPr txBox="1"/>
            <p:nvPr/>
          </p:nvSpPr>
          <p:spPr>
            <a:xfrm>
              <a:off x="2724912" y="3337560"/>
              <a:ext cx="1572768" cy="155448"/>
            </a:xfrm>
            <a:prstGeom prst="rect">
              <a:avLst/>
            </a:prstGeom>
            <a:noFill/>
            <a:ln>
              <a:noFill/>
            </a:ln>
          </p:spPr>
          <p:txBody>
            <a:bodyPr wrap="square" rtlCol="0"/>
            <a:lstStyle/>
            <a:p>
              <a:pPr algn="ctr"/>
              <a:r>
                <a:rPr lang="en-US" sz="1000" b="1" dirty="0">
                  <a:solidFill>
                    <a:srgbClr val="FFFFFF"/>
                  </a:solidFill>
                </a:rPr>
                <a:t>Errors / Docs / Gov · 4+3+4</a:t>
              </a:r>
            </a:p>
          </p:txBody>
        </p:sp>
      </p:grpSp>
      <p:grpSp>
        <p:nvGrpSpPr>
          <p:cNvPr id="220" name="GROUP_rule_ingest">
            <a:extLst>
              <a:ext uri="{FF2B5EF4-FFF2-40B4-BE49-F238E27FC236}">
                <a16:creationId xmlns:a16="http://schemas.microsoft.com/office/drawing/2014/main" id="{5932FEF1-2B0D-ECAF-D5A5-876D21506DD2}"/>
              </a:ext>
            </a:extLst>
          </p:cNvPr>
          <p:cNvGrpSpPr/>
          <p:nvPr/>
        </p:nvGrpSpPr>
        <p:grpSpPr>
          <a:xfrm>
            <a:off x="5715947" y="3998421"/>
            <a:ext cx="4707331" cy="718837"/>
            <a:chOff x="4636008" y="2871216"/>
            <a:chExt cx="4279392" cy="749808"/>
          </a:xfrm>
        </p:grpSpPr>
        <p:sp>
          <p:nvSpPr>
            <p:cNvPr id="221" name="shape">
              <a:extLst>
                <a:ext uri="{FF2B5EF4-FFF2-40B4-BE49-F238E27FC236}">
                  <a16:creationId xmlns:a16="http://schemas.microsoft.com/office/drawing/2014/main" id="{5840EEE9-2F47-17A6-498F-1CA2450E445B}"/>
                </a:ext>
              </a:extLst>
            </p:cNvPr>
            <p:cNvSpPr/>
            <p:nvPr/>
          </p:nvSpPr>
          <p:spPr>
            <a:xfrm>
              <a:off x="4636008" y="2871216"/>
              <a:ext cx="4279392" cy="749808"/>
            </a:xfrm>
            <a:prstGeom prst="rect">
              <a:avLst/>
            </a:prstGeom>
            <a:solidFill>
              <a:srgbClr val="FAECE7"/>
            </a:solidFill>
            <a:ln w="9525">
              <a:solidFill>
                <a:srgbClr val="993C1D"/>
              </a:solidFill>
            </a:ln>
          </p:spPr>
          <p:txBody>
            <a:bodyPr/>
            <a:lstStyle/>
            <a:p>
              <a:endParaRPr lang="en-US" sz="2800"/>
            </a:p>
          </p:txBody>
        </p:sp>
        <p:sp>
          <p:nvSpPr>
            <p:cNvPr id="222" name="shape">
              <a:extLst>
                <a:ext uri="{FF2B5EF4-FFF2-40B4-BE49-F238E27FC236}">
                  <a16:creationId xmlns:a16="http://schemas.microsoft.com/office/drawing/2014/main" id="{FC9288F5-7532-B31A-30EA-4C92F43060CC}"/>
                </a:ext>
              </a:extLst>
            </p:cNvPr>
            <p:cNvSpPr/>
            <p:nvPr/>
          </p:nvSpPr>
          <p:spPr>
            <a:xfrm>
              <a:off x="4636008" y="2871216"/>
              <a:ext cx="4279392" cy="59436"/>
            </a:xfrm>
            <a:prstGeom prst="rect">
              <a:avLst/>
            </a:prstGeom>
            <a:solidFill>
              <a:srgbClr val="993C1D"/>
            </a:solidFill>
            <a:ln w="0">
              <a:solidFill>
                <a:srgbClr val="993C1D"/>
              </a:solidFill>
            </a:ln>
          </p:spPr>
          <p:txBody>
            <a:bodyPr/>
            <a:lstStyle/>
            <a:p>
              <a:endParaRPr lang="en-US" sz="2800"/>
            </a:p>
          </p:txBody>
        </p:sp>
        <p:sp>
          <p:nvSpPr>
            <p:cNvPr id="223" name="shape">
              <a:extLst>
                <a:ext uri="{FF2B5EF4-FFF2-40B4-BE49-F238E27FC236}">
                  <a16:creationId xmlns:a16="http://schemas.microsoft.com/office/drawing/2014/main" id="{8888874F-264E-598A-0230-5CBBB73CE786}"/>
                </a:ext>
              </a:extLst>
            </p:cNvPr>
            <p:cNvSpPr/>
            <p:nvPr/>
          </p:nvSpPr>
          <p:spPr>
            <a:xfrm>
              <a:off x="4727448" y="2944368"/>
              <a:ext cx="658368" cy="603503"/>
            </a:xfrm>
            <a:prstGeom prst="rect">
              <a:avLst/>
            </a:prstGeom>
            <a:solidFill>
              <a:srgbClr val="993C1D"/>
            </a:solidFill>
            <a:ln w="0">
              <a:solidFill>
                <a:srgbClr val="993C1D"/>
              </a:solidFill>
            </a:ln>
          </p:spPr>
          <p:txBody>
            <a:bodyPr/>
            <a:lstStyle/>
            <a:p>
              <a:endParaRPr lang="en-US" sz="2800"/>
            </a:p>
          </p:txBody>
        </p:sp>
        <p:sp>
          <p:nvSpPr>
            <p:cNvPr id="224" name="text">
              <a:extLst>
                <a:ext uri="{FF2B5EF4-FFF2-40B4-BE49-F238E27FC236}">
                  <a16:creationId xmlns:a16="http://schemas.microsoft.com/office/drawing/2014/main" id="{00036309-F086-21FA-F37C-AC1A2CF0E2C4}"/>
                </a:ext>
              </a:extLst>
            </p:cNvPr>
            <p:cNvSpPr txBox="1"/>
            <p:nvPr/>
          </p:nvSpPr>
          <p:spPr>
            <a:xfrm>
              <a:off x="4727448" y="2944368"/>
              <a:ext cx="658368" cy="603503"/>
            </a:xfrm>
            <a:prstGeom prst="rect">
              <a:avLst/>
            </a:prstGeom>
            <a:noFill/>
            <a:ln>
              <a:noFill/>
            </a:ln>
          </p:spPr>
          <p:txBody>
            <a:bodyPr wrap="square" rtlCol="0"/>
            <a:lstStyle/>
            <a:p>
              <a:pPr algn="ctr"/>
              <a:r>
                <a:rPr lang="en-US" sz="1000" b="1" dirty="0">
                  <a:solidFill>
                    <a:srgbClr val="FFFFFF"/>
                  </a:solidFill>
                </a:rPr>
                <a:t>Rule
ingest</a:t>
              </a:r>
            </a:p>
          </p:txBody>
        </p:sp>
        <p:sp>
          <p:nvSpPr>
            <p:cNvPr id="225" name="Web scraper_bg">
              <a:extLst>
                <a:ext uri="{FF2B5EF4-FFF2-40B4-BE49-F238E27FC236}">
                  <a16:creationId xmlns:a16="http://schemas.microsoft.com/office/drawing/2014/main" id="{A9EAADAF-04E2-9EB4-005B-23F7AD57F667}"/>
                </a:ext>
              </a:extLst>
            </p:cNvPr>
            <p:cNvSpPr/>
            <p:nvPr/>
          </p:nvSpPr>
          <p:spPr>
            <a:xfrm>
              <a:off x="5504688" y="2953512"/>
              <a:ext cx="1591056" cy="594359"/>
            </a:xfrm>
            <a:prstGeom prst="rect">
              <a:avLst/>
            </a:prstGeom>
            <a:solidFill>
              <a:srgbClr val="FFFFFF"/>
            </a:solidFill>
            <a:ln w="9525">
              <a:solidFill>
                <a:srgbClr val="993C1D"/>
              </a:solidFill>
            </a:ln>
          </p:spPr>
          <p:txBody>
            <a:bodyPr/>
            <a:lstStyle/>
            <a:p>
              <a:endParaRPr lang="en-US" sz="2800"/>
            </a:p>
          </p:txBody>
        </p:sp>
        <p:sp>
          <p:nvSpPr>
            <p:cNvPr id="226" name="Web scraper_top">
              <a:extLst>
                <a:ext uri="{FF2B5EF4-FFF2-40B4-BE49-F238E27FC236}">
                  <a16:creationId xmlns:a16="http://schemas.microsoft.com/office/drawing/2014/main" id="{A66E9750-28D7-BD02-A958-ED411A9226A3}"/>
                </a:ext>
              </a:extLst>
            </p:cNvPr>
            <p:cNvSpPr/>
            <p:nvPr/>
          </p:nvSpPr>
          <p:spPr>
            <a:xfrm>
              <a:off x="5504688" y="2953512"/>
              <a:ext cx="1591056" cy="50292"/>
            </a:xfrm>
            <a:prstGeom prst="rect">
              <a:avLst/>
            </a:prstGeom>
            <a:solidFill>
              <a:srgbClr val="993C1D"/>
            </a:solidFill>
            <a:ln w="0">
              <a:solidFill>
                <a:srgbClr val="993C1D"/>
              </a:solidFill>
            </a:ln>
          </p:spPr>
          <p:txBody>
            <a:bodyPr/>
            <a:lstStyle/>
            <a:p>
              <a:endParaRPr lang="en-US" sz="2800"/>
            </a:p>
          </p:txBody>
        </p:sp>
        <p:sp>
          <p:nvSpPr>
            <p:cNvPr id="227" name="Web scraper_title">
              <a:extLst>
                <a:ext uri="{FF2B5EF4-FFF2-40B4-BE49-F238E27FC236}">
                  <a16:creationId xmlns:a16="http://schemas.microsoft.com/office/drawing/2014/main" id="{1514B811-D1A2-BCF5-8233-4528D84E8325}"/>
                </a:ext>
              </a:extLst>
            </p:cNvPr>
            <p:cNvSpPr txBox="1"/>
            <p:nvPr/>
          </p:nvSpPr>
          <p:spPr>
            <a:xfrm>
              <a:off x="5596127" y="2999232"/>
              <a:ext cx="1408176" cy="201168"/>
            </a:xfrm>
            <a:prstGeom prst="rect">
              <a:avLst/>
            </a:prstGeom>
            <a:noFill/>
            <a:ln>
              <a:noFill/>
            </a:ln>
          </p:spPr>
          <p:txBody>
            <a:bodyPr wrap="square" rtlCol="0"/>
            <a:lstStyle/>
            <a:p>
              <a:pPr algn="l"/>
              <a:r>
                <a:rPr lang="en-US" sz="1100" b="1" dirty="0">
                  <a:solidFill>
                    <a:srgbClr val="4A1B0C"/>
                  </a:solidFill>
                </a:rPr>
                <a:t>Web scraper</a:t>
              </a:r>
            </a:p>
          </p:txBody>
        </p:sp>
        <p:sp>
          <p:nvSpPr>
            <p:cNvPr id="228" name="Web scraper_sub">
              <a:extLst>
                <a:ext uri="{FF2B5EF4-FFF2-40B4-BE49-F238E27FC236}">
                  <a16:creationId xmlns:a16="http://schemas.microsoft.com/office/drawing/2014/main" id="{B6CA8934-044A-5FD5-6F66-F9EF89728176}"/>
                </a:ext>
              </a:extLst>
            </p:cNvPr>
            <p:cNvSpPr txBox="1"/>
            <p:nvPr/>
          </p:nvSpPr>
          <p:spPr>
            <a:xfrm>
              <a:off x="5596127" y="3180946"/>
              <a:ext cx="1426464" cy="301751"/>
            </a:xfrm>
            <a:prstGeom prst="rect">
              <a:avLst/>
            </a:prstGeom>
            <a:noFill/>
            <a:ln>
              <a:noFill/>
            </a:ln>
          </p:spPr>
          <p:txBody>
            <a:bodyPr wrap="square" rtlCol="0"/>
            <a:lstStyle/>
            <a:p>
              <a:pPr algn="l"/>
              <a:r>
                <a:rPr lang="en-US" sz="1000" b="0" dirty="0">
                  <a:solidFill>
                    <a:srgbClr val="712B13"/>
                  </a:solidFill>
                </a:rPr>
                <a:t>OWASP Top 10
OpenAPI · RFC 7807</a:t>
              </a:r>
            </a:p>
          </p:txBody>
        </p:sp>
        <p:sp>
          <p:nvSpPr>
            <p:cNvPr id="229" name="Scheduler_bg">
              <a:extLst>
                <a:ext uri="{FF2B5EF4-FFF2-40B4-BE49-F238E27FC236}">
                  <a16:creationId xmlns:a16="http://schemas.microsoft.com/office/drawing/2014/main" id="{CE439B3E-806D-50ED-44FA-27F69F9A798C}"/>
                </a:ext>
              </a:extLst>
            </p:cNvPr>
            <p:cNvSpPr/>
            <p:nvPr/>
          </p:nvSpPr>
          <p:spPr>
            <a:xfrm>
              <a:off x="7223760" y="2953512"/>
              <a:ext cx="1591056" cy="594359"/>
            </a:xfrm>
            <a:prstGeom prst="rect">
              <a:avLst/>
            </a:prstGeom>
            <a:solidFill>
              <a:srgbClr val="FFFFFF"/>
            </a:solidFill>
            <a:ln w="9525">
              <a:solidFill>
                <a:srgbClr val="993C1D"/>
              </a:solidFill>
            </a:ln>
          </p:spPr>
          <p:txBody>
            <a:bodyPr/>
            <a:lstStyle/>
            <a:p>
              <a:endParaRPr lang="en-US" sz="2800"/>
            </a:p>
          </p:txBody>
        </p:sp>
        <p:sp>
          <p:nvSpPr>
            <p:cNvPr id="230" name="Scheduler_top">
              <a:extLst>
                <a:ext uri="{FF2B5EF4-FFF2-40B4-BE49-F238E27FC236}">
                  <a16:creationId xmlns:a16="http://schemas.microsoft.com/office/drawing/2014/main" id="{504E5E87-3B55-788C-5B8E-E4BCA79BB7A7}"/>
                </a:ext>
              </a:extLst>
            </p:cNvPr>
            <p:cNvSpPr/>
            <p:nvPr/>
          </p:nvSpPr>
          <p:spPr>
            <a:xfrm>
              <a:off x="7223760" y="2953512"/>
              <a:ext cx="1591056" cy="50292"/>
            </a:xfrm>
            <a:prstGeom prst="rect">
              <a:avLst/>
            </a:prstGeom>
            <a:solidFill>
              <a:srgbClr val="993C1D"/>
            </a:solidFill>
            <a:ln w="0">
              <a:solidFill>
                <a:srgbClr val="993C1D"/>
              </a:solidFill>
            </a:ln>
          </p:spPr>
          <p:txBody>
            <a:bodyPr/>
            <a:lstStyle/>
            <a:p>
              <a:endParaRPr lang="en-US" sz="2800"/>
            </a:p>
          </p:txBody>
        </p:sp>
        <p:sp>
          <p:nvSpPr>
            <p:cNvPr id="231" name="Scheduler_title">
              <a:extLst>
                <a:ext uri="{FF2B5EF4-FFF2-40B4-BE49-F238E27FC236}">
                  <a16:creationId xmlns:a16="http://schemas.microsoft.com/office/drawing/2014/main" id="{65D760F0-D081-F57A-A282-B160EB516782}"/>
                </a:ext>
              </a:extLst>
            </p:cNvPr>
            <p:cNvSpPr txBox="1"/>
            <p:nvPr/>
          </p:nvSpPr>
          <p:spPr>
            <a:xfrm>
              <a:off x="7315200" y="2999232"/>
              <a:ext cx="1408176" cy="201168"/>
            </a:xfrm>
            <a:prstGeom prst="rect">
              <a:avLst/>
            </a:prstGeom>
            <a:noFill/>
            <a:ln>
              <a:noFill/>
            </a:ln>
          </p:spPr>
          <p:txBody>
            <a:bodyPr wrap="square" rtlCol="0"/>
            <a:lstStyle/>
            <a:p>
              <a:pPr algn="l"/>
              <a:r>
                <a:rPr lang="en-US" sz="1100" b="1" dirty="0">
                  <a:solidFill>
                    <a:srgbClr val="4A1B0C"/>
                  </a:solidFill>
                </a:rPr>
                <a:t>Scheduler</a:t>
              </a:r>
            </a:p>
          </p:txBody>
        </p:sp>
        <p:sp>
          <p:nvSpPr>
            <p:cNvPr id="232" name="Scheduler_sub">
              <a:extLst>
                <a:ext uri="{FF2B5EF4-FFF2-40B4-BE49-F238E27FC236}">
                  <a16:creationId xmlns:a16="http://schemas.microsoft.com/office/drawing/2014/main" id="{006CFB26-B933-C2A6-B2DA-F9CC63C7CBDA}"/>
                </a:ext>
              </a:extLst>
            </p:cNvPr>
            <p:cNvSpPr txBox="1"/>
            <p:nvPr/>
          </p:nvSpPr>
          <p:spPr>
            <a:xfrm>
              <a:off x="7315200" y="3200400"/>
              <a:ext cx="1426464" cy="301751"/>
            </a:xfrm>
            <a:prstGeom prst="rect">
              <a:avLst/>
            </a:prstGeom>
            <a:noFill/>
            <a:ln>
              <a:noFill/>
            </a:ln>
          </p:spPr>
          <p:txBody>
            <a:bodyPr wrap="square" rtlCol="0"/>
            <a:lstStyle/>
            <a:p>
              <a:pPr algn="l"/>
              <a:r>
                <a:rPr lang="en-US" sz="1000" b="0" dirty="0">
                  <a:solidFill>
                    <a:srgbClr val="712B13"/>
                  </a:solidFill>
                </a:rPr>
                <a:t>Weekly auto-refresh
Manual trigger</a:t>
              </a:r>
            </a:p>
          </p:txBody>
        </p:sp>
      </p:grpSp>
      <p:cxnSp>
        <p:nvCxnSpPr>
          <p:cNvPr id="233" name="conn">
            <a:extLst>
              <a:ext uri="{FF2B5EF4-FFF2-40B4-BE49-F238E27FC236}">
                <a16:creationId xmlns:a16="http://schemas.microsoft.com/office/drawing/2014/main" id="{8FE183B4-285F-0A94-0011-71D374C9AA75}"/>
              </a:ext>
            </a:extLst>
          </p:cNvPr>
          <p:cNvCxnSpPr>
            <a:cxnSpLocks/>
            <a:stCxn id="221" idx="1"/>
            <a:endCxn id="206" idx="3"/>
          </p:cNvCxnSpPr>
          <p:nvPr/>
        </p:nvCxnSpPr>
        <p:spPr>
          <a:xfrm flipH="1" flipV="1">
            <a:off x="5430497" y="4346999"/>
            <a:ext cx="285450" cy="10841"/>
          </a:xfrm>
          <a:prstGeom prst="line">
            <a:avLst/>
          </a:prstGeom>
          <a:noFill/>
          <a:ln w="15240">
            <a:solidFill>
              <a:srgbClr val="993C1D"/>
            </a:solidFill>
            <a:tailEnd type="arrow"/>
          </a:ln>
        </p:spPr>
      </p:cxnSp>
      <p:cxnSp>
        <p:nvCxnSpPr>
          <p:cNvPr id="236" name="conn">
            <a:extLst>
              <a:ext uri="{FF2B5EF4-FFF2-40B4-BE49-F238E27FC236}">
                <a16:creationId xmlns:a16="http://schemas.microsoft.com/office/drawing/2014/main" id="{A71C28F2-1906-7399-A567-129F13E5316D}"/>
              </a:ext>
            </a:extLst>
          </p:cNvPr>
          <p:cNvCxnSpPr>
            <a:cxnSpLocks/>
          </p:cNvCxnSpPr>
          <p:nvPr/>
        </p:nvCxnSpPr>
        <p:spPr>
          <a:xfrm>
            <a:off x="5167151" y="4799475"/>
            <a:ext cx="0" cy="97109"/>
          </a:xfrm>
          <a:prstGeom prst="line">
            <a:avLst/>
          </a:prstGeom>
          <a:noFill/>
          <a:ln w="15240">
            <a:solidFill>
              <a:srgbClr val="534AB7"/>
            </a:solidFill>
            <a:tailEnd type="arrow"/>
          </a:ln>
        </p:spPr>
      </p:cxnSp>
      <p:grpSp>
        <p:nvGrpSpPr>
          <p:cNvPr id="237" name="GROUP_ai_layer">
            <a:extLst>
              <a:ext uri="{FF2B5EF4-FFF2-40B4-BE49-F238E27FC236}">
                <a16:creationId xmlns:a16="http://schemas.microsoft.com/office/drawing/2014/main" id="{5EFA193A-F087-DD70-B4B4-ACA7004DB881}"/>
              </a:ext>
            </a:extLst>
          </p:cNvPr>
          <p:cNvGrpSpPr/>
          <p:nvPr/>
        </p:nvGrpSpPr>
        <p:grpSpPr>
          <a:xfrm>
            <a:off x="823751" y="4904153"/>
            <a:ext cx="9555480" cy="946813"/>
            <a:chOff x="228600" y="3694176"/>
            <a:chExt cx="8686800" cy="713232"/>
          </a:xfrm>
        </p:grpSpPr>
        <p:sp>
          <p:nvSpPr>
            <p:cNvPr id="238" name="shape">
              <a:extLst>
                <a:ext uri="{FF2B5EF4-FFF2-40B4-BE49-F238E27FC236}">
                  <a16:creationId xmlns:a16="http://schemas.microsoft.com/office/drawing/2014/main" id="{F594D90E-9032-7476-6539-D1847998577E}"/>
                </a:ext>
              </a:extLst>
            </p:cNvPr>
            <p:cNvSpPr/>
            <p:nvPr/>
          </p:nvSpPr>
          <p:spPr>
            <a:xfrm>
              <a:off x="228600" y="3694176"/>
              <a:ext cx="8686800" cy="713232"/>
            </a:xfrm>
            <a:prstGeom prst="rect">
              <a:avLst/>
            </a:prstGeom>
            <a:solidFill>
              <a:srgbClr val="EEEDFE"/>
            </a:solidFill>
            <a:ln w="9525">
              <a:solidFill>
                <a:srgbClr val="534AB7"/>
              </a:solidFill>
            </a:ln>
          </p:spPr>
          <p:txBody>
            <a:bodyPr/>
            <a:lstStyle/>
            <a:p>
              <a:endParaRPr lang="en-US" sz="2800"/>
            </a:p>
          </p:txBody>
        </p:sp>
        <p:sp>
          <p:nvSpPr>
            <p:cNvPr id="239" name="shape">
              <a:extLst>
                <a:ext uri="{FF2B5EF4-FFF2-40B4-BE49-F238E27FC236}">
                  <a16:creationId xmlns:a16="http://schemas.microsoft.com/office/drawing/2014/main" id="{79D26787-FFFB-6413-6AF4-EED11307734A}"/>
                </a:ext>
              </a:extLst>
            </p:cNvPr>
            <p:cNvSpPr/>
            <p:nvPr/>
          </p:nvSpPr>
          <p:spPr>
            <a:xfrm>
              <a:off x="228600" y="3694176"/>
              <a:ext cx="8686800" cy="59436"/>
            </a:xfrm>
            <a:prstGeom prst="rect">
              <a:avLst/>
            </a:prstGeom>
            <a:solidFill>
              <a:srgbClr val="534AB7"/>
            </a:solidFill>
            <a:ln w="0">
              <a:solidFill>
                <a:srgbClr val="534AB7"/>
              </a:solidFill>
            </a:ln>
          </p:spPr>
          <p:txBody>
            <a:bodyPr/>
            <a:lstStyle/>
            <a:p>
              <a:endParaRPr lang="en-US" sz="2800"/>
            </a:p>
          </p:txBody>
        </p:sp>
        <p:sp>
          <p:nvSpPr>
            <p:cNvPr id="240" name="shape">
              <a:extLst>
                <a:ext uri="{FF2B5EF4-FFF2-40B4-BE49-F238E27FC236}">
                  <a16:creationId xmlns:a16="http://schemas.microsoft.com/office/drawing/2014/main" id="{14D67B58-9BA0-67AC-8EDA-18F2FF97678E}"/>
                </a:ext>
              </a:extLst>
            </p:cNvPr>
            <p:cNvSpPr/>
            <p:nvPr/>
          </p:nvSpPr>
          <p:spPr>
            <a:xfrm>
              <a:off x="320040" y="3767328"/>
              <a:ext cx="658368" cy="566928"/>
            </a:xfrm>
            <a:prstGeom prst="rect">
              <a:avLst/>
            </a:prstGeom>
            <a:solidFill>
              <a:srgbClr val="534AB7"/>
            </a:solidFill>
            <a:ln w="0">
              <a:solidFill>
                <a:srgbClr val="534AB7"/>
              </a:solidFill>
            </a:ln>
          </p:spPr>
          <p:txBody>
            <a:bodyPr/>
            <a:lstStyle/>
            <a:p>
              <a:endParaRPr lang="en-US" sz="2800"/>
            </a:p>
          </p:txBody>
        </p:sp>
        <p:sp>
          <p:nvSpPr>
            <p:cNvPr id="241" name="text">
              <a:extLst>
                <a:ext uri="{FF2B5EF4-FFF2-40B4-BE49-F238E27FC236}">
                  <a16:creationId xmlns:a16="http://schemas.microsoft.com/office/drawing/2014/main" id="{F7968D77-2462-B3DD-D71A-B01B4AA43221}"/>
                </a:ext>
              </a:extLst>
            </p:cNvPr>
            <p:cNvSpPr txBox="1"/>
            <p:nvPr/>
          </p:nvSpPr>
          <p:spPr>
            <a:xfrm>
              <a:off x="320040" y="3767328"/>
              <a:ext cx="658368" cy="566928"/>
            </a:xfrm>
            <a:prstGeom prst="rect">
              <a:avLst/>
            </a:prstGeom>
            <a:noFill/>
            <a:ln>
              <a:noFill/>
            </a:ln>
          </p:spPr>
          <p:txBody>
            <a:bodyPr wrap="square" rtlCol="0"/>
            <a:lstStyle/>
            <a:p>
              <a:pPr algn="ctr"/>
              <a:r>
                <a:rPr lang="en-US" sz="1000" b="1" dirty="0">
                  <a:solidFill>
                    <a:srgbClr val="FFFFFF"/>
                  </a:solidFill>
                </a:rPr>
                <a:t>AI
layer</a:t>
              </a:r>
            </a:p>
          </p:txBody>
        </p:sp>
        <p:sp>
          <p:nvSpPr>
            <p:cNvPr id="242" name="Universal AI agent_bg">
              <a:extLst>
                <a:ext uri="{FF2B5EF4-FFF2-40B4-BE49-F238E27FC236}">
                  <a16:creationId xmlns:a16="http://schemas.microsoft.com/office/drawing/2014/main" id="{906143F7-5663-3623-7B80-C3D06E7A31E5}"/>
                </a:ext>
              </a:extLst>
            </p:cNvPr>
            <p:cNvSpPr/>
            <p:nvPr/>
          </p:nvSpPr>
          <p:spPr>
            <a:xfrm>
              <a:off x="1005840" y="3767328"/>
              <a:ext cx="1920240" cy="548640"/>
            </a:xfrm>
            <a:prstGeom prst="rect">
              <a:avLst/>
            </a:prstGeom>
            <a:solidFill>
              <a:srgbClr val="FFFFFF"/>
            </a:solidFill>
            <a:ln w="9525">
              <a:solidFill>
                <a:srgbClr val="534AB7"/>
              </a:solidFill>
            </a:ln>
          </p:spPr>
          <p:txBody>
            <a:bodyPr/>
            <a:lstStyle/>
            <a:p>
              <a:endParaRPr lang="en-US" sz="2800"/>
            </a:p>
          </p:txBody>
        </p:sp>
        <p:sp>
          <p:nvSpPr>
            <p:cNvPr id="243" name="Universal AI agent_top">
              <a:extLst>
                <a:ext uri="{FF2B5EF4-FFF2-40B4-BE49-F238E27FC236}">
                  <a16:creationId xmlns:a16="http://schemas.microsoft.com/office/drawing/2014/main" id="{EF9EF829-F6AF-6422-74B4-7B70161F5417}"/>
                </a:ext>
              </a:extLst>
            </p:cNvPr>
            <p:cNvSpPr/>
            <p:nvPr/>
          </p:nvSpPr>
          <p:spPr>
            <a:xfrm>
              <a:off x="1005840" y="3767328"/>
              <a:ext cx="1920240" cy="50292"/>
            </a:xfrm>
            <a:prstGeom prst="rect">
              <a:avLst/>
            </a:prstGeom>
            <a:solidFill>
              <a:srgbClr val="534AB7"/>
            </a:solidFill>
            <a:ln w="0">
              <a:solidFill>
                <a:srgbClr val="534AB7"/>
              </a:solidFill>
            </a:ln>
          </p:spPr>
          <p:txBody>
            <a:bodyPr/>
            <a:lstStyle/>
            <a:p>
              <a:endParaRPr lang="en-US" sz="2800"/>
            </a:p>
          </p:txBody>
        </p:sp>
        <p:sp>
          <p:nvSpPr>
            <p:cNvPr id="244" name="Universal AI agent_title">
              <a:extLst>
                <a:ext uri="{FF2B5EF4-FFF2-40B4-BE49-F238E27FC236}">
                  <a16:creationId xmlns:a16="http://schemas.microsoft.com/office/drawing/2014/main" id="{E732BF8D-2955-6D65-C57F-27D75DBCE21B}"/>
                </a:ext>
              </a:extLst>
            </p:cNvPr>
            <p:cNvSpPr txBox="1"/>
            <p:nvPr/>
          </p:nvSpPr>
          <p:spPr>
            <a:xfrm>
              <a:off x="1097280" y="3813048"/>
              <a:ext cx="1051560" cy="201168"/>
            </a:xfrm>
            <a:prstGeom prst="rect">
              <a:avLst/>
            </a:prstGeom>
            <a:noFill/>
            <a:ln>
              <a:noFill/>
            </a:ln>
          </p:spPr>
          <p:txBody>
            <a:bodyPr wrap="square" rtlCol="0"/>
            <a:lstStyle/>
            <a:p>
              <a:pPr algn="l"/>
              <a:r>
                <a:rPr lang="en-US" sz="1100" b="1" dirty="0">
                  <a:solidFill>
                    <a:srgbClr val="26215C"/>
                  </a:solidFill>
                </a:rPr>
                <a:t>Universal AI agent</a:t>
              </a:r>
            </a:p>
          </p:txBody>
        </p:sp>
        <p:sp>
          <p:nvSpPr>
            <p:cNvPr id="245" name="watson_bg">
              <a:extLst>
                <a:ext uri="{FF2B5EF4-FFF2-40B4-BE49-F238E27FC236}">
                  <a16:creationId xmlns:a16="http://schemas.microsoft.com/office/drawing/2014/main" id="{B2C8D46D-D3D1-52F1-5B4A-D53E27C45B9C}"/>
                </a:ext>
              </a:extLst>
            </p:cNvPr>
            <p:cNvSpPr/>
            <p:nvPr/>
          </p:nvSpPr>
          <p:spPr>
            <a:xfrm>
              <a:off x="2121408" y="3831336"/>
              <a:ext cx="731520" cy="164592"/>
            </a:xfrm>
            <a:prstGeom prst="rect">
              <a:avLst/>
            </a:prstGeom>
            <a:solidFill>
              <a:srgbClr val="0F6E56"/>
            </a:solidFill>
            <a:ln w="0">
              <a:solidFill>
                <a:srgbClr val="0F6E56"/>
              </a:solidFill>
            </a:ln>
          </p:spPr>
          <p:txBody>
            <a:bodyPr/>
            <a:lstStyle/>
            <a:p>
              <a:endParaRPr lang="en-US" sz="2800"/>
            </a:p>
          </p:txBody>
        </p:sp>
        <p:sp>
          <p:nvSpPr>
            <p:cNvPr id="246" name="watson_lbl">
              <a:extLst>
                <a:ext uri="{FF2B5EF4-FFF2-40B4-BE49-F238E27FC236}">
                  <a16:creationId xmlns:a16="http://schemas.microsoft.com/office/drawing/2014/main" id="{01D95F0A-4A35-8254-A523-1EF3718AB88C}"/>
                </a:ext>
              </a:extLst>
            </p:cNvPr>
            <p:cNvSpPr txBox="1"/>
            <p:nvPr/>
          </p:nvSpPr>
          <p:spPr>
            <a:xfrm>
              <a:off x="2121408" y="3831336"/>
              <a:ext cx="731520" cy="164592"/>
            </a:xfrm>
            <a:prstGeom prst="rect">
              <a:avLst/>
            </a:prstGeom>
            <a:noFill/>
            <a:ln>
              <a:noFill/>
            </a:ln>
          </p:spPr>
          <p:txBody>
            <a:bodyPr wrap="square" rtlCol="0"/>
            <a:lstStyle/>
            <a:p>
              <a:pPr algn="ctr"/>
              <a:r>
                <a:rPr lang="en-US" sz="1000" b="1" dirty="0">
                  <a:solidFill>
                    <a:srgbClr val="FFFFFF"/>
                  </a:solidFill>
                </a:rPr>
                <a:t>watsonx.ai</a:t>
              </a:r>
            </a:p>
          </p:txBody>
        </p:sp>
        <p:sp>
          <p:nvSpPr>
            <p:cNvPr id="247" name="Universal AI agent_sub">
              <a:extLst>
                <a:ext uri="{FF2B5EF4-FFF2-40B4-BE49-F238E27FC236}">
                  <a16:creationId xmlns:a16="http://schemas.microsoft.com/office/drawing/2014/main" id="{067E6AC9-3C0C-D8C8-93F5-3F5A904121F5}"/>
                </a:ext>
              </a:extLst>
            </p:cNvPr>
            <p:cNvSpPr txBox="1"/>
            <p:nvPr/>
          </p:nvSpPr>
          <p:spPr>
            <a:xfrm>
              <a:off x="1097280" y="4014216"/>
              <a:ext cx="1755648" cy="256031"/>
            </a:xfrm>
            <a:prstGeom prst="rect">
              <a:avLst/>
            </a:prstGeom>
            <a:noFill/>
            <a:ln>
              <a:noFill/>
            </a:ln>
          </p:spPr>
          <p:txBody>
            <a:bodyPr wrap="square" rtlCol="0"/>
            <a:lstStyle/>
            <a:p>
              <a:pPr algn="l"/>
              <a:r>
                <a:rPr lang="en-US" sz="1000" b="0" dirty="0">
                  <a:solidFill>
                    <a:srgbClr val="3C3489"/>
                  </a:solidFill>
                </a:rPr>
                <a:t>Multi-LLM · explanations
auto-generated fixes</a:t>
              </a:r>
            </a:p>
          </p:txBody>
        </p:sp>
        <p:cxnSp>
          <p:nvCxnSpPr>
            <p:cNvPr id="248" name="conn">
              <a:extLst>
                <a:ext uri="{FF2B5EF4-FFF2-40B4-BE49-F238E27FC236}">
                  <a16:creationId xmlns:a16="http://schemas.microsoft.com/office/drawing/2014/main" id="{7FE76617-5A5B-B726-6228-EE0AC68E891E}"/>
                </a:ext>
              </a:extLst>
            </p:cNvPr>
            <p:cNvCxnSpPr/>
            <p:nvPr/>
          </p:nvCxnSpPr>
          <p:spPr>
            <a:xfrm>
              <a:off x="2926080" y="4041648"/>
              <a:ext cx="274319" cy="0"/>
            </a:xfrm>
            <a:prstGeom prst="line">
              <a:avLst/>
            </a:prstGeom>
            <a:noFill/>
            <a:ln w="15240">
              <a:solidFill>
                <a:srgbClr val="534AB7"/>
              </a:solidFill>
              <a:tailEnd type="arrow"/>
            </a:ln>
          </p:spPr>
        </p:cxnSp>
        <p:sp>
          <p:nvSpPr>
            <p:cNvPr id="249" name="Orchestrator_bg">
              <a:extLst>
                <a:ext uri="{FF2B5EF4-FFF2-40B4-BE49-F238E27FC236}">
                  <a16:creationId xmlns:a16="http://schemas.microsoft.com/office/drawing/2014/main" id="{C772C790-6DD1-D3A6-33E3-5F5FEFFAF9D2}"/>
                </a:ext>
              </a:extLst>
            </p:cNvPr>
            <p:cNvSpPr/>
            <p:nvPr/>
          </p:nvSpPr>
          <p:spPr>
            <a:xfrm>
              <a:off x="3200400" y="3767328"/>
              <a:ext cx="1389888" cy="548640"/>
            </a:xfrm>
            <a:prstGeom prst="rect">
              <a:avLst/>
            </a:prstGeom>
            <a:solidFill>
              <a:srgbClr val="FFFFFF"/>
            </a:solidFill>
            <a:ln w="9525">
              <a:solidFill>
                <a:srgbClr val="534AB7"/>
              </a:solidFill>
            </a:ln>
          </p:spPr>
          <p:txBody>
            <a:bodyPr/>
            <a:lstStyle/>
            <a:p>
              <a:endParaRPr lang="en-US" sz="2800"/>
            </a:p>
          </p:txBody>
        </p:sp>
        <p:sp>
          <p:nvSpPr>
            <p:cNvPr id="250" name="Orchestrator_top">
              <a:extLst>
                <a:ext uri="{FF2B5EF4-FFF2-40B4-BE49-F238E27FC236}">
                  <a16:creationId xmlns:a16="http://schemas.microsoft.com/office/drawing/2014/main" id="{953A149D-0B77-0824-F9C4-647648C546FB}"/>
                </a:ext>
              </a:extLst>
            </p:cNvPr>
            <p:cNvSpPr/>
            <p:nvPr/>
          </p:nvSpPr>
          <p:spPr>
            <a:xfrm>
              <a:off x="3200400" y="3767328"/>
              <a:ext cx="1389888" cy="50292"/>
            </a:xfrm>
            <a:prstGeom prst="rect">
              <a:avLst/>
            </a:prstGeom>
            <a:solidFill>
              <a:srgbClr val="534AB7"/>
            </a:solidFill>
            <a:ln w="0">
              <a:solidFill>
                <a:srgbClr val="534AB7"/>
              </a:solidFill>
            </a:ln>
          </p:spPr>
          <p:txBody>
            <a:bodyPr/>
            <a:lstStyle/>
            <a:p>
              <a:endParaRPr lang="en-US" sz="2800"/>
            </a:p>
          </p:txBody>
        </p:sp>
        <p:sp>
          <p:nvSpPr>
            <p:cNvPr id="251" name="Orchestrator_title">
              <a:extLst>
                <a:ext uri="{FF2B5EF4-FFF2-40B4-BE49-F238E27FC236}">
                  <a16:creationId xmlns:a16="http://schemas.microsoft.com/office/drawing/2014/main" id="{55FE47F0-B1F8-B9C0-EF45-39CAC52D3754}"/>
                </a:ext>
              </a:extLst>
            </p:cNvPr>
            <p:cNvSpPr txBox="1"/>
            <p:nvPr/>
          </p:nvSpPr>
          <p:spPr>
            <a:xfrm>
              <a:off x="3291840" y="3813048"/>
              <a:ext cx="1207008" cy="201168"/>
            </a:xfrm>
            <a:prstGeom prst="rect">
              <a:avLst/>
            </a:prstGeom>
            <a:noFill/>
            <a:ln>
              <a:noFill/>
            </a:ln>
          </p:spPr>
          <p:txBody>
            <a:bodyPr wrap="square" rtlCol="0"/>
            <a:lstStyle/>
            <a:p>
              <a:pPr algn="l"/>
              <a:r>
                <a:rPr lang="en-US" sz="1100" b="1" dirty="0">
                  <a:solidFill>
                    <a:srgbClr val="26215C"/>
                  </a:solidFill>
                </a:rPr>
                <a:t>Orchestrator</a:t>
              </a:r>
            </a:p>
          </p:txBody>
        </p:sp>
        <p:sp>
          <p:nvSpPr>
            <p:cNvPr id="252" name="Orchestrator_sub">
              <a:extLst>
                <a:ext uri="{FF2B5EF4-FFF2-40B4-BE49-F238E27FC236}">
                  <a16:creationId xmlns:a16="http://schemas.microsoft.com/office/drawing/2014/main" id="{2E85AA10-80B2-1603-2D41-5D1DF3972B71}"/>
                </a:ext>
              </a:extLst>
            </p:cNvPr>
            <p:cNvSpPr txBox="1"/>
            <p:nvPr/>
          </p:nvSpPr>
          <p:spPr>
            <a:xfrm>
              <a:off x="3291840" y="4014216"/>
              <a:ext cx="1225296" cy="256031"/>
            </a:xfrm>
            <a:prstGeom prst="rect">
              <a:avLst/>
            </a:prstGeom>
            <a:noFill/>
            <a:ln>
              <a:noFill/>
            </a:ln>
          </p:spPr>
          <p:txBody>
            <a:bodyPr wrap="square" rtlCol="0"/>
            <a:lstStyle/>
            <a:p>
              <a:pPr algn="l"/>
              <a:r>
                <a:rPr lang="en-US" sz="1000" b="0" dirty="0">
                  <a:solidFill>
                    <a:srgbClr val="3C3489"/>
                  </a:solidFill>
                </a:rPr>
                <a:t>Parallel exec.
result aggregation</a:t>
              </a:r>
            </a:p>
          </p:txBody>
        </p:sp>
        <p:cxnSp>
          <p:nvCxnSpPr>
            <p:cNvPr id="253" name="conn">
              <a:extLst>
                <a:ext uri="{FF2B5EF4-FFF2-40B4-BE49-F238E27FC236}">
                  <a16:creationId xmlns:a16="http://schemas.microsoft.com/office/drawing/2014/main" id="{EB574F7E-B27B-91C3-1116-BF3FDCEA0EC4}"/>
                </a:ext>
              </a:extLst>
            </p:cNvPr>
            <p:cNvCxnSpPr/>
            <p:nvPr/>
          </p:nvCxnSpPr>
          <p:spPr>
            <a:xfrm>
              <a:off x="4590288" y="4041648"/>
              <a:ext cx="182880" cy="0"/>
            </a:xfrm>
            <a:prstGeom prst="line">
              <a:avLst/>
            </a:prstGeom>
            <a:noFill/>
            <a:ln w="15240">
              <a:solidFill>
                <a:srgbClr val="534AB7"/>
              </a:solidFill>
              <a:tailEnd type="arrow"/>
            </a:ln>
          </p:spPr>
        </p:cxnSp>
        <p:sp>
          <p:nvSpPr>
            <p:cNvPr id="254" name="Security_bg">
              <a:extLst>
                <a:ext uri="{FF2B5EF4-FFF2-40B4-BE49-F238E27FC236}">
                  <a16:creationId xmlns:a16="http://schemas.microsoft.com/office/drawing/2014/main" id="{B97CAB05-BC1A-69BA-A9F9-D4DB4C766DB5}"/>
                </a:ext>
              </a:extLst>
            </p:cNvPr>
            <p:cNvSpPr/>
            <p:nvPr/>
          </p:nvSpPr>
          <p:spPr>
            <a:xfrm>
              <a:off x="4773168" y="3767328"/>
              <a:ext cx="758952" cy="548640"/>
            </a:xfrm>
            <a:prstGeom prst="rect">
              <a:avLst/>
            </a:prstGeom>
            <a:solidFill>
              <a:srgbClr val="FFFFFF"/>
            </a:solidFill>
            <a:ln w="9525">
              <a:solidFill>
                <a:srgbClr val="534AB7"/>
              </a:solidFill>
            </a:ln>
          </p:spPr>
          <p:txBody>
            <a:bodyPr/>
            <a:lstStyle/>
            <a:p>
              <a:endParaRPr lang="en-US" sz="2800"/>
            </a:p>
          </p:txBody>
        </p:sp>
        <p:sp>
          <p:nvSpPr>
            <p:cNvPr id="255" name="Security_top">
              <a:extLst>
                <a:ext uri="{FF2B5EF4-FFF2-40B4-BE49-F238E27FC236}">
                  <a16:creationId xmlns:a16="http://schemas.microsoft.com/office/drawing/2014/main" id="{D6FB1A47-58D7-6ACE-81FF-88A141E7B778}"/>
                </a:ext>
              </a:extLst>
            </p:cNvPr>
            <p:cNvSpPr/>
            <p:nvPr/>
          </p:nvSpPr>
          <p:spPr>
            <a:xfrm>
              <a:off x="4773168" y="3767328"/>
              <a:ext cx="758952" cy="50292"/>
            </a:xfrm>
            <a:prstGeom prst="rect">
              <a:avLst/>
            </a:prstGeom>
            <a:solidFill>
              <a:srgbClr val="534AB7"/>
            </a:solidFill>
            <a:ln w="0">
              <a:solidFill>
                <a:srgbClr val="534AB7"/>
              </a:solidFill>
            </a:ln>
          </p:spPr>
          <p:txBody>
            <a:bodyPr/>
            <a:lstStyle/>
            <a:p>
              <a:endParaRPr lang="en-US" sz="2800"/>
            </a:p>
          </p:txBody>
        </p:sp>
        <p:sp>
          <p:nvSpPr>
            <p:cNvPr id="256" name="Security_title">
              <a:extLst>
                <a:ext uri="{FF2B5EF4-FFF2-40B4-BE49-F238E27FC236}">
                  <a16:creationId xmlns:a16="http://schemas.microsoft.com/office/drawing/2014/main" id="{BE1ADE09-38AB-5731-B39B-E88DA1AFEB43}"/>
                </a:ext>
              </a:extLst>
            </p:cNvPr>
            <p:cNvSpPr txBox="1"/>
            <p:nvPr/>
          </p:nvSpPr>
          <p:spPr>
            <a:xfrm>
              <a:off x="4864606" y="3949628"/>
              <a:ext cx="627523" cy="201168"/>
            </a:xfrm>
            <a:prstGeom prst="rect">
              <a:avLst/>
            </a:prstGeom>
            <a:noFill/>
            <a:ln>
              <a:noFill/>
            </a:ln>
          </p:spPr>
          <p:txBody>
            <a:bodyPr wrap="square" rtlCol="0"/>
            <a:lstStyle/>
            <a:p>
              <a:pPr algn="l"/>
              <a:r>
                <a:rPr lang="en-US" sz="1100" b="1" dirty="0">
                  <a:solidFill>
                    <a:srgbClr val="26215C"/>
                  </a:solidFill>
                </a:rPr>
                <a:t>Security</a:t>
              </a:r>
            </a:p>
          </p:txBody>
        </p:sp>
        <p:sp>
          <p:nvSpPr>
            <p:cNvPr id="257" name="Design_bg">
              <a:extLst>
                <a:ext uri="{FF2B5EF4-FFF2-40B4-BE49-F238E27FC236}">
                  <a16:creationId xmlns:a16="http://schemas.microsoft.com/office/drawing/2014/main" id="{588B17D6-47F6-2A34-7BCA-B07064DBB0F4}"/>
                </a:ext>
              </a:extLst>
            </p:cNvPr>
            <p:cNvSpPr/>
            <p:nvPr/>
          </p:nvSpPr>
          <p:spPr>
            <a:xfrm>
              <a:off x="5550407" y="3767328"/>
              <a:ext cx="758952" cy="548640"/>
            </a:xfrm>
            <a:prstGeom prst="rect">
              <a:avLst/>
            </a:prstGeom>
            <a:solidFill>
              <a:srgbClr val="FFFFFF"/>
            </a:solidFill>
            <a:ln w="9525">
              <a:solidFill>
                <a:srgbClr val="534AB7"/>
              </a:solidFill>
            </a:ln>
          </p:spPr>
          <p:txBody>
            <a:bodyPr/>
            <a:lstStyle/>
            <a:p>
              <a:endParaRPr lang="en-US" sz="2800"/>
            </a:p>
          </p:txBody>
        </p:sp>
        <p:sp>
          <p:nvSpPr>
            <p:cNvPr id="258" name="Design_top">
              <a:extLst>
                <a:ext uri="{FF2B5EF4-FFF2-40B4-BE49-F238E27FC236}">
                  <a16:creationId xmlns:a16="http://schemas.microsoft.com/office/drawing/2014/main" id="{0AF85A36-532E-E2C9-6AE5-9125826466C6}"/>
                </a:ext>
              </a:extLst>
            </p:cNvPr>
            <p:cNvSpPr/>
            <p:nvPr/>
          </p:nvSpPr>
          <p:spPr>
            <a:xfrm>
              <a:off x="5550407" y="3767328"/>
              <a:ext cx="758952" cy="50292"/>
            </a:xfrm>
            <a:prstGeom prst="rect">
              <a:avLst/>
            </a:prstGeom>
            <a:solidFill>
              <a:srgbClr val="534AB7"/>
            </a:solidFill>
            <a:ln w="0">
              <a:solidFill>
                <a:srgbClr val="534AB7"/>
              </a:solidFill>
            </a:ln>
          </p:spPr>
          <p:txBody>
            <a:bodyPr/>
            <a:lstStyle/>
            <a:p>
              <a:endParaRPr lang="en-US" sz="2800"/>
            </a:p>
          </p:txBody>
        </p:sp>
        <p:sp>
          <p:nvSpPr>
            <p:cNvPr id="259" name="Design_title">
              <a:extLst>
                <a:ext uri="{FF2B5EF4-FFF2-40B4-BE49-F238E27FC236}">
                  <a16:creationId xmlns:a16="http://schemas.microsoft.com/office/drawing/2014/main" id="{8EA5360D-123E-66A9-D256-00BF5B82AF58}"/>
                </a:ext>
              </a:extLst>
            </p:cNvPr>
            <p:cNvSpPr txBox="1"/>
            <p:nvPr/>
          </p:nvSpPr>
          <p:spPr>
            <a:xfrm>
              <a:off x="5641847" y="3937751"/>
              <a:ext cx="576071" cy="201168"/>
            </a:xfrm>
            <a:prstGeom prst="rect">
              <a:avLst/>
            </a:prstGeom>
            <a:noFill/>
            <a:ln>
              <a:noFill/>
            </a:ln>
          </p:spPr>
          <p:txBody>
            <a:bodyPr wrap="square" rtlCol="0"/>
            <a:lstStyle/>
            <a:p>
              <a:pPr algn="l"/>
              <a:r>
                <a:rPr lang="en-US" sz="1100" b="1" dirty="0">
                  <a:solidFill>
                    <a:srgbClr val="26215C"/>
                  </a:solidFill>
                </a:rPr>
                <a:t>Design</a:t>
              </a:r>
            </a:p>
          </p:txBody>
        </p:sp>
        <p:sp>
          <p:nvSpPr>
            <p:cNvPr id="260" name="Error hdlg._bg">
              <a:extLst>
                <a:ext uri="{FF2B5EF4-FFF2-40B4-BE49-F238E27FC236}">
                  <a16:creationId xmlns:a16="http://schemas.microsoft.com/office/drawing/2014/main" id="{A1AC05B4-4A4B-E674-AF69-FF27B35824D6}"/>
                </a:ext>
              </a:extLst>
            </p:cNvPr>
            <p:cNvSpPr/>
            <p:nvPr/>
          </p:nvSpPr>
          <p:spPr>
            <a:xfrm>
              <a:off x="6327648" y="3767328"/>
              <a:ext cx="758952" cy="548640"/>
            </a:xfrm>
            <a:prstGeom prst="rect">
              <a:avLst/>
            </a:prstGeom>
            <a:solidFill>
              <a:srgbClr val="FFFFFF"/>
            </a:solidFill>
            <a:ln w="9525">
              <a:solidFill>
                <a:srgbClr val="534AB7"/>
              </a:solidFill>
            </a:ln>
          </p:spPr>
          <p:txBody>
            <a:bodyPr/>
            <a:lstStyle/>
            <a:p>
              <a:endParaRPr lang="en-US" sz="2800"/>
            </a:p>
          </p:txBody>
        </p:sp>
        <p:sp>
          <p:nvSpPr>
            <p:cNvPr id="261" name="Error hdlg._top">
              <a:extLst>
                <a:ext uri="{FF2B5EF4-FFF2-40B4-BE49-F238E27FC236}">
                  <a16:creationId xmlns:a16="http://schemas.microsoft.com/office/drawing/2014/main" id="{5C21A6EE-ABEF-2AE6-431B-EDCD4918C777}"/>
                </a:ext>
              </a:extLst>
            </p:cNvPr>
            <p:cNvSpPr/>
            <p:nvPr/>
          </p:nvSpPr>
          <p:spPr>
            <a:xfrm>
              <a:off x="6327648" y="3767328"/>
              <a:ext cx="758952" cy="50292"/>
            </a:xfrm>
            <a:prstGeom prst="rect">
              <a:avLst/>
            </a:prstGeom>
            <a:solidFill>
              <a:srgbClr val="534AB7"/>
            </a:solidFill>
            <a:ln w="0">
              <a:solidFill>
                <a:srgbClr val="534AB7"/>
              </a:solidFill>
            </a:ln>
          </p:spPr>
          <p:txBody>
            <a:bodyPr/>
            <a:lstStyle/>
            <a:p>
              <a:endParaRPr lang="en-US" sz="2800"/>
            </a:p>
          </p:txBody>
        </p:sp>
        <p:sp>
          <p:nvSpPr>
            <p:cNvPr id="262" name="Error hdlg._title">
              <a:extLst>
                <a:ext uri="{FF2B5EF4-FFF2-40B4-BE49-F238E27FC236}">
                  <a16:creationId xmlns:a16="http://schemas.microsoft.com/office/drawing/2014/main" id="{040DE633-775F-F52C-1A8D-DCA41E30D952}"/>
                </a:ext>
              </a:extLst>
            </p:cNvPr>
            <p:cNvSpPr txBox="1"/>
            <p:nvPr/>
          </p:nvSpPr>
          <p:spPr>
            <a:xfrm>
              <a:off x="6419088" y="3885222"/>
              <a:ext cx="625258" cy="201168"/>
            </a:xfrm>
            <a:prstGeom prst="rect">
              <a:avLst/>
            </a:prstGeom>
            <a:noFill/>
            <a:ln>
              <a:noFill/>
            </a:ln>
          </p:spPr>
          <p:txBody>
            <a:bodyPr wrap="square" rtlCol="0"/>
            <a:lstStyle/>
            <a:p>
              <a:pPr algn="l"/>
              <a:r>
                <a:rPr lang="en-US" sz="1100" b="1" dirty="0">
                  <a:solidFill>
                    <a:srgbClr val="26215C"/>
                  </a:solidFill>
                </a:rPr>
                <a:t>Error handling</a:t>
              </a:r>
            </a:p>
          </p:txBody>
        </p:sp>
        <p:sp>
          <p:nvSpPr>
            <p:cNvPr id="263" name="Docs_bg">
              <a:extLst>
                <a:ext uri="{FF2B5EF4-FFF2-40B4-BE49-F238E27FC236}">
                  <a16:creationId xmlns:a16="http://schemas.microsoft.com/office/drawing/2014/main" id="{07430B3B-79C8-203F-A94A-45F31CC3E927}"/>
                </a:ext>
              </a:extLst>
            </p:cNvPr>
            <p:cNvSpPr/>
            <p:nvPr/>
          </p:nvSpPr>
          <p:spPr>
            <a:xfrm>
              <a:off x="7104888" y="3767328"/>
              <a:ext cx="758952" cy="548640"/>
            </a:xfrm>
            <a:prstGeom prst="rect">
              <a:avLst/>
            </a:prstGeom>
            <a:solidFill>
              <a:srgbClr val="FFFFFF"/>
            </a:solidFill>
            <a:ln w="9525">
              <a:solidFill>
                <a:srgbClr val="534AB7"/>
              </a:solidFill>
            </a:ln>
          </p:spPr>
          <p:txBody>
            <a:bodyPr/>
            <a:lstStyle/>
            <a:p>
              <a:endParaRPr lang="en-US" sz="2800"/>
            </a:p>
          </p:txBody>
        </p:sp>
        <p:sp>
          <p:nvSpPr>
            <p:cNvPr id="264" name="Docs_top">
              <a:extLst>
                <a:ext uri="{FF2B5EF4-FFF2-40B4-BE49-F238E27FC236}">
                  <a16:creationId xmlns:a16="http://schemas.microsoft.com/office/drawing/2014/main" id="{C9CBA9CA-069E-0AA5-8DE3-86DE56C9E972}"/>
                </a:ext>
              </a:extLst>
            </p:cNvPr>
            <p:cNvSpPr/>
            <p:nvPr/>
          </p:nvSpPr>
          <p:spPr>
            <a:xfrm>
              <a:off x="7104888" y="3767328"/>
              <a:ext cx="758952" cy="50292"/>
            </a:xfrm>
            <a:prstGeom prst="rect">
              <a:avLst/>
            </a:prstGeom>
            <a:solidFill>
              <a:srgbClr val="534AB7"/>
            </a:solidFill>
            <a:ln w="0">
              <a:solidFill>
                <a:srgbClr val="534AB7"/>
              </a:solidFill>
            </a:ln>
          </p:spPr>
          <p:txBody>
            <a:bodyPr/>
            <a:lstStyle/>
            <a:p>
              <a:endParaRPr lang="en-US" sz="2800"/>
            </a:p>
          </p:txBody>
        </p:sp>
        <p:sp>
          <p:nvSpPr>
            <p:cNvPr id="265" name="Docs_title">
              <a:extLst>
                <a:ext uri="{FF2B5EF4-FFF2-40B4-BE49-F238E27FC236}">
                  <a16:creationId xmlns:a16="http://schemas.microsoft.com/office/drawing/2014/main" id="{099AEFE2-2088-4291-5AC7-1199FE58F115}"/>
                </a:ext>
              </a:extLst>
            </p:cNvPr>
            <p:cNvSpPr txBox="1"/>
            <p:nvPr/>
          </p:nvSpPr>
          <p:spPr>
            <a:xfrm>
              <a:off x="7103545" y="3952602"/>
              <a:ext cx="773773" cy="201168"/>
            </a:xfrm>
            <a:prstGeom prst="rect">
              <a:avLst/>
            </a:prstGeom>
            <a:noFill/>
            <a:ln>
              <a:noFill/>
            </a:ln>
          </p:spPr>
          <p:txBody>
            <a:bodyPr wrap="square" rtlCol="0"/>
            <a:lstStyle/>
            <a:p>
              <a:pPr algn="l"/>
              <a:r>
                <a:rPr lang="en-US" sz="1100" b="1" dirty="0">
                  <a:solidFill>
                    <a:srgbClr val="26215C"/>
                  </a:solidFill>
                </a:rPr>
                <a:t>Documents</a:t>
              </a:r>
            </a:p>
          </p:txBody>
        </p:sp>
        <p:sp>
          <p:nvSpPr>
            <p:cNvPr id="266" name="Govern._bg">
              <a:extLst>
                <a:ext uri="{FF2B5EF4-FFF2-40B4-BE49-F238E27FC236}">
                  <a16:creationId xmlns:a16="http://schemas.microsoft.com/office/drawing/2014/main" id="{F545D0C0-3A39-997C-B0CB-710642A65A14}"/>
                </a:ext>
              </a:extLst>
            </p:cNvPr>
            <p:cNvSpPr/>
            <p:nvPr/>
          </p:nvSpPr>
          <p:spPr>
            <a:xfrm>
              <a:off x="7882127" y="3767328"/>
              <a:ext cx="758952" cy="548640"/>
            </a:xfrm>
            <a:prstGeom prst="rect">
              <a:avLst/>
            </a:prstGeom>
            <a:solidFill>
              <a:srgbClr val="FFFFFF"/>
            </a:solidFill>
            <a:ln w="9525">
              <a:solidFill>
                <a:srgbClr val="534AB7"/>
              </a:solidFill>
            </a:ln>
          </p:spPr>
          <p:txBody>
            <a:bodyPr/>
            <a:lstStyle/>
            <a:p>
              <a:endParaRPr lang="en-US" sz="2800"/>
            </a:p>
          </p:txBody>
        </p:sp>
        <p:sp>
          <p:nvSpPr>
            <p:cNvPr id="267" name="Govern._top">
              <a:extLst>
                <a:ext uri="{FF2B5EF4-FFF2-40B4-BE49-F238E27FC236}">
                  <a16:creationId xmlns:a16="http://schemas.microsoft.com/office/drawing/2014/main" id="{AEA2F7E7-4665-1E9D-D0C0-64F9C0B2B2C8}"/>
                </a:ext>
              </a:extLst>
            </p:cNvPr>
            <p:cNvSpPr/>
            <p:nvPr/>
          </p:nvSpPr>
          <p:spPr>
            <a:xfrm>
              <a:off x="7882127" y="3767328"/>
              <a:ext cx="758952" cy="50292"/>
            </a:xfrm>
            <a:prstGeom prst="rect">
              <a:avLst/>
            </a:prstGeom>
            <a:solidFill>
              <a:srgbClr val="534AB7"/>
            </a:solidFill>
            <a:ln w="0">
              <a:solidFill>
                <a:srgbClr val="534AB7"/>
              </a:solidFill>
            </a:ln>
          </p:spPr>
          <p:txBody>
            <a:bodyPr/>
            <a:lstStyle/>
            <a:p>
              <a:endParaRPr lang="en-US" sz="2800"/>
            </a:p>
          </p:txBody>
        </p:sp>
        <p:sp>
          <p:nvSpPr>
            <p:cNvPr id="268" name="Govern._title">
              <a:extLst>
                <a:ext uri="{FF2B5EF4-FFF2-40B4-BE49-F238E27FC236}">
                  <a16:creationId xmlns:a16="http://schemas.microsoft.com/office/drawing/2014/main" id="{FAC1027E-0AA1-A210-7814-5ADC813FC4EE}"/>
                </a:ext>
              </a:extLst>
            </p:cNvPr>
            <p:cNvSpPr txBox="1"/>
            <p:nvPr/>
          </p:nvSpPr>
          <p:spPr>
            <a:xfrm>
              <a:off x="7853948" y="3955564"/>
              <a:ext cx="822959" cy="201168"/>
            </a:xfrm>
            <a:prstGeom prst="rect">
              <a:avLst/>
            </a:prstGeom>
            <a:noFill/>
            <a:ln>
              <a:noFill/>
            </a:ln>
          </p:spPr>
          <p:txBody>
            <a:bodyPr wrap="square" rtlCol="0"/>
            <a:lstStyle/>
            <a:p>
              <a:pPr algn="l"/>
              <a:r>
                <a:rPr lang="en-US" sz="1100" b="1" dirty="0">
                  <a:solidFill>
                    <a:srgbClr val="26215C"/>
                  </a:solidFill>
                </a:rPr>
                <a:t>Governance</a:t>
              </a:r>
            </a:p>
          </p:txBody>
        </p:sp>
      </p:grpSp>
      <p:cxnSp>
        <p:nvCxnSpPr>
          <p:cNvPr id="269" name="conn">
            <a:extLst>
              <a:ext uri="{FF2B5EF4-FFF2-40B4-BE49-F238E27FC236}">
                <a16:creationId xmlns:a16="http://schemas.microsoft.com/office/drawing/2014/main" id="{78FC3C9B-8BDA-1A83-D94E-93235F10F6FB}"/>
              </a:ext>
            </a:extLst>
          </p:cNvPr>
          <p:cNvCxnSpPr>
            <a:cxnSpLocks/>
          </p:cNvCxnSpPr>
          <p:nvPr/>
        </p:nvCxnSpPr>
        <p:spPr>
          <a:xfrm>
            <a:off x="5707119" y="5849931"/>
            <a:ext cx="0" cy="121385"/>
          </a:xfrm>
          <a:prstGeom prst="line">
            <a:avLst/>
          </a:prstGeom>
          <a:noFill/>
          <a:ln w="15240">
            <a:solidFill>
              <a:srgbClr val="993C1D"/>
            </a:solidFill>
            <a:tailEnd type="arrow"/>
          </a:ln>
        </p:spPr>
      </p:cxnSp>
      <p:grpSp>
        <p:nvGrpSpPr>
          <p:cNvPr id="270" name="GROUP_output">
            <a:extLst>
              <a:ext uri="{FF2B5EF4-FFF2-40B4-BE49-F238E27FC236}">
                <a16:creationId xmlns:a16="http://schemas.microsoft.com/office/drawing/2014/main" id="{877FAFE8-68A8-298A-51EF-F5DD39213960}"/>
              </a:ext>
            </a:extLst>
          </p:cNvPr>
          <p:cNvGrpSpPr/>
          <p:nvPr/>
        </p:nvGrpSpPr>
        <p:grpSpPr>
          <a:xfrm>
            <a:off x="3015157" y="5976834"/>
            <a:ext cx="5029200" cy="485545"/>
            <a:chOff x="2286000" y="4498848"/>
            <a:chExt cx="4572000" cy="365760"/>
          </a:xfrm>
        </p:grpSpPr>
        <p:sp>
          <p:nvSpPr>
            <p:cNvPr id="271" name="shape">
              <a:extLst>
                <a:ext uri="{FF2B5EF4-FFF2-40B4-BE49-F238E27FC236}">
                  <a16:creationId xmlns:a16="http://schemas.microsoft.com/office/drawing/2014/main" id="{24FCEECC-1AA5-6A1B-424C-E1E718A97770}"/>
                </a:ext>
              </a:extLst>
            </p:cNvPr>
            <p:cNvSpPr/>
            <p:nvPr/>
          </p:nvSpPr>
          <p:spPr>
            <a:xfrm>
              <a:off x="2286000" y="4498848"/>
              <a:ext cx="4572000" cy="365760"/>
            </a:xfrm>
            <a:prstGeom prst="rect">
              <a:avLst/>
            </a:prstGeom>
            <a:solidFill>
              <a:srgbClr val="FAECE7"/>
            </a:solidFill>
            <a:ln w="9525">
              <a:solidFill>
                <a:srgbClr val="993C1D"/>
              </a:solidFill>
            </a:ln>
          </p:spPr>
          <p:txBody>
            <a:bodyPr/>
            <a:lstStyle/>
            <a:p>
              <a:endParaRPr lang="en-US"/>
            </a:p>
          </p:txBody>
        </p:sp>
        <p:sp>
          <p:nvSpPr>
            <p:cNvPr id="272" name="shape">
              <a:extLst>
                <a:ext uri="{FF2B5EF4-FFF2-40B4-BE49-F238E27FC236}">
                  <a16:creationId xmlns:a16="http://schemas.microsoft.com/office/drawing/2014/main" id="{042190F0-E257-07C4-779A-5D105943D694}"/>
                </a:ext>
              </a:extLst>
            </p:cNvPr>
            <p:cNvSpPr/>
            <p:nvPr/>
          </p:nvSpPr>
          <p:spPr>
            <a:xfrm>
              <a:off x="2286000" y="4498848"/>
              <a:ext cx="4572000" cy="50292"/>
            </a:xfrm>
            <a:prstGeom prst="rect">
              <a:avLst/>
            </a:prstGeom>
            <a:solidFill>
              <a:srgbClr val="993C1D"/>
            </a:solidFill>
            <a:ln w="0">
              <a:solidFill>
                <a:srgbClr val="993C1D"/>
              </a:solidFill>
            </a:ln>
          </p:spPr>
          <p:txBody>
            <a:bodyPr/>
            <a:lstStyle/>
            <a:p>
              <a:endParaRPr lang="en-US"/>
            </a:p>
          </p:txBody>
        </p:sp>
        <p:sp>
          <p:nvSpPr>
            <p:cNvPr id="273" name="text">
              <a:extLst>
                <a:ext uri="{FF2B5EF4-FFF2-40B4-BE49-F238E27FC236}">
                  <a16:creationId xmlns:a16="http://schemas.microsoft.com/office/drawing/2014/main" id="{5B58A69B-3C5F-775C-B7C3-E4CB3DD1500C}"/>
                </a:ext>
              </a:extLst>
            </p:cNvPr>
            <p:cNvSpPr txBox="1"/>
            <p:nvPr/>
          </p:nvSpPr>
          <p:spPr>
            <a:xfrm>
              <a:off x="2286000" y="4517136"/>
              <a:ext cx="4572000" cy="182880"/>
            </a:xfrm>
            <a:prstGeom prst="rect">
              <a:avLst/>
            </a:prstGeom>
            <a:noFill/>
            <a:ln>
              <a:noFill/>
            </a:ln>
          </p:spPr>
          <p:txBody>
            <a:bodyPr wrap="square" rtlCol="0"/>
            <a:lstStyle/>
            <a:p>
              <a:pPr algn="ctr"/>
              <a:r>
                <a:rPr lang="en-US" sz="1100" b="1" dirty="0">
                  <a:solidFill>
                    <a:srgbClr val="4A1B0C"/>
                  </a:solidFill>
                </a:rPr>
                <a:t>Final output  ·  Enhanced health report</a:t>
              </a:r>
            </a:p>
          </p:txBody>
        </p:sp>
        <p:sp>
          <p:nvSpPr>
            <p:cNvPr id="274" name="text">
              <a:extLst>
                <a:ext uri="{FF2B5EF4-FFF2-40B4-BE49-F238E27FC236}">
                  <a16:creationId xmlns:a16="http://schemas.microsoft.com/office/drawing/2014/main" id="{28E89E12-FC29-A727-FB33-DEA71207863E}"/>
                </a:ext>
              </a:extLst>
            </p:cNvPr>
            <p:cNvSpPr txBox="1"/>
            <p:nvPr/>
          </p:nvSpPr>
          <p:spPr>
            <a:xfrm>
              <a:off x="2286000" y="4700016"/>
              <a:ext cx="4572000" cy="128016"/>
            </a:xfrm>
            <a:prstGeom prst="rect">
              <a:avLst/>
            </a:prstGeom>
            <a:noFill/>
            <a:ln>
              <a:noFill/>
            </a:ln>
          </p:spPr>
          <p:txBody>
            <a:bodyPr wrap="square" rtlCol="0"/>
            <a:lstStyle/>
            <a:p>
              <a:pPr algn="ctr"/>
              <a:r>
                <a:rPr lang="en-US" sz="1000" b="0" dirty="0">
                  <a:solidFill>
                    <a:srgbClr val="712B13"/>
                  </a:solidFill>
                </a:rPr>
                <a:t>Health score · findings · AI explanations · fix code · agent insights · JSON export</a:t>
              </a:r>
            </a:p>
          </p:txBody>
        </p:sp>
      </p:grpSp>
      <p:grpSp>
        <p:nvGrpSpPr>
          <p:cNvPr id="287" name="GROUP_input">
            <a:extLst>
              <a:ext uri="{FF2B5EF4-FFF2-40B4-BE49-F238E27FC236}">
                <a16:creationId xmlns:a16="http://schemas.microsoft.com/office/drawing/2014/main" id="{A9EB8188-9605-A772-B9B5-80071CC6A4D7}"/>
              </a:ext>
            </a:extLst>
          </p:cNvPr>
          <p:cNvGrpSpPr/>
          <p:nvPr/>
        </p:nvGrpSpPr>
        <p:grpSpPr>
          <a:xfrm>
            <a:off x="4149424" y="1002735"/>
            <a:ext cx="2743200" cy="310896"/>
            <a:chOff x="3200400" y="512064"/>
            <a:chExt cx="2743200" cy="310896"/>
          </a:xfrm>
        </p:grpSpPr>
        <p:sp>
          <p:nvSpPr>
            <p:cNvPr id="288" name="shape">
              <a:extLst>
                <a:ext uri="{FF2B5EF4-FFF2-40B4-BE49-F238E27FC236}">
                  <a16:creationId xmlns:a16="http://schemas.microsoft.com/office/drawing/2014/main" id="{C9DACE32-AB71-11DD-CF35-D99B1EC82389}"/>
                </a:ext>
              </a:extLst>
            </p:cNvPr>
            <p:cNvSpPr/>
            <p:nvPr/>
          </p:nvSpPr>
          <p:spPr>
            <a:xfrm>
              <a:off x="3200400" y="512064"/>
              <a:ext cx="2743200" cy="310896"/>
            </a:xfrm>
            <a:prstGeom prst="rect">
              <a:avLst/>
            </a:prstGeom>
            <a:solidFill>
              <a:srgbClr val="D3D1C7"/>
            </a:solidFill>
            <a:ln w="9525">
              <a:solidFill>
                <a:srgbClr val="888780"/>
              </a:solidFill>
            </a:ln>
          </p:spPr>
          <p:txBody>
            <a:bodyPr/>
            <a:lstStyle/>
            <a:p>
              <a:endParaRPr lang="en-US"/>
            </a:p>
          </p:txBody>
        </p:sp>
        <p:sp>
          <p:nvSpPr>
            <p:cNvPr id="289" name="text">
              <a:extLst>
                <a:ext uri="{FF2B5EF4-FFF2-40B4-BE49-F238E27FC236}">
                  <a16:creationId xmlns:a16="http://schemas.microsoft.com/office/drawing/2014/main" id="{D356824D-C89F-6FF6-C90F-553D970BB2B0}"/>
                </a:ext>
              </a:extLst>
            </p:cNvPr>
            <p:cNvSpPr txBox="1"/>
            <p:nvPr/>
          </p:nvSpPr>
          <p:spPr>
            <a:xfrm>
              <a:off x="3200400" y="512064"/>
              <a:ext cx="2743200" cy="310896"/>
            </a:xfrm>
            <a:prstGeom prst="rect">
              <a:avLst/>
            </a:prstGeom>
            <a:noFill/>
            <a:ln>
              <a:noFill/>
            </a:ln>
          </p:spPr>
          <p:txBody>
            <a:bodyPr wrap="square" rtlCol="0"/>
            <a:lstStyle/>
            <a:p>
              <a:pPr algn="ctr"/>
              <a:r>
                <a:rPr lang="en-US" sz="900" b="1" dirty="0">
                  <a:solidFill>
                    <a:srgbClr val="2C2C2A"/>
                  </a:solidFill>
                </a:rPr>
                <a:t>OpenAPI 3.x spec  ·  YAML / JSON</a:t>
              </a:r>
            </a:p>
          </p:txBody>
        </p:sp>
      </p:grpSp>
    </p:spTree>
    <p:extLst>
      <p:ext uri="{BB962C8B-B14F-4D97-AF65-F5344CB8AC3E}">
        <p14:creationId xmlns:p14="http://schemas.microsoft.com/office/powerpoint/2010/main" val="712015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0E560-8174-E681-588B-30FD95213BA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D6CB07D-DCF1-C8F8-9F44-8D60FE2C945B}"/>
              </a:ext>
            </a:extLst>
          </p:cNvPr>
          <p:cNvSpPr/>
          <p:nvPr/>
        </p:nvSpPr>
        <p:spPr>
          <a:xfrm>
            <a:off x="0" y="0"/>
            <a:ext cx="12191695" cy="6858000"/>
          </a:xfrm>
          <a:prstGeom prst="rect">
            <a:avLst/>
          </a:prstGeom>
          <a:solidFill>
            <a:srgbClr val="333333"/>
          </a:solidFill>
          <a:ln/>
        </p:spPr>
        <p:txBody>
          <a:bodyPr/>
          <a:lstStyle/>
          <a:p>
            <a:endParaRPr lang="en-IN"/>
          </a:p>
        </p:txBody>
      </p:sp>
      <p:sp>
        <p:nvSpPr>
          <p:cNvPr id="3" name="Shape 1">
            <a:extLst>
              <a:ext uri="{FF2B5EF4-FFF2-40B4-BE49-F238E27FC236}">
                <a16:creationId xmlns:a16="http://schemas.microsoft.com/office/drawing/2014/main" id="{81E40EFE-C161-46E4-6887-BE586B06F397}"/>
              </a:ext>
            </a:extLst>
          </p:cNvPr>
          <p:cNvSpPr/>
          <p:nvPr/>
        </p:nvSpPr>
        <p:spPr>
          <a:xfrm>
            <a:off x="-17405" y="0"/>
            <a:ext cx="12191695" cy="6858000"/>
          </a:xfrm>
          <a:prstGeom prst="rect">
            <a:avLst/>
          </a:prstGeom>
          <a:solidFill>
            <a:srgbClr val="FFFFFF"/>
          </a:solidFill>
          <a:ln/>
        </p:spPr>
        <p:txBody>
          <a:bodyPr/>
          <a:lstStyle/>
          <a:p>
            <a:endParaRPr lang="en-IN"/>
          </a:p>
        </p:txBody>
      </p:sp>
      <p:sp>
        <p:nvSpPr>
          <p:cNvPr id="4" name="Shape 2">
            <a:extLst>
              <a:ext uri="{FF2B5EF4-FFF2-40B4-BE49-F238E27FC236}">
                <a16:creationId xmlns:a16="http://schemas.microsoft.com/office/drawing/2014/main" id="{5D1FF3FA-96AC-0EC9-5FA4-7CF69E1174DE}"/>
              </a:ext>
            </a:extLst>
          </p:cNvPr>
          <p:cNvSpPr/>
          <p:nvPr/>
        </p:nvSpPr>
        <p:spPr>
          <a:xfrm>
            <a:off x="0" y="0"/>
            <a:ext cx="12191695" cy="114300"/>
          </a:xfrm>
          <a:prstGeom prst="rect">
            <a:avLst/>
          </a:prstGeom>
          <a:solidFill>
            <a:srgbClr val="0F62FE"/>
          </a:solidFill>
          <a:ln/>
        </p:spPr>
        <p:txBody>
          <a:bodyPr/>
          <a:lstStyle/>
          <a:p>
            <a:endParaRPr lang="en-IN"/>
          </a:p>
        </p:txBody>
      </p:sp>
      <p:sp>
        <p:nvSpPr>
          <p:cNvPr id="5" name="Shape 3">
            <a:extLst>
              <a:ext uri="{FF2B5EF4-FFF2-40B4-BE49-F238E27FC236}">
                <a16:creationId xmlns:a16="http://schemas.microsoft.com/office/drawing/2014/main" id="{FC39E9A6-EEFA-33BB-274A-05320B7C485F}"/>
              </a:ext>
            </a:extLst>
          </p:cNvPr>
          <p:cNvSpPr/>
          <p:nvPr/>
        </p:nvSpPr>
        <p:spPr>
          <a:xfrm>
            <a:off x="0" y="1172261"/>
            <a:ext cx="12191695" cy="9144"/>
          </a:xfrm>
          <a:prstGeom prst="rect">
            <a:avLst/>
          </a:prstGeom>
          <a:solidFill>
            <a:srgbClr val="E0E0E0"/>
          </a:solidFill>
          <a:ln/>
        </p:spPr>
        <p:txBody>
          <a:bodyPr/>
          <a:lstStyle/>
          <a:p>
            <a:endParaRPr lang="en-IN"/>
          </a:p>
        </p:txBody>
      </p:sp>
      <p:sp>
        <p:nvSpPr>
          <p:cNvPr id="6" name="Text 4">
            <a:extLst>
              <a:ext uri="{FF2B5EF4-FFF2-40B4-BE49-F238E27FC236}">
                <a16:creationId xmlns:a16="http://schemas.microsoft.com/office/drawing/2014/main" id="{2E046206-03F2-9E38-7553-B3836A7AFAAC}"/>
              </a:ext>
            </a:extLst>
          </p:cNvPr>
          <p:cNvSpPr txBox="1"/>
          <p:nvPr/>
        </p:nvSpPr>
        <p:spPr>
          <a:xfrm>
            <a:off x="571500" y="466344"/>
            <a:ext cx="6165202" cy="523951"/>
          </a:xfrm>
          <a:prstGeom prst="rect">
            <a:avLst/>
          </a:prstGeom>
          <a:noFill/>
          <a:ln/>
        </p:spPr>
        <p:txBody>
          <a:bodyPr wrap="square" lIns="0" tIns="0" rIns="0" bIns="0" rtlCol="0" anchor="ctr"/>
          <a:lstStyle/>
          <a:p>
            <a:pPr>
              <a:lnSpc>
                <a:spcPct val="90000"/>
              </a:lnSpc>
              <a:spcBef>
                <a:spcPct val="0"/>
              </a:spcBef>
              <a:spcAft>
                <a:spcPts val="600"/>
              </a:spcAft>
            </a:pPr>
            <a:r>
              <a:rPr lang="en-US" sz="3200" dirty="0"/>
              <a:t>Business Value/Impact</a:t>
            </a:r>
          </a:p>
        </p:txBody>
      </p:sp>
      <p:sp>
        <p:nvSpPr>
          <p:cNvPr id="8" name="Shape 6">
            <a:extLst>
              <a:ext uri="{FF2B5EF4-FFF2-40B4-BE49-F238E27FC236}">
                <a16:creationId xmlns:a16="http://schemas.microsoft.com/office/drawing/2014/main" id="{A585AB68-634C-1A80-E3B1-EB3C6E8D4637}"/>
              </a:ext>
            </a:extLst>
          </p:cNvPr>
          <p:cNvSpPr/>
          <p:nvPr/>
        </p:nvSpPr>
        <p:spPr>
          <a:xfrm>
            <a:off x="0" y="6372454"/>
            <a:ext cx="12191695" cy="485546"/>
          </a:xfrm>
          <a:prstGeom prst="rect">
            <a:avLst/>
          </a:prstGeom>
          <a:solidFill>
            <a:srgbClr val="FFFFFF"/>
          </a:solidFill>
          <a:ln/>
        </p:spPr>
        <p:txBody>
          <a:bodyPr/>
          <a:lstStyle/>
          <a:p>
            <a:endParaRPr lang="en-IN"/>
          </a:p>
        </p:txBody>
      </p:sp>
      <p:sp>
        <p:nvSpPr>
          <p:cNvPr id="9" name="Shape 7">
            <a:extLst>
              <a:ext uri="{FF2B5EF4-FFF2-40B4-BE49-F238E27FC236}">
                <a16:creationId xmlns:a16="http://schemas.microsoft.com/office/drawing/2014/main" id="{50715DF6-84C7-7A6E-5138-017DCC17FB34}"/>
              </a:ext>
            </a:extLst>
          </p:cNvPr>
          <p:cNvSpPr/>
          <p:nvPr/>
        </p:nvSpPr>
        <p:spPr>
          <a:xfrm>
            <a:off x="0" y="6372454"/>
            <a:ext cx="12191695" cy="9144"/>
          </a:xfrm>
          <a:prstGeom prst="rect">
            <a:avLst/>
          </a:prstGeom>
          <a:solidFill>
            <a:srgbClr val="E0E0E0"/>
          </a:solidFill>
          <a:ln/>
        </p:spPr>
        <p:txBody>
          <a:bodyPr/>
          <a:lstStyle/>
          <a:p>
            <a:endParaRPr lang="en-IN"/>
          </a:p>
        </p:txBody>
      </p:sp>
      <p:sp>
        <p:nvSpPr>
          <p:cNvPr id="10" name="Text 8">
            <a:extLst>
              <a:ext uri="{FF2B5EF4-FFF2-40B4-BE49-F238E27FC236}">
                <a16:creationId xmlns:a16="http://schemas.microsoft.com/office/drawing/2014/main" id="{AA793E0F-7FA3-A1FA-E84F-1F72055F5846}"/>
              </a:ext>
            </a:extLst>
          </p:cNvPr>
          <p:cNvSpPr txBox="1"/>
          <p:nvPr/>
        </p:nvSpPr>
        <p:spPr>
          <a:xfrm>
            <a:off x="571500" y="6543446"/>
            <a:ext cx="1828800"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COE Automation Hackathon 2026</a:t>
            </a:r>
            <a:endParaRPr lang="en-US" sz="900" dirty="0"/>
          </a:p>
        </p:txBody>
      </p:sp>
      <p:sp>
        <p:nvSpPr>
          <p:cNvPr id="11" name="Text 9">
            <a:extLst>
              <a:ext uri="{FF2B5EF4-FFF2-40B4-BE49-F238E27FC236}">
                <a16:creationId xmlns:a16="http://schemas.microsoft.com/office/drawing/2014/main" id="{F015C3BE-B120-94B4-8B68-EED541DAEC50}"/>
              </a:ext>
            </a:extLst>
          </p:cNvPr>
          <p:cNvSpPr txBox="1"/>
          <p:nvPr/>
        </p:nvSpPr>
        <p:spPr>
          <a:xfrm>
            <a:off x="10006279" y="6543446"/>
            <a:ext cx="1705356"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Confidential - Internal Use Only</a:t>
            </a:r>
            <a:endParaRPr lang="en-US" sz="900" dirty="0"/>
          </a:p>
        </p:txBody>
      </p:sp>
      <p:sp>
        <p:nvSpPr>
          <p:cNvPr id="49" name="TextBox 48">
            <a:extLst>
              <a:ext uri="{FF2B5EF4-FFF2-40B4-BE49-F238E27FC236}">
                <a16:creationId xmlns:a16="http://schemas.microsoft.com/office/drawing/2014/main" id="{AB6F435E-07E5-3C7A-DAB6-5EDCEFBC0070}"/>
              </a:ext>
            </a:extLst>
          </p:cNvPr>
          <p:cNvSpPr txBox="1"/>
          <p:nvPr/>
        </p:nvSpPr>
        <p:spPr>
          <a:xfrm>
            <a:off x="869937" y="1247467"/>
            <a:ext cx="9724031" cy="3683358"/>
          </a:xfrm>
          <a:prstGeom prst="rect">
            <a:avLst/>
          </a:prstGeom>
        </p:spPr>
        <p:txBody>
          <a:bodyPr vert="horz" lIns="91440" tIns="45720" rIns="91440" bIns="45720" rtlCol="0" anchor="ctr">
            <a:normAutofit/>
          </a:bodyPr>
          <a:lstStyle/>
          <a:p>
            <a:pPr marL="285750" indent="-285750">
              <a:lnSpc>
                <a:spcPct val="90000"/>
              </a:lnSpc>
              <a:spcAft>
                <a:spcPts val="600"/>
              </a:spcAft>
              <a:buFont typeface="Arial" panose="020B0604020202020204" pitchFamily="34" charset="0"/>
              <a:buChar char="•"/>
            </a:pPr>
            <a:endParaRPr lang="en-US" dirty="0"/>
          </a:p>
        </p:txBody>
      </p:sp>
      <p:grpSp>
        <p:nvGrpSpPr>
          <p:cNvPr id="12" name="GROUP_stats">
            <a:extLst>
              <a:ext uri="{FF2B5EF4-FFF2-40B4-BE49-F238E27FC236}">
                <a16:creationId xmlns:a16="http://schemas.microsoft.com/office/drawing/2014/main" id="{15B91DD5-91B8-1280-589A-D06E9F6EDC6D}"/>
              </a:ext>
            </a:extLst>
          </p:cNvPr>
          <p:cNvGrpSpPr/>
          <p:nvPr/>
        </p:nvGrpSpPr>
        <p:grpSpPr>
          <a:xfrm>
            <a:off x="1481959" y="1342277"/>
            <a:ext cx="8802873" cy="809716"/>
            <a:chOff x="228600" y="530352"/>
            <a:chExt cx="8686800" cy="621792"/>
          </a:xfrm>
        </p:grpSpPr>
        <p:sp>
          <p:nvSpPr>
            <p:cNvPr id="13" name="r">
              <a:extLst>
                <a:ext uri="{FF2B5EF4-FFF2-40B4-BE49-F238E27FC236}">
                  <a16:creationId xmlns:a16="http://schemas.microsoft.com/office/drawing/2014/main" id="{7CC4DDB8-AC56-7CD9-691B-BA4205E3F1FE}"/>
                </a:ext>
              </a:extLst>
            </p:cNvPr>
            <p:cNvSpPr/>
            <p:nvPr/>
          </p:nvSpPr>
          <p:spPr>
            <a:xfrm>
              <a:off x="228600" y="530352"/>
              <a:ext cx="2697480" cy="621792"/>
            </a:xfrm>
            <a:prstGeom prst="rect">
              <a:avLst/>
            </a:prstGeom>
            <a:solidFill>
              <a:srgbClr val="FCEBEB"/>
            </a:solidFill>
            <a:ln w="9525">
              <a:solidFill>
                <a:srgbClr val="E24B4A"/>
              </a:solidFill>
            </a:ln>
          </p:spPr>
          <p:txBody>
            <a:bodyPr/>
            <a:lstStyle/>
            <a:p>
              <a:endParaRPr lang="en-US"/>
            </a:p>
          </p:txBody>
        </p:sp>
        <p:sp>
          <p:nvSpPr>
            <p:cNvPr id="14" name="r">
              <a:extLst>
                <a:ext uri="{FF2B5EF4-FFF2-40B4-BE49-F238E27FC236}">
                  <a16:creationId xmlns:a16="http://schemas.microsoft.com/office/drawing/2014/main" id="{07F0498B-966A-57B7-C1F8-F50A6B1BB289}"/>
                </a:ext>
              </a:extLst>
            </p:cNvPr>
            <p:cNvSpPr/>
            <p:nvPr/>
          </p:nvSpPr>
          <p:spPr>
            <a:xfrm>
              <a:off x="228600" y="530352"/>
              <a:ext cx="2697480" cy="59436"/>
            </a:xfrm>
            <a:prstGeom prst="rect">
              <a:avLst/>
            </a:prstGeom>
            <a:solidFill>
              <a:srgbClr val="E24B4A"/>
            </a:solidFill>
            <a:ln w="0">
              <a:solidFill>
                <a:srgbClr val="E24B4A"/>
              </a:solidFill>
            </a:ln>
          </p:spPr>
          <p:txBody>
            <a:bodyPr/>
            <a:lstStyle/>
            <a:p>
              <a:endParaRPr lang="en-US"/>
            </a:p>
          </p:txBody>
        </p:sp>
        <p:sp>
          <p:nvSpPr>
            <p:cNvPr id="15" name="t">
              <a:extLst>
                <a:ext uri="{FF2B5EF4-FFF2-40B4-BE49-F238E27FC236}">
                  <a16:creationId xmlns:a16="http://schemas.microsoft.com/office/drawing/2014/main" id="{3A573EDE-3826-8BD2-EE9F-6FB376DE359F}"/>
                </a:ext>
              </a:extLst>
            </p:cNvPr>
            <p:cNvSpPr txBox="1"/>
            <p:nvPr/>
          </p:nvSpPr>
          <p:spPr>
            <a:xfrm>
              <a:off x="228600" y="612647"/>
              <a:ext cx="2697480" cy="274320"/>
            </a:xfrm>
            <a:prstGeom prst="rect">
              <a:avLst/>
            </a:prstGeom>
            <a:noFill/>
            <a:ln/>
          </p:spPr>
          <p:txBody>
            <a:bodyPr wrap="square" rtlCol="0"/>
            <a:lstStyle/>
            <a:p>
              <a:pPr algn="ctr"/>
              <a:r>
                <a:rPr lang="en-US" sz="1800" b="1" dirty="0">
                  <a:solidFill>
                    <a:srgbClr val="A32D2D"/>
                  </a:solidFill>
                </a:rPr>
                <a:t>95% faster</a:t>
              </a:r>
            </a:p>
          </p:txBody>
        </p:sp>
        <p:sp>
          <p:nvSpPr>
            <p:cNvPr id="16" name="t">
              <a:extLst>
                <a:ext uri="{FF2B5EF4-FFF2-40B4-BE49-F238E27FC236}">
                  <a16:creationId xmlns:a16="http://schemas.microsoft.com/office/drawing/2014/main" id="{322244B9-11AA-92C2-1A8A-D9128B63F31E}"/>
                </a:ext>
              </a:extLst>
            </p:cNvPr>
            <p:cNvSpPr txBox="1"/>
            <p:nvPr/>
          </p:nvSpPr>
          <p:spPr>
            <a:xfrm>
              <a:off x="228600" y="886968"/>
              <a:ext cx="2697480" cy="201168"/>
            </a:xfrm>
            <a:prstGeom prst="rect">
              <a:avLst/>
            </a:prstGeom>
            <a:noFill/>
            <a:ln/>
          </p:spPr>
          <p:txBody>
            <a:bodyPr wrap="square" rtlCol="0"/>
            <a:lstStyle/>
            <a:p>
              <a:pPr algn="ctr"/>
              <a:r>
                <a:rPr lang="en-US" sz="1100" b="0" dirty="0">
                  <a:solidFill>
                    <a:srgbClr val="791F1F"/>
                  </a:solidFill>
                </a:rPr>
                <a:t>API review time  (4-8 hrs → 5-10 min)</a:t>
              </a:r>
            </a:p>
          </p:txBody>
        </p:sp>
        <p:sp>
          <p:nvSpPr>
            <p:cNvPr id="17" name="r">
              <a:extLst>
                <a:ext uri="{FF2B5EF4-FFF2-40B4-BE49-F238E27FC236}">
                  <a16:creationId xmlns:a16="http://schemas.microsoft.com/office/drawing/2014/main" id="{FCEFD18B-633A-CAEB-2EE4-2C1D4E9BE547}"/>
                </a:ext>
              </a:extLst>
            </p:cNvPr>
            <p:cNvSpPr/>
            <p:nvPr/>
          </p:nvSpPr>
          <p:spPr>
            <a:xfrm>
              <a:off x="3108960" y="530352"/>
              <a:ext cx="2697480" cy="621792"/>
            </a:xfrm>
            <a:prstGeom prst="rect">
              <a:avLst/>
            </a:prstGeom>
            <a:solidFill>
              <a:srgbClr val="FAEEDA"/>
            </a:solidFill>
            <a:ln w="9525">
              <a:solidFill>
                <a:srgbClr val="BA7517"/>
              </a:solidFill>
            </a:ln>
          </p:spPr>
          <p:txBody>
            <a:bodyPr/>
            <a:lstStyle/>
            <a:p>
              <a:endParaRPr lang="en-US"/>
            </a:p>
          </p:txBody>
        </p:sp>
        <p:sp>
          <p:nvSpPr>
            <p:cNvPr id="18" name="r">
              <a:extLst>
                <a:ext uri="{FF2B5EF4-FFF2-40B4-BE49-F238E27FC236}">
                  <a16:creationId xmlns:a16="http://schemas.microsoft.com/office/drawing/2014/main" id="{4C878255-1049-70A6-881B-A4F89821EB74}"/>
                </a:ext>
              </a:extLst>
            </p:cNvPr>
            <p:cNvSpPr/>
            <p:nvPr/>
          </p:nvSpPr>
          <p:spPr>
            <a:xfrm>
              <a:off x="3108960" y="530352"/>
              <a:ext cx="2697480" cy="59436"/>
            </a:xfrm>
            <a:prstGeom prst="rect">
              <a:avLst/>
            </a:prstGeom>
            <a:solidFill>
              <a:srgbClr val="BA7517"/>
            </a:solidFill>
            <a:ln w="0">
              <a:solidFill>
                <a:srgbClr val="BA7517"/>
              </a:solidFill>
            </a:ln>
          </p:spPr>
          <p:txBody>
            <a:bodyPr/>
            <a:lstStyle/>
            <a:p>
              <a:endParaRPr lang="en-US"/>
            </a:p>
          </p:txBody>
        </p:sp>
        <p:sp>
          <p:nvSpPr>
            <p:cNvPr id="19" name="t">
              <a:extLst>
                <a:ext uri="{FF2B5EF4-FFF2-40B4-BE49-F238E27FC236}">
                  <a16:creationId xmlns:a16="http://schemas.microsoft.com/office/drawing/2014/main" id="{64F440F2-9022-A6D2-F523-1E12EC58A335}"/>
                </a:ext>
              </a:extLst>
            </p:cNvPr>
            <p:cNvSpPr txBox="1"/>
            <p:nvPr/>
          </p:nvSpPr>
          <p:spPr>
            <a:xfrm>
              <a:off x="3108960" y="612647"/>
              <a:ext cx="2697480" cy="274320"/>
            </a:xfrm>
            <a:prstGeom prst="rect">
              <a:avLst/>
            </a:prstGeom>
            <a:noFill/>
            <a:ln/>
          </p:spPr>
          <p:txBody>
            <a:bodyPr wrap="square" rtlCol="0"/>
            <a:lstStyle/>
            <a:p>
              <a:pPr algn="ctr"/>
              <a:r>
                <a:rPr lang="en-US" sz="1800" b="1" dirty="0">
                  <a:solidFill>
                    <a:srgbClr val="854F0B"/>
                  </a:solidFill>
                </a:rPr>
                <a:t>98% cheaper</a:t>
              </a:r>
            </a:p>
          </p:txBody>
        </p:sp>
        <p:sp>
          <p:nvSpPr>
            <p:cNvPr id="20" name="t">
              <a:extLst>
                <a:ext uri="{FF2B5EF4-FFF2-40B4-BE49-F238E27FC236}">
                  <a16:creationId xmlns:a16="http://schemas.microsoft.com/office/drawing/2014/main" id="{BE9ECB5C-2290-CD61-F1B3-5983A1386DAB}"/>
                </a:ext>
              </a:extLst>
            </p:cNvPr>
            <p:cNvSpPr txBox="1"/>
            <p:nvPr/>
          </p:nvSpPr>
          <p:spPr>
            <a:xfrm>
              <a:off x="3108960" y="886968"/>
              <a:ext cx="2697480" cy="201168"/>
            </a:xfrm>
            <a:prstGeom prst="rect">
              <a:avLst/>
            </a:prstGeom>
            <a:noFill/>
            <a:ln/>
          </p:spPr>
          <p:txBody>
            <a:bodyPr wrap="square" rtlCol="0"/>
            <a:lstStyle/>
            <a:p>
              <a:pPr algn="ctr"/>
              <a:r>
                <a:rPr lang="en-US" sz="1100" b="0" dirty="0">
                  <a:solidFill>
                    <a:srgbClr val="633806"/>
                  </a:solidFill>
                </a:rPr>
                <a:t>Cost per review  ($400-800 → $5-10)</a:t>
              </a:r>
            </a:p>
          </p:txBody>
        </p:sp>
        <p:sp>
          <p:nvSpPr>
            <p:cNvPr id="21" name="r">
              <a:extLst>
                <a:ext uri="{FF2B5EF4-FFF2-40B4-BE49-F238E27FC236}">
                  <a16:creationId xmlns:a16="http://schemas.microsoft.com/office/drawing/2014/main" id="{04AB9808-6899-1F8A-03D3-07B2B7D4E1B9}"/>
                </a:ext>
              </a:extLst>
            </p:cNvPr>
            <p:cNvSpPr/>
            <p:nvPr/>
          </p:nvSpPr>
          <p:spPr>
            <a:xfrm>
              <a:off x="5989320" y="530352"/>
              <a:ext cx="2697480" cy="621792"/>
            </a:xfrm>
            <a:prstGeom prst="rect">
              <a:avLst/>
            </a:prstGeom>
            <a:solidFill>
              <a:srgbClr val="EEEDFE"/>
            </a:solidFill>
            <a:ln w="9525">
              <a:solidFill>
                <a:srgbClr val="7F77DD"/>
              </a:solidFill>
            </a:ln>
          </p:spPr>
          <p:txBody>
            <a:bodyPr/>
            <a:lstStyle/>
            <a:p>
              <a:endParaRPr lang="en-US"/>
            </a:p>
          </p:txBody>
        </p:sp>
        <p:sp>
          <p:nvSpPr>
            <p:cNvPr id="22" name="r">
              <a:extLst>
                <a:ext uri="{FF2B5EF4-FFF2-40B4-BE49-F238E27FC236}">
                  <a16:creationId xmlns:a16="http://schemas.microsoft.com/office/drawing/2014/main" id="{C53E530E-F9A8-F245-F95F-732D0ED6D032}"/>
                </a:ext>
              </a:extLst>
            </p:cNvPr>
            <p:cNvSpPr/>
            <p:nvPr/>
          </p:nvSpPr>
          <p:spPr>
            <a:xfrm>
              <a:off x="5989320" y="530352"/>
              <a:ext cx="2697480" cy="59436"/>
            </a:xfrm>
            <a:prstGeom prst="rect">
              <a:avLst/>
            </a:prstGeom>
            <a:solidFill>
              <a:srgbClr val="534AB7"/>
            </a:solidFill>
            <a:ln w="0">
              <a:solidFill>
                <a:srgbClr val="534AB7"/>
              </a:solidFill>
            </a:ln>
          </p:spPr>
          <p:txBody>
            <a:bodyPr/>
            <a:lstStyle/>
            <a:p>
              <a:endParaRPr lang="en-US"/>
            </a:p>
          </p:txBody>
        </p:sp>
        <p:sp>
          <p:nvSpPr>
            <p:cNvPr id="23" name="t">
              <a:extLst>
                <a:ext uri="{FF2B5EF4-FFF2-40B4-BE49-F238E27FC236}">
                  <a16:creationId xmlns:a16="http://schemas.microsoft.com/office/drawing/2014/main" id="{8A8DCC5A-17B0-68BA-3FE5-84A3653C4F47}"/>
                </a:ext>
              </a:extLst>
            </p:cNvPr>
            <p:cNvSpPr txBox="1"/>
            <p:nvPr/>
          </p:nvSpPr>
          <p:spPr>
            <a:xfrm>
              <a:off x="5989320" y="612647"/>
              <a:ext cx="2697480" cy="274320"/>
            </a:xfrm>
            <a:prstGeom prst="rect">
              <a:avLst/>
            </a:prstGeom>
            <a:noFill/>
            <a:ln/>
          </p:spPr>
          <p:txBody>
            <a:bodyPr wrap="square" rtlCol="0"/>
            <a:lstStyle/>
            <a:p>
              <a:pPr algn="ctr"/>
              <a:r>
                <a:rPr lang="en-US" sz="1800" b="1" dirty="0">
                  <a:solidFill>
                    <a:srgbClr val="3C3489"/>
                  </a:solidFill>
                </a:rPr>
                <a:t>2-3x more</a:t>
              </a:r>
            </a:p>
          </p:txBody>
        </p:sp>
        <p:sp>
          <p:nvSpPr>
            <p:cNvPr id="24" name="t">
              <a:extLst>
                <a:ext uri="{FF2B5EF4-FFF2-40B4-BE49-F238E27FC236}">
                  <a16:creationId xmlns:a16="http://schemas.microsoft.com/office/drawing/2014/main" id="{9CA145BA-B3E0-AD87-964F-93AE31772E28}"/>
                </a:ext>
              </a:extLst>
            </p:cNvPr>
            <p:cNvSpPr txBox="1"/>
            <p:nvPr/>
          </p:nvSpPr>
          <p:spPr>
            <a:xfrm>
              <a:off x="5989320" y="886968"/>
              <a:ext cx="2697480" cy="201168"/>
            </a:xfrm>
            <a:prstGeom prst="rect">
              <a:avLst/>
            </a:prstGeom>
            <a:noFill/>
            <a:ln/>
          </p:spPr>
          <p:txBody>
            <a:bodyPr wrap="square" rtlCol="0"/>
            <a:lstStyle/>
            <a:p>
              <a:pPr algn="ctr"/>
              <a:r>
                <a:rPr lang="en-US" sz="1100" b="0" dirty="0">
                  <a:solidFill>
                    <a:srgbClr val="26215C"/>
                  </a:solidFill>
                </a:rPr>
                <a:t>Security issues found per API</a:t>
              </a:r>
            </a:p>
          </p:txBody>
        </p:sp>
      </p:grpSp>
      <p:grpSp>
        <p:nvGrpSpPr>
          <p:cNvPr id="25" name="GROUP_value_proposition">
            <a:extLst>
              <a:ext uri="{FF2B5EF4-FFF2-40B4-BE49-F238E27FC236}">
                <a16:creationId xmlns:a16="http://schemas.microsoft.com/office/drawing/2014/main" id="{4A8617D0-DDE5-3254-F11A-0397E4658656}"/>
              </a:ext>
            </a:extLst>
          </p:cNvPr>
          <p:cNvGrpSpPr/>
          <p:nvPr/>
        </p:nvGrpSpPr>
        <p:grpSpPr>
          <a:xfrm>
            <a:off x="764636" y="2340702"/>
            <a:ext cx="4863654" cy="1930492"/>
            <a:chOff x="228600" y="1225296"/>
            <a:chExt cx="4206240" cy="1536192"/>
          </a:xfrm>
        </p:grpSpPr>
        <p:sp>
          <p:nvSpPr>
            <p:cNvPr id="26" name="r">
              <a:extLst>
                <a:ext uri="{FF2B5EF4-FFF2-40B4-BE49-F238E27FC236}">
                  <a16:creationId xmlns:a16="http://schemas.microsoft.com/office/drawing/2014/main" id="{27A75781-16D3-2025-17FC-C36BB23EBE7E}"/>
                </a:ext>
              </a:extLst>
            </p:cNvPr>
            <p:cNvSpPr/>
            <p:nvPr/>
          </p:nvSpPr>
          <p:spPr>
            <a:xfrm>
              <a:off x="228600" y="1225296"/>
              <a:ext cx="4206240" cy="1536192"/>
            </a:xfrm>
            <a:prstGeom prst="rect">
              <a:avLst/>
            </a:prstGeom>
            <a:solidFill>
              <a:srgbClr val="EEEDFE"/>
            </a:solidFill>
            <a:ln w="9525">
              <a:solidFill>
                <a:srgbClr val="7F77DD"/>
              </a:solidFill>
            </a:ln>
          </p:spPr>
          <p:txBody>
            <a:bodyPr/>
            <a:lstStyle/>
            <a:p>
              <a:endParaRPr lang="en-US"/>
            </a:p>
          </p:txBody>
        </p:sp>
        <p:sp>
          <p:nvSpPr>
            <p:cNvPr id="27" name="r">
              <a:extLst>
                <a:ext uri="{FF2B5EF4-FFF2-40B4-BE49-F238E27FC236}">
                  <a16:creationId xmlns:a16="http://schemas.microsoft.com/office/drawing/2014/main" id="{8FC44827-FD79-725C-87E8-44724A162844}"/>
                </a:ext>
              </a:extLst>
            </p:cNvPr>
            <p:cNvSpPr/>
            <p:nvPr/>
          </p:nvSpPr>
          <p:spPr>
            <a:xfrm>
              <a:off x="228600" y="1225296"/>
              <a:ext cx="4206240" cy="59436"/>
            </a:xfrm>
            <a:prstGeom prst="rect">
              <a:avLst/>
            </a:prstGeom>
            <a:solidFill>
              <a:srgbClr val="534AB7"/>
            </a:solidFill>
            <a:ln w="0">
              <a:solidFill>
                <a:srgbClr val="534AB7"/>
              </a:solidFill>
            </a:ln>
          </p:spPr>
          <p:txBody>
            <a:bodyPr/>
            <a:lstStyle/>
            <a:p>
              <a:endParaRPr lang="en-US"/>
            </a:p>
          </p:txBody>
        </p:sp>
        <p:sp>
          <p:nvSpPr>
            <p:cNvPr id="28" name="r">
              <a:extLst>
                <a:ext uri="{FF2B5EF4-FFF2-40B4-BE49-F238E27FC236}">
                  <a16:creationId xmlns:a16="http://schemas.microsoft.com/office/drawing/2014/main" id="{4CE5AFB4-C88F-137E-625A-D7FB56F78DF5}"/>
                </a:ext>
              </a:extLst>
            </p:cNvPr>
            <p:cNvSpPr/>
            <p:nvPr/>
          </p:nvSpPr>
          <p:spPr>
            <a:xfrm>
              <a:off x="338327" y="1298448"/>
              <a:ext cx="1485502" cy="182880"/>
            </a:xfrm>
            <a:prstGeom prst="rect">
              <a:avLst/>
            </a:prstGeom>
            <a:solidFill>
              <a:srgbClr val="534AB7"/>
            </a:solidFill>
            <a:ln w="0">
              <a:solidFill>
                <a:srgbClr val="534AB7"/>
              </a:solidFill>
            </a:ln>
          </p:spPr>
          <p:txBody>
            <a:bodyPr/>
            <a:lstStyle/>
            <a:p>
              <a:endParaRPr lang="en-US"/>
            </a:p>
          </p:txBody>
        </p:sp>
        <p:sp>
          <p:nvSpPr>
            <p:cNvPr id="29" name="t">
              <a:extLst>
                <a:ext uri="{FF2B5EF4-FFF2-40B4-BE49-F238E27FC236}">
                  <a16:creationId xmlns:a16="http://schemas.microsoft.com/office/drawing/2014/main" id="{8861086F-08A7-61A9-4322-998E4B0DA1BB}"/>
                </a:ext>
              </a:extLst>
            </p:cNvPr>
            <p:cNvSpPr txBox="1"/>
            <p:nvPr/>
          </p:nvSpPr>
          <p:spPr>
            <a:xfrm>
              <a:off x="383882" y="1289567"/>
              <a:ext cx="1124188" cy="182880"/>
            </a:xfrm>
            <a:prstGeom prst="rect">
              <a:avLst/>
            </a:prstGeom>
            <a:noFill/>
            <a:ln/>
          </p:spPr>
          <p:txBody>
            <a:bodyPr wrap="square" rtlCol="0"/>
            <a:lstStyle/>
            <a:p>
              <a:pPr algn="ctr"/>
              <a:r>
                <a:rPr lang="en-US" sz="1050" b="1" dirty="0">
                  <a:solidFill>
                    <a:srgbClr val="FFFFFF"/>
                  </a:solidFill>
                </a:rPr>
                <a:t>Value proposition</a:t>
              </a:r>
            </a:p>
          </p:txBody>
        </p:sp>
        <p:sp>
          <p:nvSpPr>
            <p:cNvPr id="30" name="t">
              <a:extLst>
                <a:ext uri="{FF2B5EF4-FFF2-40B4-BE49-F238E27FC236}">
                  <a16:creationId xmlns:a16="http://schemas.microsoft.com/office/drawing/2014/main" id="{CD9D8C37-BB84-4EB1-1F87-9994260D8717}"/>
                </a:ext>
              </a:extLst>
            </p:cNvPr>
            <p:cNvSpPr txBox="1"/>
            <p:nvPr/>
          </p:nvSpPr>
          <p:spPr>
            <a:xfrm>
              <a:off x="356616" y="1499616"/>
              <a:ext cx="3986783" cy="201168"/>
            </a:xfrm>
            <a:prstGeom prst="rect">
              <a:avLst/>
            </a:prstGeom>
            <a:noFill/>
            <a:ln/>
          </p:spPr>
          <p:txBody>
            <a:bodyPr wrap="square" rtlCol="0"/>
            <a:lstStyle/>
            <a:p>
              <a:pPr algn="l"/>
              <a:r>
                <a:rPr lang="en-US" sz="1100" b="1" dirty="0">
                  <a:solidFill>
                    <a:srgbClr val="26215C"/>
                  </a:solidFill>
                </a:rPr>
                <a:t>Continuous, intelligent API governance</a:t>
              </a:r>
            </a:p>
          </p:txBody>
        </p:sp>
        <p:sp>
          <p:nvSpPr>
            <p:cNvPr id="31" name="r">
              <a:extLst>
                <a:ext uri="{FF2B5EF4-FFF2-40B4-BE49-F238E27FC236}">
                  <a16:creationId xmlns:a16="http://schemas.microsoft.com/office/drawing/2014/main" id="{DA7F7D1B-2566-8CF8-3437-734C817A56CB}"/>
                </a:ext>
              </a:extLst>
            </p:cNvPr>
            <p:cNvSpPr/>
            <p:nvPr/>
          </p:nvSpPr>
          <p:spPr>
            <a:xfrm>
              <a:off x="393192" y="1747296"/>
              <a:ext cx="91440" cy="91440"/>
            </a:xfrm>
            <a:prstGeom prst="rect">
              <a:avLst/>
            </a:prstGeom>
            <a:solidFill>
              <a:srgbClr val="534AB7"/>
            </a:solidFill>
            <a:ln w="0">
              <a:solidFill>
                <a:srgbClr val="534AB7"/>
              </a:solidFill>
            </a:ln>
          </p:spPr>
          <p:txBody>
            <a:bodyPr/>
            <a:lstStyle/>
            <a:p>
              <a:endParaRPr lang="en-US"/>
            </a:p>
          </p:txBody>
        </p:sp>
        <p:sp>
          <p:nvSpPr>
            <p:cNvPr id="32" name="t">
              <a:extLst>
                <a:ext uri="{FF2B5EF4-FFF2-40B4-BE49-F238E27FC236}">
                  <a16:creationId xmlns:a16="http://schemas.microsoft.com/office/drawing/2014/main" id="{73C9A8C0-A09C-EC96-DB4C-2114791C90DA}"/>
                </a:ext>
              </a:extLst>
            </p:cNvPr>
            <p:cNvSpPr txBox="1"/>
            <p:nvPr/>
          </p:nvSpPr>
          <p:spPr>
            <a:xfrm>
              <a:off x="539496" y="1700784"/>
              <a:ext cx="3803903" cy="201168"/>
            </a:xfrm>
            <a:prstGeom prst="rect">
              <a:avLst/>
            </a:prstGeom>
            <a:noFill/>
            <a:ln/>
          </p:spPr>
          <p:txBody>
            <a:bodyPr wrap="square" rtlCol="0"/>
            <a:lstStyle/>
            <a:p>
              <a:pPr algn="l"/>
              <a:r>
                <a:rPr lang="en-US" sz="1050" b="0" dirty="0">
                  <a:solidFill>
                    <a:srgbClr val="3C3489"/>
                  </a:solidFill>
                </a:rPr>
                <a:t>Translates architectural policies into machine-evaluable controls</a:t>
              </a:r>
            </a:p>
          </p:txBody>
        </p:sp>
        <p:sp>
          <p:nvSpPr>
            <p:cNvPr id="33" name="r">
              <a:extLst>
                <a:ext uri="{FF2B5EF4-FFF2-40B4-BE49-F238E27FC236}">
                  <a16:creationId xmlns:a16="http://schemas.microsoft.com/office/drawing/2014/main" id="{053837D9-0B56-C1D0-5E93-5BBB20E8D846}"/>
                </a:ext>
              </a:extLst>
            </p:cNvPr>
            <p:cNvSpPr/>
            <p:nvPr/>
          </p:nvSpPr>
          <p:spPr>
            <a:xfrm>
              <a:off x="393192" y="1973024"/>
              <a:ext cx="91440" cy="91440"/>
            </a:xfrm>
            <a:prstGeom prst="rect">
              <a:avLst/>
            </a:prstGeom>
            <a:solidFill>
              <a:srgbClr val="534AB7"/>
            </a:solidFill>
            <a:ln w="0">
              <a:solidFill>
                <a:srgbClr val="534AB7"/>
              </a:solidFill>
            </a:ln>
          </p:spPr>
          <p:txBody>
            <a:bodyPr/>
            <a:lstStyle/>
            <a:p>
              <a:endParaRPr lang="en-US"/>
            </a:p>
          </p:txBody>
        </p:sp>
        <p:sp>
          <p:nvSpPr>
            <p:cNvPr id="34" name="t">
              <a:extLst>
                <a:ext uri="{FF2B5EF4-FFF2-40B4-BE49-F238E27FC236}">
                  <a16:creationId xmlns:a16="http://schemas.microsoft.com/office/drawing/2014/main" id="{C1FDDA19-64BE-212E-9A2F-632EE80A5522}"/>
                </a:ext>
              </a:extLst>
            </p:cNvPr>
            <p:cNvSpPr txBox="1"/>
            <p:nvPr/>
          </p:nvSpPr>
          <p:spPr>
            <a:xfrm>
              <a:off x="539496" y="1920240"/>
              <a:ext cx="3803903" cy="201168"/>
            </a:xfrm>
            <a:prstGeom prst="rect">
              <a:avLst/>
            </a:prstGeom>
            <a:noFill/>
            <a:ln/>
          </p:spPr>
          <p:txBody>
            <a:bodyPr wrap="square" rtlCol="0"/>
            <a:lstStyle/>
            <a:p>
              <a:pPr algn="l"/>
              <a:r>
                <a:rPr lang="en-US" sz="1000" b="0" dirty="0">
                  <a:solidFill>
                    <a:srgbClr val="3C3489"/>
                  </a:solidFill>
                </a:rPr>
                <a:t>Enforces OWASP, OpenAPI &amp; ISO standards at design time — not post-production</a:t>
              </a:r>
            </a:p>
          </p:txBody>
        </p:sp>
        <p:sp>
          <p:nvSpPr>
            <p:cNvPr id="35" name="r">
              <a:extLst>
                <a:ext uri="{FF2B5EF4-FFF2-40B4-BE49-F238E27FC236}">
                  <a16:creationId xmlns:a16="http://schemas.microsoft.com/office/drawing/2014/main" id="{19E2C9DE-CD2B-BEEA-522A-DE5D87E0CADC}"/>
                </a:ext>
              </a:extLst>
            </p:cNvPr>
            <p:cNvSpPr/>
            <p:nvPr/>
          </p:nvSpPr>
          <p:spPr>
            <a:xfrm>
              <a:off x="393192" y="2157984"/>
              <a:ext cx="91440" cy="91440"/>
            </a:xfrm>
            <a:prstGeom prst="rect">
              <a:avLst/>
            </a:prstGeom>
            <a:solidFill>
              <a:srgbClr val="534AB7"/>
            </a:solidFill>
            <a:ln w="0">
              <a:solidFill>
                <a:srgbClr val="534AB7"/>
              </a:solidFill>
            </a:ln>
          </p:spPr>
          <p:txBody>
            <a:bodyPr/>
            <a:lstStyle/>
            <a:p>
              <a:endParaRPr lang="en-US"/>
            </a:p>
          </p:txBody>
        </p:sp>
        <p:sp>
          <p:nvSpPr>
            <p:cNvPr id="36" name="t">
              <a:extLst>
                <a:ext uri="{FF2B5EF4-FFF2-40B4-BE49-F238E27FC236}">
                  <a16:creationId xmlns:a16="http://schemas.microsoft.com/office/drawing/2014/main" id="{ED3B61F1-F867-EB7F-A08E-4DE5E20C46D3}"/>
                </a:ext>
              </a:extLst>
            </p:cNvPr>
            <p:cNvSpPr txBox="1"/>
            <p:nvPr/>
          </p:nvSpPr>
          <p:spPr>
            <a:xfrm>
              <a:off x="539496" y="2107833"/>
              <a:ext cx="3803903" cy="264144"/>
            </a:xfrm>
            <a:prstGeom prst="rect">
              <a:avLst/>
            </a:prstGeom>
            <a:noFill/>
            <a:ln/>
          </p:spPr>
          <p:txBody>
            <a:bodyPr wrap="square" rtlCol="0"/>
            <a:lstStyle/>
            <a:p>
              <a:pPr algn="l"/>
              <a:r>
                <a:rPr lang="en-US" sz="1000" b="0" dirty="0">
                  <a:solidFill>
                    <a:srgbClr val="3C3489"/>
                  </a:solidFill>
                </a:rPr>
                <a:t>Autonomous Plan → Analyze → Recommend → Score loop replaces manual reviews</a:t>
              </a:r>
            </a:p>
          </p:txBody>
        </p:sp>
        <p:sp>
          <p:nvSpPr>
            <p:cNvPr id="37" name="r">
              <a:extLst>
                <a:ext uri="{FF2B5EF4-FFF2-40B4-BE49-F238E27FC236}">
                  <a16:creationId xmlns:a16="http://schemas.microsoft.com/office/drawing/2014/main" id="{CFF7F5D7-AADC-7127-27B4-454DE2DE08FE}"/>
                </a:ext>
              </a:extLst>
            </p:cNvPr>
            <p:cNvSpPr/>
            <p:nvPr/>
          </p:nvSpPr>
          <p:spPr>
            <a:xfrm>
              <a:off x="389664" y="2458867"/>
              <a:ext cx="91440" cy="91440"/>
            </a:xfrm>
            <a:prstGeom prst="rect">
              <a:avLst/>
            </a:prstGeom>
            <a:solidFill>
              <a:srgbClr val="534AB7"/>
            </a:solidFill>
            <a:ln w="0">
              <a:solidFill>
                <a:srgbClr val="534AB7"/>
              </a:solidFill>
            </a:ln>
          </p:spPr>
          <p:txBody>
            <a:bodyPr/>
            <a:lstStyle/>
            <a:p>
              <a:endParaRPr lang="en-US"/>
            </a:p>
          </p:txBody>
        </p:sp>
        <p:sp>
          <p:nvSpPr>
            <p:cNvPr id="38" name="t">
              <a:extLst>
                <a:ext uri="{FF2B5EF4-FFF2-40B4-BE49-F238E27FC236}">
                  <a16:creationId xmlns:a16="http://schemas.microsoft.com/office/drawing/2014/main" id="{7065CCCB-EB4A-EEDE-4EE7-92138A6C786F}"/>
                </a:ext>
              </a:extLst>
            </p:cNvPr>
            <p:cNvSpPr txBox="1"/>
            <p:nvPr/>
          </p:nvSpPr>
          <p:spPr>
            <a:xfrm>
              <a:off x="539496" y="2394684"/>
              <a:ext cx="3803903" cy="201168"/>
            </a:xfrm>
            <a:prstGeom prst="rect">
              <a:avLst/>
            </a:prstGeom>
            <a:noFill/>
            <a:ln/>
          </p:spPr>
          <p:txBody>
            <a:bodyPr wrap="square" rtlCol="0"/>
            <a:lstStyle/>
            <a:p>
              <a:pPr algn="l"/>
              <a:r>
                <a:rPr lang="en-US" sz="1050" b="0" dirty="0">
                  <a:solidFill>
                    <a:srgbClr val="3C3489"/>
                  </a:solidFill>
                </a:rPr>
                <a:t>Measurable API health score as an enterprise-wide governance KPI</a:t>
              </a:r>
            </a:p>
          </p:txBody>
        </p:sp>
      </p:grpSp>
      <p:grpSp>
        <p:nvGrpSpPr>
          <p:cNvPr id="39" name="GROUP_roi_potential">
            <a:extLst>
              <a:ext uri="{FF2B5EF4-FFF2-40B4-BE49-F238E27FC236}">
                <a16:creationId xmlns:a16="http://schemas.microsoft.com/office/drawing/2014/main" id="{C1FD4FD4-1F28-F7B3-E3C3-248AE15C3E1E}"/>
              </a:ext>
            </a:extLst>
          </p:cNvPr>
          <p:cNvGrpSpPr/>
          <p:nvPr/>
        </p:nvGrpSpPr>
        <p:grpSpPr>
          <a:xfrm>
            <a:off x="5965675" y="2340701"/>
            <a:ext cx="4831174" cy="1912551"/>
            <a:chOff x="4617720" y="1225296"/>
            <a:chExt cx="4206240" cy="1536192"/>
          </a:xfrm>
        </p:grpSpPr>
        <p:sp>
          <p:nvSpPr>
            <p:cNvPr id="40" name="r">
              <a:extLst>
                <a:ext uri="{FF2B5EF4-FFF2-40B4-BE49-F238E27FC236}">
                  <a16:creationId xmlns:a16="http://schemas.microsoft.com/office/drawing/2014/main" id="{BD0971FA-7B76-79CF-D7B7-877D569E2CAB}"/>
                </a:ext>
              </a:extLst>
            </p:cNvPr>
            <p:cNvSpPr/>
            <p:nvPr/>
          </p:nvSpPr>
          <p:spPr>
            <a:xfrm>
              <a:off x="4617720" y="1225296"/>
              <a:ext cx="4206240" cy="1536192"/>
            </a:xfrm>
            <a:prstGeom prst="rect">
              <a:avLst/>
            </a:prstGeom>
            <a:solidFill>
              <a:srgbClr val="FAEEDA"/>
            </a:solidFill>
            <a:ln w="9525">
              <a:solidFill>
                <a:srgbClr val="EF9F27"/>
              </a:solidFill>
            </a:ln>
          </p:spPr>
          <p:txBody>
            <a:bodyPr/>
            <a:lstStyle/>
            <a:p>
              <a:endParaRPr lang="en-US"/>
            </a:p>
          </p:txBody>
        </p:sp>
        <p:sp>
          <p:nvSpPr>
            <p:cNvPr id="41" name="r">
              <a:extLst>
                <a:ext uri="{FF2B5EF4-FFF2-40B4-BE49-F238E27FC236}">
                  <a16:creationId xmlns:a16="http://schemas.microsoft.com/office/drawing/2014/main" id="{F9DC763B-00AC-DF85-8A50-C81FDE39CE3E}"/>
                </a:ext>
              </a:extLst>
            </p:cNvPr>
            <p:cNvSpPr/>
            <p:nvPr/>
          </p:nvSpPr>
          <p:spPr>
            <a:xfrm>
              <a:off x="4617720" y="1225296"/>
              <a:ext cx="4206240" cy="59436"/>
            </a:xfrm>
            <a:prstGeom prst="rect">
              <a:avLst/>
            </a:prstGeom>
            <a:solidFill>
              <a:srgbClr val="BA7517"/>
            </a:solidFill>
            <a:ln w="0">
              <a:solidFill>
                <a:srgbClr val="BA7517"/>
              </a:solidFill>
            </a:ln>
          </p:spPr>
          <p:txBody>
            <a:bodyPr/>
            <a:lstStyle/>
            <a:p>
              <a:endParaRPr lang="en-US"/>
            </a:p>
          </p:txBody>
        </p:sp>
        <p:sp>
          <p:nvSpPr>
            <p:cNvPr id="42" name="r">
              <a:extLst>
                <a:ext uri="{FF2B5EF4-FFF2-40B4-BE49-F238E27FC236}">
                  <a16:creationId xmlns:a16="http://schemas.microsoft.com/office/drawing/2014/main" id="{9067CD95-5D19-C172-1A47-90FB1B0DCEE0}"/>
                </a:ext>
              </a:extLst>
            </p:cNvPr>
            <p:cNvSpPr/>
            <p:nvPr/>
          </p:nvSpPr>
          <p:spPr>
            <a:xfrm>
              <a:off x="4727447" y="1298448"/>
              <a:ext cx="1312300" cy="182880"/>
            </a:xfrm>
            <a:prstGeom prst="rect">
              <a:avLst/>
            </a:prstGeom>
            <a:solidFill>
              <a:srgbClr val="BA7517"/>
            </a:solidFill>
            <a:ln w="0">
              <a:solidFill>
                <a:srgbClr val="BA7517"/>
              </a:solidFill>
            </a:ln>
          </p:spPr>
          <p:txBody>
            <a:bodyPr/>
            <a:lstStyle/>
            <a:p>
              <a:endParaRPr lang="en-US"/>
            </a:p>
          </p:txBody>
        </p:sp>
        <p:sp>
          <p:nvSpPr>
            <p:cNvPr id="43" name="t">
              <a:extLst>
                <a:ext uri="{FF2B5EF4-FFF2-40B4-BE49-F238E27FC236}">
                  <a16:creationId xmlns:a16="http://schemas.microsoft.com/office/drawing/2014/main" id="{C1FB9249-0744-77BD-6BAD-C5A7E11BBCD5}"/>
                </a:ext>
              </a:extLst>
            </p:cNvPr>
            <p:cNvSpPr txBox="1"/>
            <p:nvPr/>
          </p:nvSpPr>
          <p:spPr>
            <a:xfrm>
              <a:off x="4727448" y="1298448"/>
              <a:ext cx="1113271" cy="182880"/>
            </a:xfrm>
            <a:prstGeom prst="rect">
              <a:avLst/>
            </a:prstGeom>
            <a:noFill/>
            <a:ln/>
          </p:spPr>
          <p:txBody>
            <a:bodyPr wrap="square" rtlCol="0"/>
            <a:lstStyle/>
            <a:p>
              <a:pPr algn="ctr"/>
              <a:r>
                <a:rPr lang="en-US" sz="1100" b="1" dirty="0">
                  <a:solidFill>
                    <a:srgbClr val="FFFFFF"/>
                  </a:solidFill>
                </a:rPr>
                <a:t>ROI potential</a:t>
              </a:r>
            </a:p>
          </p:txBody>
        </p:sp>
        <p:sp>
          <p:nvSpPr>
            <p:cNvPr id="44" name="t">
              <a:extLst>
                <a:ext uri="{FF2B5EF4-FFF2-40B4-BE49-F238E27FC236}">
                  <a16:creationId xmlns:a16="http://schemas.microsoft.com/office/drawing/2014/main" id="{27822D81-5614-CEB9-5D1D-FACA1C8D5807}"/>
                </a:ext>
              </a:extLst>
            </p:cNvPr>
            <p:cNvSpPr txBox="1"/>
            <p:nvPr/>
          </p:nvSpPr>
          <p:spPr>
            <a:xfrm>
              <a:off x="4745736" y="1499616"/>
              <a:ext cx="3986783" cy="201168"/>
            </a:xfrm>
            <a:prstGeom prst="rect">
              <a:avLst/>
            </a:prstGeom>
            <a:noFill/>
            <a:ln/>
          </p:spPr>
          <p:txBody>
            <a:bodyPr wrap="square" rtlCol="0"/>
            <a:lstStyle/>
            <a:p>
              <a:pPr algn="l"/>
              <a:r>
                <a:rPr lang="en-US" sz="1100" b="1" dirty="0">
                  <a:solidFill>
                    <a:srgbClr val="412402"/>
                  </a:solidFill>
                </a:rPr>
                <a:t>Quantifiable returns from day one</a:t>
              </a:r>
            </a:p>
          </p:txBody>
        </p:sp>
        <p:sp>
          <p:nvSpPr>
            <p:cNvPr id="45" name="r">
              <a:extLst>
                <a:ext uri="{FF2B5EF4-FFF2-40B4-BE49-F238E27FC236}">
                  <a16:creationId xmlns:a16="http://schemas.microsoft.com/office/drawing/2014/main" id="{5C78146D-6551-54F3-FCD2-BEF9D78257FE}"/>
                </a:ext>
              </a:extLst>
            </p:cNvPr>
            <p:cNvSpPr/>
            <p:nvPr/>
          </p:nvSpPr>
          <p:spPr>
            <a:xfrm>
              <a:off x="4782312" y="1757058"/>
              <a:ext cx="91440" cy="91440"/>
            </a:xfrm>
            <a:prstGeom prst="rect">
              <a:avLst/>
            </a:prstGeom>
            <a:solidFill>
              <a:srgbClr val="BA7517"/>
            </a:solidFill>
            <a:ln w="0">
              <a:solidFill>
                <a:srgbClr val="BA7517"/>
              </a:solidFill>
            </a:ln>
          </p:spPr>
          <p:txBody>
            <a:bodyPr/>
            <a:lstStyle/>
            <a:p>
              <a:endParaRPr lang="en-US"/>
            </a:p>
          </p:txBody>
        </p:sp>
        <p:sp>
          <p:nvSpPr>
            <p:cNvPr id="46" name="t">
              <a:extLst>
                <a:ext uri="{FF2B5EF4-FFF2-40B4-BE49-F238E27FC236}">
                  <a16:creationId xmlns:a16="http://schemas.microsoft.com/office/drawing/2014/main" id="{B4A7E3DA-45DC-D2A8-A0F2-DDC8CE4F09D3}"/>
                </a:ext>
              </a:extLst>
            </p:cNvPr>
            <p:cNvSpPr txBox="1"/>
            <p:nvPr/>
          </p:nvSpPr>
          <p:spPr>
            <a:xfrm>
              <a:off x="4935099" y="1707133"/>
              <a:ext cx="3803903" cy="201168"/>
            </a:xfrm>
            <a:prstGeom prst="rect">
              <a:avLst/>
            </a:prstGeom>
            <a:noFill/>
            <a:ln/>
          </p:spPr>
          <p:txBody>
            <a:bodyPr wrap="square" rtlCol="0"/>
            <a:lstStyle/>
            <a:p>
              <a:pPr algn="l"/>
              <a:r>
                <a:rPr lang="en-US" sz="1050" b="0" dirty="0">
                  <a:solidFill>
                    <a:srgbClr val="633806"/>
                  </a:solidFill>
                </a:rPr>
                <a:t>Issues are 10x cheaper to fix at design vs. production</a:t>
              </a:r>
            </a:p>
          </p:txBody>
        </p:sp>
        <p:sp>
          <p:nvSpPr>
            <p:cNvPr id="47" name="r">
              <a:extLst>
                <a:ext uri="{FF2B5EF4-FFF2-40B4-BE49-F238E27FC236}">
                  <a16:creationId xmlns:a16="http://schemas.microsoft.com/office/drawing/2014/main" id="{A6F94C2F-896B-3310-7D75-90FE9487FAED}"/>
                </a:ext>
              </a:extLst>
            </p:cNvPr>
            <p:cNvSpPr/>
            <p:nvPr/>
          </p:nvSpPr>
          <p:spPr>
            <a:xfrm>
              <a:off x="4782312" y="1982845"/>
              <a:ext cx="91440" cy="91440"/>
            </a:xfrm>
            <a:prstGeom prst="rect">
              <a:avLst/>
            </a:prstGeom>
            <a:solidFill>
              <a:srgbClr val="BA7517"/>
            </a:solidFill>
            <a:ln w="0">
              <a:solidFill>
                <a:srgbClr val="BA7517"/>
              </a:solidFill>
            </a:ln>
          </p:spPr>
          <p:txBody>
            <a:bodyPr/>
            <a:lstStyle/>
            <a:p>
              <a:endParaRPr lang="en-US"/>
            </a:p>
          </p:txBody>
        </p:sp>
        <p:sp>
          <p:nvSpPr>
            <p:cNvPr id="48" name="t">
              <a:extLst>
                <a:ext uri="{FF2B5EF4-FFF2-40B4-BE49-F238E27FC236}">
                  <a16:creationId xmlns:a16="http://schemas.microsoft.com/office/drawing/2014/main" id="{3D00233F-2599-0EA9-2484-ED16E1C243DE}"/>
                </a:ext>
              </a:extLst>
            </p:cNvPr>
            <p:cNvSpPr txBox="1"/>
            <p:nvPr/>
          </p:nvSpPr>
          <p:spPr>
            <a:xfrm>
              <a:off x="4928616" y="1920240"/>
              <a:ext cx="3803903" cy="201168"/>
            </a:xfrm>
            <a:prstGeom prst="rect">
              <a:avLst/>
            </a:prstGeom>
            <a:noFill/>
            <a:ln/>
          </p:spPr>
          <p:txBody>
            <a:bodyPr wrap="square" rtlCol="0"/>
            <a:lstStyle/>
            <a:p>
              <a:pPr algn="l"/>
              <a:r>
                <a:rPr lang="en-US" sz="1050" b="0" dirty="0">
                  <a:solidFill>
                    <a:srgbClr val="633806"/>
                  </a:solidFill>
                </a:rPr>
                <a:t>Documentation quality improves from 60% to 90% complete</a:t>
              </a:r>
            </a:p>
          </p:txBody>
        </p:sp>
        <p:sp>
          <p:nvSpPr>
            <p:cNvPr id="50" name="r">
              <a:extLst>
                <a:ext uri="{FF2B5EF4-FFF2-40B4-BE49-F238E27FC236}">
                  <a16:creationId xmlns:a16="http://schemas.microsoft.com/office/drawing/2014/main" id="{136120D7-68F3-F9A1-8CB8-F7267218AEA7}"/>
                </a:ext>
              </a:extLst>
            </p:cNvPr>
            <p:cNvSpPr/>
            <p:nvPr/>
          </p:nvSpPr>
          <p:spPr>
            <a:xfrm>
              <a:off x="4782312" y="2176977"/>
              <a:ext cx="91440" cy="91440"/>
            </a:xfrm>
            <a:prstGeom prst="rect">
              <a:avLst/>
            </a:prstGeom>
            <a:solidFill>
              <a:srgbClr val="BA7517"/>
            </a:solidFill>
            <a:ln w="0">
              <a:solidFill>
                <a:srgbClr val="BA7517"/>
              </a:solidFill>
            </a:ln>
          </p:spPr>
          <p:txBody>
            <a:bodyPr/>
            <a:lstStyle/>
            <a:p>
              <a:endParaRPr lang="en-US"/>
            </a:p>
          </p:txBody>
        </p:sp>
        <p:sp>
          <p:nvSpPr>
            <p:cNvPr id="51" name="t">
              <a:extLst>
                <a:ext uri="{FF2B5EF4-FFF2-40B4-BE49-F238E27FC236}">
                  <a16:creationId xmlns:a16="http://schemas.microsoft.com/office/drawing/2014/main" id="{7D83304D-4938-BFBF-5835-AF3933B4378D}"/>
                </a:ext>
              </a:extLst>
            </p:cNvPr>
            <p:cNvSpPr txBox="1"/>
            <p:nvPr/>
          </p:nvSpPr>
          <p:spPr>
            <a:xfrm>
              <a:off x="4928616" y="2139696"/>
              <a:ext cx="3803903" cy="201168"/>
            </a:xfrm>
            <a:prstGeom prst="rect">
              <a:avLst/>
            </a:prstGeom>
            <a:noFill/>
            <a:ln/>
          </p:spPr>
          <p:txBody>
            <a:bodyPr wrap="square" rtlCol="0"/>
            <a:lstStyle/>
            <a:p>
              <a:pPr algn="l"/>
              <a:r>
                <a:rPr lang="en-US" sz="1050" b="0" dirty="0">
                  <a:solidFill>
                    <a:srgbClr val="633806"/>
                  </a:solidFill>
                </a:rPr>
                <a:t>Standards compliance rises from 70% to 95% per review cycle</a:t>
              </a:r>
            </a:p>
          </p:txBody>
        </p:sp>
        <p:sp>
          <p:nvSpPr>
            <p:cNvPr id="52" name="r">
              <a:extLst>
                <a:ext uri="{FF2B5EF4-FFF2-40B4-BE49-F238E27FC236}">
                  <a16:creationId xmlns:a16="http://schemas.microsoft.com/office/drawing/2014/main" id="{65D04DE0-5638-4462-CE22-BE1D7D71A72F}"/>
                </a:ext>
              </a:extLst>
            </p:cNvPr>
            <p:cNvSpPr/>
            <p:nvPr/>
          </p:nvSpPr>
          <p:spPr>
            <a:xfrm>
              <a:off x="4782312" y="2405929"/>
              <a:ext cx="91440" cy="91440"/>
            </a:xfrm>
            <a:prstGeom prst="rect">
              <a:avLst/>
            </a:prstGeom>
            <a:solidFill>
              <a:srgbClr val="BA7517"/>
            </a:solidFill>
            <a:ln w="0">
              <a:solidFill>
                <a:srgbClr val="BA7517"/>
              </a:solidFill>
            </a:ln>
          </p:spPr>
          <p:txBody>
            <a:bodyPr/>
            <a:lstStyle/>
            <a:p>
              <a:endParaRPr lang="en-US"/>
            </a:p>
          </p:txBody>
        </p:sp>
        <p:sp>
          <p:nvSpPr>
            <p:cNvPr id="53" name="t">
              <a:extLst>
                <a:ext uri="{FF2B5EF4-FFF2-40B4-BE49-F238E27FC236}">
                  <a16:creationId xmlns:a16="http://schemas.microsoft.com/office/drawing/2014/main" id="{CC0C2881-BBD5-8A86-3453-73161F69DAA8}"/>
                </a:ext>
              </a:extLst>
            </p:cNvPr>
            <p:cNvSpPr txBox="1"/>
            <p:nvPr/>
          </p:nvSpPr>
          <p:spPr>
            <a:xfrm>
              <a:off x="4928616" y="2359152"/>
              <a:ext cx="3803903" cy="201168"/>
            </a:xfrm>
            <a:prstGeom prst="rect">
              <a:avLst/>
            </a:prstGeom>
            <a:noFill/>
            <a:ln/>
          </p:spPr>
          <p:txBody>
            <a:bodyPr wrap="square" rtlCol="0"/>
            <a:lstStyle/>
            <a:p>
              <a:pPr algn="l"/>
              <a:r>
                <a:rPr lang="en-US" sz="1050" b="0" dirty="0">
                  <a:solidFill>
                    <a:srgbClr val="633806"/>
                  </a:solidFill>
                </a:rPr>
                <a:t>2-5 second automated analysis vs. 4-8 hours of manual effort</a:t>
              </a:r>
            </a:p>
          </p:txBody>
        </p:sp>
      </p:grpSp>
      <p:grpSp>
        <p:nvGrpSpPr>
          <p:cNvPr id="54" name="GROUP_cost_savings">
            <a:extLst>
              <a:ext uri="{FF2B5EF4-FFF2-40B4-BE49-F238E27FC236}">
                <a16:creationId xmlns:a16="http://schemas.microsoft.com/office/drawing/2014/main" id="{39191569-704F-A927-CAD3-8914F4754A68}"/>
              </a:ext>
            </a:extLst>
          </p:cNvPr>
          <p:cNvGrpSpPr/>
          <p:nvPr/>
        </p:nvGrpSpPr>
        <p:grpSpPr>
          <a:xfrm>
            <a:off x="764636" y="4485115"/>
            <a:ext cx="4814451" cy="1783242"/>
            <a:chOff x="228600" y="2834640"/>
            <a:chExt cx="4206240" cy="1536192"/>
          </a:xfrm>
        </p:grpSpPr>
        <p:sp>
          <p:nvSpPr>
            <p:cNvPr id="55" name="r">
              <a:extLst>
                <a:ext uri="{FF2B5EF4-FFF2-40B4-BE49-F238E27FC236}">
                  <a16:creationId xmlns:a16="http://schemas.microsoft.com/office/drawing/2014/main" id="{F9D84A86-F3E4-68EB-F3EB-B32CF3F61CEE}"/>
                </a:ext>
              </a:extLst>
            </p:cNvPr>
            <p:cNvSpPr/>
            <p:nvPr/>
          </p:nvSpPr>
          <p:spPr>
            <a:xfrm>
              <a:off x="228600" y="2834640"/>
              <a:ext cx="4206240" cy="1536192"/>
            </a:xfrm>
            <a:prstGeom prst="rect">
              <a:avLst/>
            </a:prstGeom>
            <a:solidFill>
              <a:srgbClr val="E1F5EE"/>
            </a:solidFill>
            <a:ln w="9525">
              <a:solidFill>
                <a:srgbClr val="1D9E75"/>
              </a:solidFill>
            </a:ln>
          </p:spPr>
          <p:txBody>
            <a:bodyPr/>
            <a:lstStyle/>
            <a:p>
              <a:endParaRPr lang="en-US"/>
            </a:p>
          </p:txBody>
        </p:sp>
        <p:sp>
          <p:nvSpPr>
            <p:cNvPr id="56" name="r">
              <a:extLst>
                <a:ext uri="{FF2B5EF4-FFF2-40B4-BE49-F238E27FC236}">
                  <a16:creationId xmlns:a16="http://schemas.microsoft.com/office/drawing/2014/main" id="{10E97A41-9AA6-012A-7C25-35FB5E2BAD8B}"/>
                </a:ext>
              </a:extLst>
            </p:cNvPr>
            <p:cNvSpPr/>
            <p:nvPr/>
          </p:nvSpPr>
          <p:spPr>
            <a:xfrm>
              <a:off x="228600" y="2834640"/>
              <a:ext cx="4206240" cy="59436"/>
            </a:xfrm>
            <a:prstGeom prst="rect">
              <a:avLst/>
            </a:prstGeom>
            <a:solidFill>
              <a:srgbClr val="0F6E56"/>
            </a:solidFill>
            <a:ln w="0">
              <a:solidFill>
                <a:srgbClr val="0F6E56"/>
              </a:solidFill>
            </a:ln>
          </p:spPr>
          <p:txBody>
            <a:bodyPr/>
            <a:lstStyle/>
            <a:p>
              <a:endParaRPr lang="en-US"/>
            </a:p>
          </p:txBody>
        </p:sp>
        <p:sp>
          <p:nvSpPr>
            <p:cNvPr id="57" name="r">
              <a:extLst>
                <a:ext uri="{FF2B5EF4-FFF2-40B4-BE49-F238E27FC236}">
                  <a16:creationId xmlns:a16="http://schemas.microsoft.com/office/drawing/2014/main" id="{CBE46D5C-70E8-08FF-439C-1B030DB8AA4E}"/>
                </a:ext>
              </a:extLst>
            </p:cNvPr>
            <p:cNvSpPr/>
            <p:nvPr/>
          </p:nvSpPr>
          <p:spPr>
            <a:xfrm>
              <a:off x="338328" y="2907792"/>
              <a:ext cx="1501804" cy="201122"/>
            </a:xfrm>
            <a:prstGeom prst="rect">
              <a:avLst/>
            </a:prstGeom>
            <a:solidFill>
              <a:srgbClr val="0F6E56"/>
            </a:solidFill>
            <a:ln w="0">
              <a:solidFill>
                <a:srgbClr val="0F6E56"/>
              </a:solidFill>
            </a:ln>
          </p:spPr>
          <p:txBody>
            <a:bodyPr/>
            <a:lstStyle/>
            <a:p>
              <a:endParaRPr lang="en-US"/>
            </a:p>
          </p:txBody>
        </p:sp>
        <p:sp>
          <p:nvSpPr>
            <p:cNvPr id="58" name="t">
              <a:extLst>
                <a:ext uri="{FF2B5EF4-FFF2-40B4-BE49-F238E27FC236}">
                  <a16:creationId xmlns:a16="http://schemas.microsoft.com/office/drawing/2014/main" id="{9A97D818-6460-F8F1-D491-A96440FDE418}"/>
                </a:ext>
              </a:extLst>
            </p:cNvPr>
            <p:cNvSpPr txBox="1"/>
            <p:nvPr/>
          </p:nvSpPr>
          <p:spPr>
            <a:xfrm>
              <a:off x="338328" y="2907792"/>
              <a:ext cx="1150572" cy="172689"/>
            </a:xfrm>
            <a:prstGeom prst="rect">
              <a:avLst/>
            </a:prstGeom>
            <a:noFill/>
            <a:ln/>
          </p:spPr>
          <p:txBody>
            <a:bodyPr wrap="square" rtlCol="0"/>
            <a:lstStyle/>
            <a:p>
              <a:pPr algn="ctr"/>
              <a:r>
                <a:rPr lang="en-US" sz="1100" b="1" dirty="0">
                  <a:solidFill>
                    <a:srgbClr val="FFFFFF"/>
                  </a:solidFill>
                </a:rPr>
                <a:t>Cost savings</a:t>
              </a:r>
            </a:p>
          </p:txBody>
        </p:sp>
        <p:sp>
          <p:nvSpPr>
            <p:cNvPr id="59" name="t">
              <a:extLst>
                <a:ext uri="{FF2B5EF4-FFF2-40B4-BE49-F238E27FC236}">
                  <a16:creationId xmlns:a16="http://schemas.microsoft.com/office/drawing/2014/main" id="{E29B1B12-6A02-0800-78C8-F746414AA8C3}"/>
                </a:ext>
              </a:extLst>
            </p:cNvPr>
            <p:cNvSpPr txBox="1"/>
            <p:nvPr/>
          </p:nvSpPr>
          <p:spPr>
            <a:xfrm>
              <a:off x="356616" y="3108960"/>
              <a:ext cx="3986783" cy="201168"/>
            </a:xfrm>
            <a:prstGeom prst="rect">
              <a:avLst/>
            </a:prstGeom>
            <a:noFill/>
            <a:ln/>
          </p:spPr>
          <p:txBody>
            <a:bodyPr wrap="square" rtlCol="0"/>
            <a:lstStyle/>
            <a:p>
              <a:pPr algn="l"/>
              <a:r>
                <a:rPr lang="en-US" sz="1100" b="1" dirty="0">
                  <a:solidFill>
                    <a:srgbClr val="04342C"/>
                  </a:solidFill>
                </a:rPr>
                <a:t>80% reduction in manual review overhead</a:t>
              </a:r>
            </a:p>
          </p:txBody>
        </p:sp>
        <p:sp>
          <p:nvSpPr>
            <p:cNvPr id="60" name="r">
              <a:extLst>
                <a:ext uri="{FF2B5EF4-FFF2-40B4-BE49-F238E27FC236}">
                  <a16:creationId xmlns:a16="http://schemas.microsoft.com/office/drawing/2014/main" id="{6217B0C9-309E-FE23-CAAB-E129D1E58D2E}"/>
                </a:ext>
              </a:extLst>
            </p:cNvPr>
            <p:cNvSpPr/>
            <p:nvPr/>
          </p:nvSpPr>
          <p:spPr>
            <a:xfrm>
              <a:off x="393192" y="3369156"/>
              <a:ext cx="91440" cy="91440"/>
            </a:xfrm>
            <a:prstGeom prst="rect">
              <a:avLst/>
            </a:prstGeom>
            <a:solidFill>
              <a:srgbClr val="0F6E56"/>
            </a:solidFill>
            <a:ln w="0">
              <a:solidFill>
                <a:srgbClr val="0F6E56"/>
              </a:solidFill>
            </a:ln>
          </p:spPr>
          <p:txBody>
            <a:bodyPr/>
            <a:lstStyle/>
            <a:p>
              <a:endParaRPr lang="en-US"/>
            </a:p>
          </p:txBody>
        </p:sp>
        <p:sp>
          <p:nvSpPr>
            <p:cNvPr id="61" name="t">
              <a:extLst>
                <a:ext uri="{FF2B5EF4-FFF2-40B4-BE49-F238E27FC236}">
                  <a16:creationId xmlns:a16="http://schemas.microsoft.com/office/drawing/2014/main" id="{CE920FE2-6835-0DED-9AFF-D818628AE885}"/>
                </a:ext>
              </a:extLst>
            </p:cNvPr>
            <p:cNvSpPr txBox="1"/>
            <p:nvPr/>
          </p:nvSpPr>
          <p:spPr>
            <a:xfrm>
              <a:off x="539496" y="3310128"/>
              <a:ext cx="3803903" cy="201168"/>
            </a:xfrm>
            <a:prstGeom prst="rect">
              <a:avLst/>
            </a:prstGeom>
            <a:noFill/>
            <a:ln/>
          </p:spPr>
          <p:txBody>
            <a:bodyPr wrap="square" rtlCol="0"/>
            <a:lstStyle/>
            <a:p>
              <a:pPr algn="l"/>
              <a:r>
                <a:rPr lang="en-US" sz="1000" b="0" dirty="0">
                  <a:solidFill>
                    <a:srgbClr val="085041"/>
                  </a:solidFill>
                </a:rPr>
                <a:t>Instant shift-left feedback during spec authoring — before any code is written</a:t>
              </a:r>
            </a:p>
          </p:txBody>
        </p:sp>
        <p:sp>
          <p:nvSpPr>
            <p:cNvPr id="62" name="r">
              <a:extLst>
                <a:ext uri="{FF2B5EF4-FFF2-40B4-BE49-F238E27FC236}">
                  <a16:creationId xmlns:a16="http://schemas.microsoft.com/office/drawing/2014/main" id="{5EACAE30-7E2C-3803-F3FD-075A9E196BCB}"/>
                </a:ext>
              </a:extLst>
            </p:cNvPr>
            <p:cNvSpPr/>
            <p:nvPr/>
          </p:nvSpPr>
          <p:spPr>
            <a:xfrm>
              <a:off x="393192" y="3585217"/>
              <a:ext cx="91440" cy="91440"/>
            </a:xfrm>
            <a:prstGeom prst="rect">
              <a:avLst/>
            </a:prstGeom>
            <a:solidFill>
              <a:srgbClr val="0F6E56"/>
            </a:solidFill>
            <a:ln w="0">
              <a:solidFill>
                <a:srgbClr val="0F6E56"/>
              </a:solidFill>
            </a:ln>
          </p:spPr>
          <p:txBody>
            <a:bodyPr/>
            <a:lstStyle/>
            <a:p>
              <a:endParaRPr lang="en-US"/>
            </a:p>
          </p:txBody>
        </p:sp>
        <p:sp>
          <p:nvSpPr>
            <p:cNvPr id="63" name="t">
              <a:extLst>
                <a:ext uri="{FF2B5EF4-FFF2-40B4-BE49-F238E27FC236}">
                  <a16:creationId xmlns:a16="http://schemas.microsoft.com/office/drawing/2014/main" id="{8EAD814F-3296-7D10-E1BC-0BAE758EB286}"/>
                </a:ext>
              </a:extLst>
            </p:cNvPr>
            <p:cNvSpPr txBox="1"/>
            <p:nvPr/>
          </p:nvSpPr>
          <p:spPr>
            <a:xfrm>
              <a:off x="539496" y="3529584"/>
              <a:ext cx="3803903" cy="201168"/>
            </a:xfrm>
            <a:prstGeom prst="rect">
              <a:avLst/>
            </a:prstGeom>
            <a:noFill/>
            <a:ln/>
          </p:spPr>
          <p:txBody>
            <a:bodyPr wrap="square" rtlCol="0"/>
            <a:lstStyle/>
            <a:p>
              <a:pPr algn="l"/>
              <a:r>
                <a:rPr lang="en-US" sz="1000" b="0" dirty="0">
                  <a:solidFill>
                    <a:srgbClr val="085041"/>
                  </a:solidFill>
                </a:rPr>
                <a:t>Prevents fragile API contracts reaching production — reduces integration rework</a:t>
              </a:r>
            </a:p>
          </p:txBody>
        </p:sp>
        <p:sp>
          <p:nvSpPr>
            <p:cNvPr id="64" name="r">
              <a:extLst>
                <a:ext uri="{FF2B5EF4-FFF2-40B4-BE49-F238E27FC236}">
                  <a16:creationId xmlns:a16="http://schemas.microsoft.com/office/drawing/2014/main" id="{A2325CF6-DE88-C1E8-54AE-218083613EA3}"/>
                </a:ext>
              </a:extLst>
            </p:cNvPr>
            <p:cNvSpPr/>
            <p:nvPr/>
          </p:nvSpPr>
          <p:spPr>
            <a:xfrm>
              <a:off x="393192" y="3818253"/>
              <a:ext cx="91440" cy="91440"/>
            </a:xfrm>
            <a:prstGeom prst="rect">
              <a:avLst/>
            </a:prstGeom>
            <a:solidFill>
              <a:srgbClr val="0F6E56"/>
            </a:solidFill>
            <a:ln w="0">
              <a:solidFill>
                <a:srgbClr val="0F6E56"/>
              </a:solidFill>
            </a:ln>
          </p:spPr>
          <p:txBody>
            <a:bodyPr/>
            <a:lstStyle/>
            <a:p>
              <a:endParaRPr lang="en-US"/>
            </a:p>
          </p:txBody>
        </p:sp>
        <p:sp>
          <p:nvSpPr>
            <p:cNvPr id="65" name="t">
              <a:extLst>
                <a:ext uri="{FF2B5EF4-FFF2-40B4-BE49-F238E27FC236}">
                  <a16:creationId xmlns:a16="http://schemas.microsoft.com/office/drawing/2014/main" id="{4B29EF67-E8AF-4427-9FD7-03F6EB8B771B}"/>
                </a:ext>
              </a:extLst>
            </p:cNvPr>
            <p:cNvSpPr txBox="1"/>
            <p:nvPr/>
          </p:nvSpPr>
          <p:spPr>
            <a:xfrm>
              <a:off x="539496" y="3749039"/>
              <a:ext cx="3803903" cy="201168"/>
            </a:xfrm>
            <a:prstGeom prst="rect">
              <a:avLst/>
            </a:prstGeom>
            <a:noFill/>
            <a:ln/>
          </p:spPr>
          <p:txBody>
            <a:bodyPr wrap="square" rtlCol="0"/>
            <a:lstStyle/>
            <a:p>
              <a:pPr algn="l"/>
              <a:r>
                <a:rPr lang="en-US" sz="1050" b="0" dirty="0">
                  <a:solidFill>
                    <a:srgbClr val="085041"/>
                  </a:solidFill>
                </a:rPr>
                <a:t>Parallel 5-agent analysis completes in 2-3 sec vs. sequential 5-8 sec</a:t>
              </a:r>
            </a:p>
          </p:txBody>
        </p:sp>
        <p:sp>
          <p:nvSpPr>
            <p:cNvPr id="66" name="r">
              <a:extLst>
                <a:ext uri="{FF2B5EF4-FFF2-40B4-BE49-F238E27FC236}">
                  <a16:creationId xmlns:a16="http://schemas.microsoft.com/office/drawing/2014/main" id="{903F0097-273E-0EEA-ACE2-21365020991B}"/>
                </a:ext>
              </a:extLst>
            </p:cNvPr>
            <p:cNvSpPr/>
            <p:nvPr/>
          </p:nvSpPr>
          <p:spPr>
            <a:xfrm>
              <a:off x="393192" y="4088639"/>
              <a:ext cx="91440" cy="91440"/>
            </a:xfrm>
            <a:prstGeom prst="rect">
              <a:avLst/>
            </a:prstGeom>
            <a:solidFill>
              <a:srgbClr val="0F6E56"/>
            </a:solidFill>
            <a:ln w="0">
              <a:solidFill>
                <a:srgbClr val="0F6E56"/>
              </a:solidFill>
            </a:ln>
          </p:spPr>
          <p:txBody>
            <a:bodyPr/>
            <a:lstStyle/>
            <a:p>
              <a:endParaRPr lang="en-US"/>
            </a:p>
          </p:txBody>
        </p:sp>
        <p:sp>
          <p:nvSpPr>
            <p:cNvPr id="67" name="t">
              <a:extLst>
                <a:ext uri="{FF2B5EF4-FFF2-40B4-BE49-F238E27FC236}">
                  <a16:creationId xmlns:a16="http://schemas.microsoft.com/office/drawing/2014/main" id="{C2B67F51-5684-9BFB-F831-1285CA497B5D}"/>
                </a:ext>
              </a:extLst>
            </p:cNvPr>
            <p:cNvSpPr txBox="1"/>
            <p:nvPr/>
          </p:nvSpPr>
          <p:spPr>
            <a:xfrm>
              <a:off x="539496" y="4022819"/>
              <a:ext cx="3803903" cy="201168"/>
            </a:xfrm>
            <a:prstGeom prst="rect">
              <a:avLst/>
            </a:prstGeom>
            <a:noFill/>
            <a:ln/>
          </p:spPr>
          <p:txBody>
            <a:bodyPr wrap="square" rtlCol="0"/>
            <a:lstStyle/>
            <a:p>
              <a:pPr algn="l"/>
              <a:r>
                <a:rPr lang="en-US" sz="1050" b="0" dirty="0">
                  <a:solidFill>
                    <a:srgbClr val="085041"/>
                  </a:solidFill>
                </a:rPr>
                <a:t>Frees architects from repetitive review cycles to focus on high-value design</a:t>
              </a:r>
            </a:p>
          </p:txBody>
        </p:sp>
      </p:grpSp>
      <p:grpSp>
        <p:nvGrpSpPr>
          <p:cNvPr id="68" name="GROUP_reusability">
            <a:extLst>
              <a:ext uri="{FF2B5EF4-FFF2-40B4-BE49-F238E27FC236}">
                <a16:creationId xmlns:a16="http://schemas.microsoft.com/office/drawing/2014/main" id="{FD2DF7CB-FCE7-389F-0367-482E8103402D}"/>
              </a:ext>
            </a:extLst>
          </p:cNvPr>
          <p:cNvGrpSpPr/>
          <p:nvPr/>
        </p:nvGrpSpPr>
        <p:grpSpPr>
          <a:xfrm>
            <a:off x="6005079" y="4517618"/>
            <a:ext cx="4791770" cy="1715270"/>
            <a:chOff x="4617720" y="2834640"/>
            <a:chExt cx="4206240" cy="1536192"/>
          </a:xfrm>
        </p:grpSpPr>
        <p:sp>
          <p:nvSpPr>
            <p:cNvPr id="69" name="r">
              <a:extLst>
                <a:ext uri="{FF2B5EF4-FFF2-40B4-BE49-F238E27FC236}">
                  <a16:creationId xmlns:a16="http://schemas.microsoft.com/office/drawing/2014/main" id="{53384BAF-1528-DED7-81FB-FE4BA283FBDC}"/>
                </a:ext>
              </a:extLst>
            </p:cNvPr>
            <p:cNvSpPr/>
            <p:nvPr/>
          </p:nvSpPr>
          <p:spPr>
            <a:xfrm>
              <a:off x="4617720" y="2834640"/>
              <a:ext cx="4206240" cy="1536192"/>
            </a:xfrm>
            <a:prstGeom prst="rect">
              <a:avLst/>
            </a:prstGeom>
            <a:solidFill>
              <a:srgbClr val="FAECE7"/>
            </a:solidFill>
            <a:ln w="9525">
              <a:solidFill>
                <a:srgbClr val="D85A30"/>
              </a:solidFill>
            </a:ln>
          </p:spPr>
          <p:txBody>
            <a:bodyPr/>
            <a:lstStyle/>
            <a:p>
              <a:endParaRPr lang="en-US"/>
            </a:p>
          </p:txBody>
        </p:sp>
        <p:sp>
          <p:nvSpPr>
            <p:cNvPr id="70" name="r">
              <a:extLst>
                <a:ext uri="{FF2B5EF4-FFF2-40B4-BE49-F238E27FC236}">
                  <a16:creationId xmlns:a16="http://schemas.microsoft.com/office/drawing/2014/main" id="{5F27BE8F-2FA8-876D-6D30-C922CB825798}"/>
                </a:ext>
              </a:extLst>
            </p:cNvPr>
            <p:cNvSpPr/>
            <p:nvPr/>
          </p:nvSpPr>
          <p:spPr>
            <a:xfrm>
              <a:off x="4617720" y="2834640"/>
              <a:ext cx="4206240" cy="59436"/>
            </a:xfrm>
            <a:prstGeom prst="rect">
              <a:avLst/>
            </a:prstGeom>
            <a:solidFill>
              <a:srgbClr val="993C1D"/>
            </a:solidFill>
            <a:ln w="0">
              <a:solidFill>
                <a:srgbClr val="993C1D"/>
              </a:solidFill>
            </a:ln>
          </p:spPr>
          <p:txBody>
            <a:bodyPr/>
            <a:lstStyle/>
            <a:p>
              <a:endParaRPr lang="en-US"/>
            </a:p>
          </p:txBody>
        </p:sp>
        <p:sp>
          <p:nvSpPr>
            <p:cNvPr id="71" name="r">
              <a:extLst>
                <a:ext uri="{FF2B5EF4-FFF2-40B4-BE49-F238E27FC236}">
                  <a16:creationId xmlns:a16="http://schemas.microsoft.com/office/drawing/2014/main" id="{21B325CF-9895-E3C0-8799-CB996BF01018}"/>
                </a:ext>
              </a:extLst>
            </p:cNvPr>
            <p:cNvSpPr/>
            <p:nvPr/>
          </p:nvSpPr>
          <p:spPr>
            <a:xfrm>
              <a:off x="4727448" y="2907792"/>
              <a:ext cx="1261727" cy="201167"/>
            </a:xfrm>
            <a:prstGeom prst="rect">
              <a:avLst/>
            </a:prstGeom>
            <a:solidFill>
              <a:srgbClr val="993C1D"/>
            </a:solidFill>
            <a:ln w="0">
              <a:solidFill>
                <a:srgbClr val="993C1D"/>
              </a:solidFill>
            </a:ln>
          </p:spPr>
          <p:txBody>
            <a:bodyPr/>
            <a:lstStyle/>
            <a:p>
              <a:endParaRPr lang="en-US"/>
            </a:p>
          </p:txBody>
        </p:sp>
        <p:sp>
          <p:nvSpPr>
            <p:cNvPr id="72" name="t">
              <a:extLst>
                <a:ext uri="{FF2B5EF4-FFF2-40B4-BE49-F238E27FC236}">
                  <a16:creationId xmlns:a16="http://schemas.microsoft.com/office/drawing/2014/main" id="{AD63427A-C131-65B8-BDD0-4D80938D12EE}"/>
                </a:ext>
              </a:extLst>
            </p:cNvPr>
            <p:cNvSpPr txBox="1"/>
            <p:nvPr/>
          </p:nvSpPr>
          <p:spPr>
            <a:xfrm>
              <a:off x="4727447" y="2907792"/>
              <a:ext cx="1112958" cy="182878"/>
            </a:xfrm>
            <a:prstGeom prst="rect">
              <a:avLst/>
            </a:prstGeom>
            <a:noFill/>
            <a:ln/>
          </p:spPr>
          <p:txBody>
            <a:bodyPr wrap="square" rtlCol="0"/>
            <a:lstStyle/>
            <a:p>
              <a:pPr algn="ctr"/>
              <a:r>
                <a:rPr lang="en-US" sz="1100" b="1" dirty="0">
                  <a:solidFill>
                    <a:srgbClr val="FFFFFF"/>
                  </a:solidFill>
                </a:rPr>
                <a:t>Reusability</a:t>
              </a:r>
            </a:p>
          </p:txBody>
        </p:sp>
        <p:sp>
          <p:nvSpPr>
            <p:cNvPr id="73" name="t">
              <a:extLst>
                <a:ext uri="{FF2B5EF4-FFF2-40B4-BE49-F238E27FC236}">
                  <a16:creationId xmlns:a16="http://schemas.microsoft.com/office/drawing/2014/main" id="{62CA9EBA-3433-E495-37F8-BCFB2648317C}"/>
                </a:ext>
              </a:extLst>
            </p:cNvPr>
            <p:cNvSpPr txBox="1"/>
            <p:nvPr/>
          </p:nvSpPr>
          <p:spPr>
            <a:xfrm>
              <a:off x="4745736" y="3108960"/>
              <a:ext cx="3986783" cy="201168"/>
            </a:xfrm>
            <a:prstGeom prst="rect">
              <a:avLst/>
            </a:prstGeom>
            <a:noFill/>
            <a:ln/>
          </p:spPr>
          <p:txBody>
            <a:bodyPr wrap="square" rtlCol="0"/>
            <a:lstStyle/>
            <a:p>
              <a:pPr algn="l"/>
              <a:r>
                <a:rPr lang="en-US" sz="1100" b="1" dirty="0">
                  <a:solidFill>
                    <a:srgbClr val="4A1B0C"/>
                  </a:solidFill>
                </a:rPr>
                <a:t>Modular, extensible, integrable by design</a:t>
              </a:r>
            </a:p>
          </p:txBody>
        </p:sp>
        <p:sp>
          <p:nvSpPr>
            <p:cNvPr id="74" name="r">
              <a:extLst>
                <a:ext uri="{FF2B5EF4-FFF2-40B4-BE49-F238E27FC236}">
                  <a16:creationId xmlns:a16="http://schemas.microsoft.com/office/drawing/2014/main" id="{46280231-4199-E1F9-BE6D-85343988BF54}"/>
                </a:ext>
              </a:extLst>
            </p:cNvPr>
            <p:cNvSpPr/>
            <p:nvPr/>
          </p:nvSpPr>
          <p:spPr>
            <a:xfrm>
              <a:off x="4782312" y="3360181"/>
              <a:ext cx="91440" cy="91440"/>
            </a:xfrm>
            <a:prstGeom prst="rect">
              <a:avLst/>
            </a:prstGeom>
            <a:solidFill>
              <a:srgbClr val="993C1D"/>
            </a:solidFill>
            <a:ln w="0">
              <a:solidFill>
                <a:srgbClr val="993C1D"/>
              </a:solidFill>
            </a:ln>
          </p:spPr>
          <p:txBody>
            <a:bodyPr/>
            <a:lstStyle/>
            <a:p>
              <a:endParaRPr lang="en-US"/>
            </a:p>
          </p:txBody>
        </p:sp>
        <p:sp>
          <p:nvSpPr>
            <p:cNvPr id="75" name="t">
              <a:extLst>
                <a:ext uri="{FF2B5EF4-FFF2-40B4-BE49-F238E27FC236}">
                  <a16:creationId xmlns:a16="http://schemas.microsoft.com/office/drawing/2014/main" id="{939CF5E7-827A-57C5-5505-44D73E173F33}"/>
                </a:ext>
              </a:extLst>
            </p:cNvPr>
            <p:cNvSpPr txBox="1"/>
            <p:nvPr/>
          </p:nvSpPr>
          <p:spPr>
            <a:xfrm>
              <a:off x="4928616" y="3310128"/>
              <a:ext cx="3803903" cy="201168"/>
            </a:xfrm>
            <a:prstGeom prst="rect">
              <a:avLst/>
            </a:prstGeom>
            <a:noFill/>
            <a:ln/>
          </p:spPr>
          <p:txBody>
            <a:bodyPr wrap="square" rtlCol="0"/>
            <a:lstStyle/>
            <a:p>
              <a:pPr algn="l"/>
              <a:r>
                <a:rPr lang="en-US" sz="1050" b="0" dirty="0">
                  <a:solidFill>
                    <a:srgbClr val="712B13"/>
                  </a:solidFill>
                </a:rPr>
                <a:t>Each engine component (extractor, matcher, scorer) usable independently</a:t>
              </a:r>
            </a:p>
          </p:txBody>
        </p:sp>
        <p:sp>
          <p:nvSpPr>
            <p:cNvPr id="76" name="r">
              <a:extLst>
                <a:ext uri="{FF2B5EF4-FFF2-40B4-BE49-F238E27FC236}">
                  <a16:creationId xmlns:a16="http://schemas.microsoft.com/office/drawing/2014/main" id="{D8D31A45-C86C-1424-924F-FDD3E1995E40}"/>
                </a:ext>
              </a:extLst>
            </p:cNvPr>
            <p:cNvSpPr/>
            <p:nvPr/>
          </p:nvSpPr>
          <p:spPr>
            <a:xfrm>
              <a:off x="4782312" y="3576109"/>
              <a:ext cx="91440" cy="91440"/>
            </a:xfrm>
            <a:prstGeom prst="rect">
              <a:avLst/>
            </a:prstGeom>
            <a:solidFill>
              <a:srgbClr val="993C1D"/>
            </a:solidFill>
            <a:ln w="0">
              <a:solidFill>
                <a:srgbClr val="993C1D"/>
              </a:solidFill>
            </a:ln>
          </p:spPr>
          <p:txBody>
            <a:bodyPr/>
            <a:lstStyle/>
            <a:p>
              <a:endParaRPr lang="en-US"/>
            </a:p>
          </p:txBody>
        </p:sp>
        <p:sp>
          <p:nvSpPr>
            <p:cNvPr id="77" name="t">
              <a:extLst>
                <a:ext uri="{FF2B5EF4-FFF2-40B4-BE49-F238E27FC236}">
                  <a16:creationId xmlns:a16="http://schemas.microsoft.com/office/drawing/2014/main" id="{CBDB3070-6986-2451-F313-78816D64A618}"/>
                </a:ext>
              </a:extLst>
            </p:cNvPr>
            <p:cNvSpPr txBox="1"/>
            <p:nvPr/>
          </p:nvSpPr>
          <p:spPr>
            <a:xfrm>
              <a:off x="4928616" y="3529584"/>
              <a:ext cx="3803903" cy="201168"/>
            </a:xfrm>
            <a:prstGeom prst="rect">
              <a:avLst/>
            </a:prstGeom>
            <a:noFill/>
            <a:ln/>
          </p:spPr>
          <p:txBody>
            <a:bodyPr wrap="square" rtlCol="0"/>
            <a:lstStyle/>
            <a:p>
              <a:pPr algn="l"/>
              <a:r>
                <a:rPr lang="en-US" sz="1050" b="0" dirty="0">
                  <a:solidFill>
                    <a:srgbClr val="712B13"/>
                  </a:solidFill>
                </a:rPr>
                <a:t>Vector DB rule collections updateable without touching analysis logic</a:t>
              </a:r>
            </a:p>
          </p:txBody>
        </p:sp>
        <p:sp>
          <p:nvSpPr>
            <p:cNvPr id="78" name="r">
              <a:extLst>
                <a:ext uri="{FF2B5EF4-FFF2-40B4-BE49-F238E27FC236}">
                  <a16:creationId xmlns:a16="http://schemas.microsoft.com/office/drawing/2014/main" id="{15DD4F2D-6D79-D9EA-D5E0-28B219B2B682}"/>
                </a:ext>
              </a:extLst>
            </p:cNvPr>
            <p:cNvSpPr/>
            <p:nvPr/>
          </p:nvSpPr>
          <p:spPr>
            <a:xfrm>
              <a:off x="4782312" y="3799093"/>
              <a:ext cx="91440" cy="91440"/>
            </a:xfrm>
            <a:prstGeom prst="rect">
              <a:avLst/>
            </a:prstGeom>
            <a:solidFill>
              <a:srgbClr val="993C1D"/>
            </a:solidFill>
            <a:ln w="0">
              <a:solidFill>
                <a:srgbClr val="993C1D"/>
              </a:solidFill>
            </a:ln>
          </p:spPr>
          <p:txBody>
            <a:bodyPr/>
            <a:lstStyle/>
            <a:p>
              <a:endParaRPr lang="en-US"/>
            </a:p>
          </p:txBody>
        </p:sp>
        <p:sp>
          <p:nvSpPr>
            <p:cNvPr id="79" name="t">
              <a:extLst>
                <a:ext uri="{FF2B5EF4-FFF2-40B4-BE49-F238E27FC236}">
                  <a16:creationId xmlns:a16="http://schemas.microsoft.com/office/drawing/2014/main" id="{90A1D35F-FCAF-4CE4-7EDD-4E4011C3B3AA}"/>
                </a:ext>
              </a:extLst>
            </p:cNvPr>
            <p:cNvSpPr txBox="1"/>
            <p:nvPr/>
          </p:nvSpPr>
          <p:spPr>
            <a:xfrm>
              <a:off x="4928616" y="3749039"/>
              <a:ext cx="3803903" cy="201168"/>
            </a:xfrm>
            <a:prstGeom prst="rect">
              <a:avLst/>
            </a:prstGeom>
            <a:noFill/>
            <a:ln/>
          </p:spPr>
          <p:txBody>
            <a:bodyPr wrap="square" rtlCol="0"/>
            <a:lstStyle/>
            <a:p>
              <a:pPr algn="l"/>
              <a:r>
                <a:rPr lang="en-US" sz="1050" b="0" dirty="0">
                  <a:solidFill>
                    <a:srgbClr val="712B13"/>
                  </a:solidFill>
                </a:rPr>
                <a:t>REST API &amp; CLI interfaces enable CI/CD and third-party tool integration</a:t>
              </a:r>
            </a:p>
          </p:txBody>
        </p:sp>
        <p:sp>
          <p:nvSpPr>
            <p:cNvPr id="80" name="r">
              <a:extLst>
                <a:ext uri="{FF2B5EF4-FFF2-40B4-BE49-F238E27FC236}">
                  <a16:creationId xmlns:a16="http://schemas.microsoft.com/office/drawing/2014/main" id="{CA9B45DC-C0B7-B4A8-557C-EFBFE642796D}"/>
                </a:ext>
              </a:extLst>
            </p:cNvPr>
            <p:cNvSpPr/>
            <p:nvPr/>
          </p:nvSpPr>
          <p:spPr>
            <a:xfrm>
              <a:off x="4782312" y="4050324"/>
              <a:ext cx="91440" cy="91440"/>
            </a:xfrm>
            <a:prstGeom prst="rect">
              <a:avLst/>
            </a:prstGeom>
            <a:solidFill>
              <a:srgbClr val="993C1D"/>
            </a:solidFill>
            <a:ln w="0">
              <a:solidFill>
                <a:srgbClr val="993C1D"/>
              </a:solidFill>
            </a:ln>
          </p:spPr>
          <p:txBody>
            <a:bodyPr/>
            <a:lstStyle/>
            <a:p>
              <a:endParaRPr lang="en-US"/>
            </a:p>
          </p:txBody>
        </p:sp>
        <p:sp>
          <p:nvSpPr>
            <p:cNvPr id="81" name="t">
              <a:extLst>
                <a:ext uri="{FF2B5EF4-FFF2-40B4-BE49-F238E27FC236}">
                  <a16:creationId xmlns:a16="http://schemas.microsoft.com/office/drawing/2014/main" id="{1B5A9609-DEAD-DD5C-F69B-EC9487B14B38}"/>
                </a:ext>
              </a:extLst>
            </p:cNvPr>
            <p:cNvSpPr txBox="1"/>
            <p:nvPr/>
          </p:nvSpPr>
          <p:spPr>
            <a:xfrm>
              <a:off x="4928616" y="3968496"/>
              <a:ext cx="3803903" cy="201168"/>
            </a:xfrm>
            <a:prstGeom prst="rect">
              <a:avLst/>
            </a:prstGeom>
            <a:noFill/>
            <a:ln/>
          </p:spPr>
          <p:txBody>
            <a:bodyPr wrap="square" rtlCol="0"/>
            <a:lstStyle/>
            <a:p>
              <a:pPr algn="l"/>
              <a:r>
                <a:rPr lang="en-US" sz="1050" b="0" dirty="0">
                  <a:solidFill>
                    <a:srgbClr val="712B13"/>
                  </a:solidFill>
                </a:rPr>
                <a:t>AI layer is optional — system runs fully without LLM for offline environments</a:t>
              </a:r>
            </a:p>
          </p:txBody>
        </p:sp>
      </p:grpSp>
    </p:spTree>
    <p:extLst>
      <p:ext uri="{BB962C8B-B14F-4D97-AF65-F5344CB8AC3E}">
        <p14:creationId xmlns:p14="http://schemas.microsoft.com/office/powerpoint/2010/main" val="3667859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34051-2680-2A46-E909-587F7CBABFE7}"/>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8EE87E0D-8DD8-0817-1245-4EE973770A1B}"/>
              </a:ext>
            </a:extLst>
          </p:cNvPr>
          <p:cNvSpPr/>
          <p:nvPr/>
        </p:nvSpPr>
        <p:spPr>
          <a:xfrm>
            <a:off x="0" y="0"/>
            <a:ext cx="12191695" cy="114300"/>
          </a:xfrm>
          <a:prstGeom prst="rect">
            <a:avLst/>
          </a:prstGeom>
          <a:solidFill>
            <a:srgbClr val="0F62FE"/>
          </a:solidFill>
          <a:ln/>
        </p:spPr>
        <p:txBody>
          <a:bodyPr/>
          <a:lstStyle/>
          <a:p>
            <a:endParaRPr lang="en-IN"/>
          </a:p>
        </p:txBody>
      </p:sp>
      <p:sp>
        <p:nvSpPr>
          <p:cNvPr id="5" name="Shape 3">
            <a:extLst>
              <a:ext uri="{FF2B5EF4-FFF2-40B4-BE49-F238E27FC236}">
                <a16:creationId xmlns:a16="http://schemas.microsoft.com/office/drawing/2014/main" id="{9503E90E-DBE3-6348-8E51-5A620C8A83DB}"/>
              </a:ext>
            </a:extLst>
          </p:cNvPr>
          <p:cNvSpPr/>
          <p:nvPr/>
        </p:nvSpPr>
        <p:spPr>
          <a:xfrm>
            <a:off x="0" y="1172261"/>
            <a:ext cx="12191695" cy="9144"/>
          </a:xfrm>
          <a:prstGeom prst="rect">
            <a:avLst/>
          </a:prstGeom>
          <a:solidFill>
            <a:srgbClr val="E0E0E0"/>
          </a:solidFill>
          <a:ln/>
        </p:spPr>
        <p:txBody>
          <a:bodyPr/>
          <a:lstStyle/>
          <a:p>
            <a:endParaRPr lang="en-IN"/>
          </a:p>
        </p:txBody>
      </p:sp>
      <p:sp>
        <p:nvSpPr>
          <p:cNvPr id="6" name="Text 4">
            <a:extLst>
              <a:ext uri="{FF2B5EF4-FFF2-40B4-BE49-F238E27FC236}">
                <a16:creationId xmlns:a16="http://schemas.microsoft.com/office/drawing/2014/main" id="{65114A8F-90D5-8948-AD8E-0F86B3A91CB1}"/>
              </a:ext>
            </a:extLst>
          </p:cNvPr>
          <p:cNvSpPr txBox="1"/>
          <p:nvPr/>
        </p:nvSpPr>
        <p:spPr>
          <a:xfrm>
            <a:off x="571500" y="466344"/>
            <a:ext cx="9888116" cy="523951"/>
          </a:xfrm>
          <a:prstGeom prst="rect">
            <a:avLst/>
          </a:prstGeom>
          <a:noFill/>
          <a:ln/>
        </p:spPr>
        <p:txBody>
          <a:bodyPr wrap="square" lIns="0" tIns="0" rIns="0" bIns="0" rtlCol="0" anchor="ctr"/>
          <a:lstStyle/>
          <a:p>
            <a:pPr>
              <a:lnSpc>
                <a:spcPct val="90000"/>
              </a:lnSpc>
              <a:spcBef>
                <a:spcPct val="0"/>
              </a:spcBef>
              <a:spcAft>
                <a:spcPts val="600"/>
              </a:spcAft>
            </a:pPr>
            <a:r>
              <a:rPr lang="en-US" sz="3200" dirty="0"/>
              <a:t>Future Enhancements/Implementation Scope</a:t>
            </a:r>
          </a:p>
        </p:txBody>
      </p:sp>
      <p:sp>
        <p:nvSpPr>
          <p:cNvPr id="8" name="Shape 6">
            <a:extLst>
              <a:ext uri="{FF2B5EF4-FFF2-40B4-BE49-F238E27FC236}">
                <a16:creationId xmlns:a16="http://schemas.microsoft.com/office/drawing/2014/main" id="{EA299FFC-A8D7-F09D-A612-60F19C83D06C}"/>
              </a:ext>
            </a:extLst>
          </p:cNvPr>
          <p:cNvSpPr/>
          <p:nvPr/>
        </p:nvSpPr>
        <p:spPr>
          <a:xfrm>
            <a:off x="0" y="6372454"/>
            <a:ext cx="12191695" cy="485546"/>
          </a:xfrm>
          <a:prstGeom prst="rect">
            <a:avLst/>
          </a:prstGeom>
          <a:solidFill>
            <a:srgbClr val="FFFFFF"/>
          </a:solidFill>
          <a:ln/>
        </p:spPr>
        <p:txBody>
          <a:bodyPr/>
          <a:lstStyle/>
          <a:p>
            <a:endParaRPr lang="en-IN"/>
          </a:p>
        </p:txBody>
      </p:sp>
      <p:sp>
        <p:nvSpPr>
          <p:cNvPr id="9" name="Shape 7">
            <a:extLst>
              <a:ext uri="{FF2B5EF4-FFF2-40B4-BE49-F238E27FC236}">
                <a16:creationId xmlns:a16="http://schemas.microsoft.com/office/drawing/2014/main" id="{A6345CBF-8C7A-18A2-4124-B434A8F50B07}"/>
              </a:ext>
            </a:extLst>
          </p:cNvPr>
          <p:cNvSpPr/>
          <p:nvPr/>
        </p:nvSpPr>
        <p:spPr>
          <a:xfrm>
            <a:off x="0" y="6372454"/>
            <a:ext cx="12191695" cy="9144"/>
          </a:xfrm>
          <a:prstGeom prst="rect">
            <a:avLst/>
          </a:prstGeom>
          <a:solidFill>
            <a:srgbClr val="E0E0E0"/>
          </a:solidFill>
          <a:ln/>
        </p:spPr>
        <p:txBody>
          <a:bodyPr/>
          <a:lstStyle/>
          <a:p>
            <a:endParaRPr lang="en-IN"/>
          </a:p>
        </p:txBody>
      </p:sp>
      <p:sp>
        <p:nvSpPr>
          <p:cNvPr id="10" name="Text 8">
            <a:extLst>
              <a:ext uri="{FF2B5EF4-FFF2-40B4-BE49-F238E27FC236}">
                <a16:creationId xmlns:a16="http://schemas.microsoft.com/office/drawing/2014/main" id="{D7E04645-6037-F09C-031D-EFD77C8F553B}"/>
              </a:ext>
            </a:extLst>
          </p:cNvPr>
          <p:cNvSpPr txBox="1"/>
          <p:nvPr/>
        </p:nvSpPr>
        <p:spPr>
          <a:xfrm>
            <a:off x="571500" y="6543446"/>
            <a:ext cx="1828800"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COE Automation Hackathon 2026</a:t>
            </a:r>
            <a:endParaRPr lang="en-US" sz="900" dirty="0"/>
          </a:p>
        </p:txBody>
      </p:sp>
      <p:sp>
        <p:nvSpPr>
          <p:cNvPr id="11" name="Text 9">
            <a:extLst>
              <a:ext uri="{FF2B5EF4-FFF2-40B4-BE49-F238E27FC236}">
                <a16:creationId xmlns:a16="http://schemas.microsoft.com/office/drawing/2014/main" id="{3987CCF9-4118-A210-7132-30125D36603F}"/>
              </a:ext>
            </a:extLst>
          </p:cNvPr>
          <p:cNvSpPr txBox="1"/>
          <p:nvPr/>
        </p:nvSpPr>
        <p:spPr>
          <a:xfrm>
            <a:off x="10006279" y="6543446"/>
            <a:ext cx="1705356"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Confidential - Internal Use Only</a:t>
            </a:r>
            <a:endParaRPr lang="en-US" sz="900" dirty="0"/>
          </a:p>
        </p:txBody>
      </p:sp>
      <p:sp>
        <p:nvSpPr>
          <p:cNvPr id="49" name="TextBox 48">
            <a:extLst>
              <a:ext uri="{FF2B5EF4-FFF2-40B4-BE49-F238E27FC236}">
                <a16:creationId xmlns:a16="http://schemas.microsoft.com/office/drawing/2014/main" id="{B8C27C04-2B47-1649-49B3-F06571C7E0DE}"/>
              </a:ext>
            </a:extLst>
          </p:cNvPr>
          <p:cNvSpPr txBox="1"/>
          <p:nvPr/>
        </p:nvSpPr>
        <p:spPr>
          <a:xfrm>
            <a:off x="869937" y="1247467"/>
            <a:ext cx="9724031" cy="3683358"/>
          </a:xfrm>
          <a:prstGeom prst="rect">
            <a:avLst/>
          </a:prstGeom>
        </p:spPr>
        <p:txBody>
          <a:bodyPr vert="horz" lIns="91440" tIns="45720" rIns="91440" bIns="45720" rtlCol="0" anchor="ctr">
            <a:normAutofit/>
          </a:bodyPr>
          <a:lstStyle/>
          <a:p>
            <a:pPr marL="285750" indent="-285750">
              <a:lnSpc>
                <a:spcPct val="90000"/>
              </a:lnSpc>
              <a:spcAft>
                <a:spcPts val="600"/>
              </a:spcAft>
              <a:buFont typeface="Arial" panose="020B0604020202020204" pitchFamily="34" charset="0"/>
              <a:buChar char="•"/>
            </a:pPr>
            <a:endParaRPr lang="en-US" dirty="0"/>
          </a:p>
        </p:txBody>
      </p:sp>
      <p:sp>
        <p:nvSpPr>
          <p:cNvPr id="7" name="Text 4">
            <a:extLst>
              <a:ext uri="{FF2B5EF4-FFF2-40B4-BE49-F238E27FC236}">
                <a16:creationId xmlns:a16="http://schemas.microsoft.com/office/drawing/2014/main" id="{AB914440-7134-B09C-4C3F-31F37641EE1C}"/>
              </a:ext>
            </a:extLst>
          </p:cNvPr>
          <p:cNvSpPr txBox="1"/>
          <p:nvPr/>
        </p:nvSpPr>
        <p:spPr>
          <a:xfrm>
            <a:off x="571500" y="1737000"/>
            <a:ext cx="9888116" cy="523951"/>
          </a:xfrm>
          <a:prstGeom prst="rect">
            <a:avLst/>
          </a:prstGeom>
          <a:noFill/>
          <a:ln/>
        </p:spPr>
        <p:txBody>
          <a:bodyPr wrap="square" lIns="0" tIns="0" rIns="0" bIns="0" rtlCol="0" anchor="ctr"/>
          <a:lstStyle/>
          <a:p>
            <a:endParaRPr lang="en-GB" sz="1050" dirty="0"/>
          </a:p>
        </p:txBody>
      </p:sp>
      <p:grpSp>
        <p:nvGrpSpPr>
          <p:cNvPr id="12" name="GROUP_legend">
            <a:extLst>
              <a:ext uri="{FF2B5EF4-FFF2-40B4-BE49-F238E27FC236}">
                <a16:creationId xmlns:a16="http://schemas.microsoft.com/office/drawing/2014/main" id="{05A72552-6ABA-7FC6-5516-312CF52A0548}"/>
              </a:ext>
            </a:extLst>
          </p:cNvPr>
          <p:cNvGrpSpPr/>
          <p:nvPr/>
        </p:nvGrpSpPr>
        <p:grpSpPr>
          <a:xfrm>
            <a:off x="475487" y="1260598"/>
            <a:ext cx="11145013" cy="314554"/>
            <a:chOff x="228600" y="530352"/>
            <a:chExt cx="8686800" cy="237744"/>
          </a:xfrm>
        </p:grpSpPr>
        <p:sp>
          <p:nvSpPr>
            <p:cNvPr id="13" name="r">
              <a:extLst>
                <a:ext uri="{FF2B5EF4-FFF2-40B4-BE49-F238E27FC236}">
                  <a16:creationId xmlns:a16="http://schemas.microsoft.com/office/drawing/2014/main" id="{F717D90D-6964-E64B-E3C8-BEDCB2F1ECA0}"/>
                </a:ext>
              </a:extLst>
            </p:cNvPr>
            <p:cNvSpPr/>
            <p:nvPr/>
          </p:nvSpPr>
          <p:spPr>
            <a:xfrm>
              <a:off x="228600" y="530352"/>
              <a:ext cx="8686800" cy="237744"/>
            </a:xfrm>
            <a:prstGeom prst="rect">
              <a:avLst/>
            </a:prstGeom>
            <a:solidFill>
              <a:srgbClr val="EEEDFE"/>
            </a:solidFill>
            <a:ln w="6350">
              <a:solidFill>
                <a:srgbClr val="AFA9EC"/>
              </a:solidFill>
            </a:ln>
          </p:spPr>
          <p:txBody>
            <a:bodyPr/>
            <a:lstStyle/>
            <a:p>
              <a:endParaRPr lang="en-US"/>
            </a:p>
          </p:txBody>
        </p:sp>
        <p:sp>
          <p:nvSpPr>
            <p:cNvPr id="14" name="t">
              <a:extLst>
                <a:ext uri="{FF2B5EF4-FFF2-40B4-BE49-F238E27FC236}">
                  <a16:creationId xmlns:a16="http://schemas.microsoft.com/office/drawing/2014/main" id="{AACC5FD3-857B-2C67-3428-1716FFAF5C90}"/>
                </a:ext>
              </a:extLst>
            </p:cNvPr>
            <p:cNvSpPr txBox="1"/>
            <p:nvPr/>
          </p:nvSpPr>
          <p:spPr>
            <a:xfrm>
              <a:off x="365760" y="548640"/>
              <a:ext cx="1188720" cy="219456"/>
            </a:xfrm>
            <a:prstGeom prst="rect">
              <a:avLst/>
            </a:prstGeom>
            <a:noFill/>
            <a:ln/>
          </p:spPr>
          <p:txBody>
            <a:bodyPr wrap="square" rtlCol="0"/>
            <a:lstStyle/>
            <a:p>
              <a:pPr algn="l"/>
              <a:r>
                <a:rPr lang="en-US" sz="1100" b="1" dirty="0">
                  <a:solidFill>
                    <a:srgbClr val="3C3489"/>
                  </a:solidFill>
                </a:rPr>
                <a:t>Roadmap phases:</a:t>
              </a:r>
            </a:p>
          </p:txBody>
        </p:sp>
        <p:sp>
          <p:nvSpPr>
            <p:cNvPr id="15" name="r">
              <a:extLst>
                <a:ext uri="{FF2B5EF4-FFF2-40B4-BE49-F238E27FC236}">
                  <a16:creationId xmlns:a16="http://schemas.microsoft.com/office/drawing/2014/main" id="{D0C2B0A4-9408-8957-33B7-C29221AE2A8A}"/>
                </a:ext>
              </a:extLst>
            </p:cNvPr>
            <p:cNvSpPr/>
            <p:nvPr/>
          </p:nvSpPr>
          <p:spPr>
            <a:xfrm>
              <a:off x="1600200" y="576072"/>
              <a:ext cx="128016" cy="128016"/>
            </a:xfrm>
            <a:prstGeom prst="rect">
              <a:avLst/>
            </a:prstGeom>
            <a:solidFill>
              <a:srgbClr val="185FA5"/>
            </a:solidFill>
            <a:ln w="0">
              <a:solidFill>
                <a:srgbClr val="185FA5"/>
              </a:solidFill>
            </a:ln>
          </p:spPr>
          <p:txBody>
            <a:bodyPr/>
            <a:lstStyle/>
            <a:p>
              <a:endParaRPr lang="en-US"/>
            </a:p>
          </p:txBody>
        </p:sp>
        <p:sp>
          <p:nvSpPr>
            <p:cNvPr id="16" name="t">
              <a:extLst>
                <a:ext uri="{FF2B5EF4-FFF2-40B4-BE49-F238E27FC236}">
                  <a16:creationId xmlns:a16="http://schemas.microsoft.com/office/drawing/2014/main" id="{6DADC5BE-439A-CF4D-B47A-39D94F4BB268}"/>
                </a:ext>
              </a:extLst>
            </p:cNvPr>
            <p:cNvSpPr txBox="1"/>
            <p:nvPr/>
          </p:nvSpPr>
          <p:spPr>
            <a:xfrm>
              <a:off x="1764792" y="548640"/>
              <a:ext cx="1920240" cy="219456"/>
            </a:xfrm>
            <a:prstGeom prst="rect">
              <a:avLst/>
            </a:prstGeom>
            <a:noFill/>
            <a:ln/>
          </p:spPr>
          <p:txBody>
            <a:bodyPr wrap="square" rtlCol="0"/>
            <a:lstStyle/>
            <a:p>
              <a:pPr algn="l"/>
              <a:r>
                <a:rPr lang="en-US" sz="1100" b="0" dirty="0">
                  <a:solidFill>
                    <a:srgbClr val="444441"/>
                  </a:solidFill>
                </a:rPr>
                <a:t>Near-term  (6-12 months)</a:t>
              </a:r>
            </a:p>
          </p:txBody>
        </p:sp>
        <p:sp>
          <p:nvSpPr>
            <p:cNvPr id="17" name="r">
              <a:extLst>
                <a:ext uri="{FF2B5EF4-FFF2-40B4-BE49-F238E27FC236}">
                  <a16:creationId xmlns:a16="http://schemas.microsoft.com/office/drawing/2014/main" id="{F3696D5C-469B-079B-8911-F96360772FB9}"/>
                </a:ext>
              </a:extLst>
            </p:cNvPr>
            <p:cNvSpPr/>
            <p:nvPr/>
          </p:nvSpPr>
          <p:spPr>
            <a:xfrm>
              <a:off x="3840480" y="576072"/>
              <a:ext cx="128016" cy="128016"/>
            </a:xfrm>
            <a:prstGeom prst="rect">
              <a:avLst/>
            </a:prstGeom>
            <a:solidFill>
              <a:srgbClr val="0F6E56"/>
            </a:solidFill>
            <a:ln w="0">
              <a:solidFill>
                <a:srgbClr val="0F6E56"/>
              </a:solidFill>
            </a:ln>
          </p:spPr>
          <p:txBody>
            <a:bodyPr/>
            <a:lstStyle/>
            <a:p>
              <a:endParaRPr lang="en-US"/>
            </a:p>
          </p:txBody>
        </p:sp>
        <p:sp>
          <p:nvSpPr>
            <p:cNvPr id="18" name="t">
              <a:extLst>
                <a:ext uri="{FF2B5EF4-FFF2-40B4-BE49-F238E27FC236}">
                  <a16:creationId xmlns:a16="http://schemas.microsoft.com/office/drawing/2014/main" id="{7CF6CB22-AFF8-D9BF-B2E9-8A7A49DA4C3F}"/>
                </a:ext>
              </a:extLst>
            </p:cNvPr>
            <p:cNvSpPr txBox="1"/>
            <p:nvPr/>
          </p:nvSpPr>
          <p:spPr>
            <a:xfrm>
              <a:off x="4005072" y="548640"/>
              <a:ext cx="1920240" cy="219456"/>
            </a:xfrm>
            <a:prstGeom prst="rect">
              <a:avLst/>
            </a:prstGeom>
            <a:noFill/>
            <a:ln/>
          </p:spPr>
          <p:txBody>
            <a:bodyPr wrap="square" rtlCol="0"/>
            <a:lstStyle/>
            <a:p>
              <a:pPr algn="l"/>
              <a:r>
                <a:rPr lang="en-US" sz="1100" b="0" dirty="0">
                  <a:solidFill>
                    <a:srgbClr val="444441"/>
                  </a:solidFill>
                </a:rPr>
                <a:t>Mid-term  (12-24 months)</a:t>
              </a:r>
            </a:p>
          </p:txBody>
        </p:sp>
        <p:sp>
          <p:nvSpPr>
            <p:cNvPr id="19" name="r">
              <a:extLst>
                <a:ext uri="{FF2B5EF4-FFF2-40B4-BE49-F238E27FC236}">
                  <a16:creationId xmlns:a16="http://schemas.microsoft.com/office/drawing/2014/main" id="{609E9EB8-EB8C-F4DA-A34B-146E406095A9}"/>
                </a:ext>
              </a:extLst>
            </p:cNvPr>
            <p:cNvSpPr/>
            <p:nvPr/>
          </p:nvSpPr>
          <p:spPr>
            <a:xfrm>
              <a:off x="6080760" y="576072"/>
              <a:ext cx="128016" cy="128016"/>
            </a:xfrm>
            <a:prstGeom prst="rect">
              <a:avLst/>
            </a:prstGeom>
            <a:solidFill>
              <a:srgbClr val="993C1D"/>
            </a:solidFill>
            <a:ln w="0">
              <a:solidFill>
                <a:srgbClr val="993C1D"/>
              </a:solidFill>
            </a:ln>
          </p:spPr>
          <p:txBody>
            <a:bodyPr/>
            <a:lstStyle/>
            <a:p>
              <a:endParaRPr lang="en-US"/>
            </a:p>
          </p:txBody>
        </p:sp>
        <p:sp>
          <p:nvSpPr>
            <p:cNvPr id="20" name="t">
              <a:extLst>
                <a:ext uri="{FF2B5EF4-FFF2-40B4-BE49-F238E27FC236}">
                  <a16:creationId xmlns:a16="http://schemas.microsoft.com/office/drawing/2014/main" id="{29C3FCA3-A159-4BA8-3C2D-FD234C24914F}"/>
                </a:ext>
              </a:extLst>
            </p:cNvPr>
            <p:cNvSpPr txBox="1"/>
            <p:nvPr/>
          </p:nvSpPr>
          <p:spPr>
            <a:xfrm>
              <a:off x="6245352" y="548640"/>
              <a:ext cx="1920240" cy="219456"/>
            </a:xfrm>
            <a:prstGeom prst="rect">
              <a:avLst/>
            </a:prstGeom>
            <a:noFill/>
            <a:ln/>
          </p:spPr>
          <p:txBody>
            <a:bodyPr wrap="square" rtlCol="0"/>
            <a:lstStyle/>
            <a:p>
              <a:pPr algn="l"/>
              <a:r>
                <a:rPr lang="en-US" sz="1100" b="0" dirty="0">
                  <a:solidFill>
                    <a:srgbClr val="444441"/>
                  </a:solidFill>
                </a:rPr>
                <a:t>Long-term  (24+ months)</a:t>
              </a:r>
            </a:p>
          </p:txBody>
        </p:sp>
      </p:grpSp>
      <p:grpSp>
        <p:nvGrpSpPr>
          <p:cNvPr id="21" name="DIV_Near-ter">
            <a:extLst>
              <a:ext uri="{FF2B5EF4-FFF2-40B4-BE49-F238E27FC236}">
                <a16:creationId xmlns:a16="http://schemas.microsoft.com/office/drawing/2014/main" id="{D061DED0-CF85-E34A-3E52-7BD92EA3B80F}"/>
              </a:ext>
            </a:extLst>
          </p:cNvPr>
          <p:cNvGrpSpPr/>
          <p:nvPr/>
        </p:nvGrpSpPr>
        <p:grpSpPr>
          <a:xfrm>
            <a:off x="475486" y="1636416"/>
            <a:ext cx="11145014" cy="212248"/>
            <a:chOff x="228600" y="822960"/>
            <a:chExt cx="8686800" cy="201168"/>
          </a:xfrm>
        </p:grpSpPr>
        <p:sp>
          <p:nvSpPr>
            <p:cNvPr id="22" name="r">
              <a:extLst>
                <a:ext uri="{FF2B5EF4-FFF2-40B4-BE49-F238E27FC236}">
                  <a16:creationId xmlns:a16="http://schemas.microsoft.com/office/drawing/2014/main" id="{EB9F7429-A0A6-CE6B-5AC9-06DD1E8EA347}"/>
                </a:ext>
              </a:extLst>
            </p:cNvPr>
            <p:cNvSpPr/>
            <p:nvPr/>
          </p:nvSpPr>
          <p:spPr>
            <a:xfrm>
              <a:off x="228600" y="822960"/>
              <a:ext cx="8686800" cy="201168"/>
            </a:xfrm>
            <a:prstGeom prst="rect">
              <a:avLst/>
            </a:prstGeom>
            <a:solidFill>
              <a:srgbClr val="185FA5"/>
            </a:solidFill>
            <a:ln w="0">
              <a:solidFill>
                <a:srgbClr val="185FA5"/>
              </a:solidFill>
            </a:ln>
          </p:spPr>
          <p:txBody>
            <a:bodyPr/>
            <a:lstStyle/>
            <a:p>
              <a:endParaRPr lang="en-US" sz="1050"/>
            </a:p>
          </p:txBody>
        </p:sp>
        <p:sp>
          <p:nvSpPr>
            <p:cNvPr id="23" name="t">
              <a:extLst>
                <a:ext uri="{FF2B5EF4-FFF2-40B4-BE49-F238E27FC236}">
                  <a16:creationId xmlns:a16="http://schemas.microsoft.com/office/drawing/2014/main" id="{50CE0B79-B7E9-C6F4-5302-6E8075E9CE2E}"/>
                </a:ext>
              </a:extLst>
            </p:cNvPr>
            <p:cNvSpPr txBox="1"/>
            <p:nvPr/>
          </p:nvSpPr>
          <p:spPr>
            <a:xfrm>
              <a:off x="347472" y="832104"/>
              <a:ext cx="1737360" cy="201168"/>
            </a:xfrm>
            <a:prstGeom prst="rect">
              <a:avLst/>
            </a:prstGeom>
            <a:noFill/>
            <a:ln/>
          </p:spPr>
          <p:txBody>
            <a:bodyPr wrap="square" rtlCol="0"/>
            <a:lstStyle/>
            <a:p>
              <a:pPr algn="l"/>
              <a:r>
                <a:rPr lang="en-US" sz="1050" b="1" dirty="0">
                  <a:solidFill>
                    <a:srgbClr val="FFFFFF"/>
                  </a:solidFill>
                </a:rPr>
                <a:t>Near-term  (6-12 months)</a:t>
              </a:r>
            </a:p>
          </p:txBody>
        </p:sp>
        <p:sp>
          <p:nvSpPr>
            <p:cNvPr id="24" name="t">
              <a:extLst>
                <a:ext uri="{FF2B5EF4-FFF2-40B4-BE49-F238E27FC236}">
                  <a16:creationId xmlns:a16="http://schemas.microsoft.com/office/drawing/2014/main" id="{9D99DE26-4818-2D52-205B-DA4FFD6E8009}"/>
                </a:ext>
              </a:extLst>
            </p:cNvPr>
            <p:cNvSpPr txBox="1"/>
            <p:nvPr/>
          </p:nvSpPr>
          <p:spPr>
            <a:xfrm>
              <a:off x="2011680" y="832104"/>
              <a:ext cx="6766560" cy="201168"/>
            </a:xfrm>
            <a:prstGeom prst="rect">
              <a:avLst/>
            </a:prstGeom>
            <a:noFill/>
            <a:ln/>
          </p:spPr>
          <p:txBody>
            <a:bodyPr wrap="square" rtlCol="0"/>
            <a:lstStyle/>
            <a:p>
              <a:pPr algn="l"/>
              <a:r>
                <a:rPr lang="en-US" sz="1050" b="0" dirty="0">
                  <a:solidFill>
                    <a:srgbClr val="FFFFFF"/>
                  </a:solidFill>
                </a:rPr>
                <a:t>Foundation integrations — shift-left feedback, CI/CD gates and autonomous monitoring</a:t>
              </a:r>
            </a:p>
          </p:txBody>
        </p:sp>
      </p:grpSp>
      <p:grpSp>
        <p:nvGrpSpPr>
          <p:cNvPr id="25" name="DIV_Mid-term">
            <a:extLst>
              <a:ext uri="{FF2B5EF4-FFF2-40B4-BE49-F238E27FC236}">
                <a16:creationId xmlns:a16="http://schemas.microsoft.com/office/drawing/2014/main" id="{6BD0964C-4681-8DA1-5635-DFC32B2ECB3D}"/>
              </a:ext>
            </a:extLst>
          </p:cNvPr>
          <p:cNvGrpSpPr/>
          <p:nvPr/>
        </p:nvGrpSpPr>
        <p:grpSpPr>
          <a:xfrm>
            <a:off x="530352" y="3137031"/>
            <a:ext cx="11090148" cy="234266"/>
            <a:chOff x="228600" y="2130552"/>
            <a:chExt cx="8686800" cy="201168"/>
          </a:xfrm>
        </p:grpSpPr>
        <p:sp>
          <p:nvSpPr>
            <p:cNvPr id="26" name="r">
              <a:extLst>
                <a:ext uri="{FF2B5EF4-FFF2-40B4-BE49-F238E27FC236}">
                  <a16:creationId xmlns:a16="http://schemas.microsoft.com/office/drawing/2014/main" id="{957418B2-BA83-C651-3EDD-9A686D1D735C}"/>
                </a:ext>
              </a:extLst>
            </p:cNvPr>
            <p:cNvSpPr/>
            <p:nvPr/>
          </p:nvSpPr>
          <p:spPr>
            <a:xfrm>
              <a:off x="228600" y="2130552"/>
              <a:ext cx="8686800" cy="201168"/>
            </a:xfrm>
            <a:prstGeom prst="rect">
              <a:avLst/>
            </a:prstGeom>
            <a:solidFill>
              <a:srgbClr val="0F6E56"/>
            </a:solidFill>
            <a:ln w="0">
              <a:solidFill>
                <a:srgbClr val="0F6E56"/>
              </a:solidFill>
            </a:ln>
          </p:spPr>
          <p:txBody>
            <a:bodyPr/>
            <a:lstStyle/>
            <a:p>
              <a:endParaRPr lang="en-US" sz="2800"/>
            </a:p>
          </p:txBody>
        </p:sp>
        <p:sp>
          <p:nvSpPr>
            <p:cNvPr id="27" name="t">
              <a:extLst>
                <a:ext uri="{FF2B5EF4-FFF2-40B4-BE49-F238E27FC236}">
                  <a16:creationId xmlns:a16="http://schemas.microsoft.com/office/drawing/2014/main" id="{9EC7A606-35D4-F87F-0887-8731EF2CC8C7}"/>
                </a:ext>
              </a:extLst>
            </p:cNvPr>
            <p:cNvSpPr txBox="1"/>
            <p:nvPr/>
          </p:nvSpPr>
          <p:spPr>
            <a:xfrm>
              <a:off x="347472" y="2139696"/>
              <a:ext cx="1737360" cy="201168"/>
            </a:xfrm>
            <a:prstGeom prst="rect">
              <a:avLst/>
            </a:prstGeom>
            <a:noFill/>
            <a:ln/>
          </p:spPr>
          <p:txBody>
            <a:bodyPr wrap="square" rtlCol="0"/>
            <a:lstStyle/>
            <a:p>
              <a:pPr algn="l"/>
              <a:r>
                <a:rPr lang="en-US" sz="1050" b="1" dirty="0">
                  <a:solidFill>
                    <a:srgbClr val="FFFFFF"/>
                  </a:solidFill>
                </a:rPr>
                <a:t>Mid-term  (12-24 months)</a:t>
              </a:r>
            </a:p>
          </p:txBody>
        </p:sp>
        <p:sp>
          <p:nvSpPr>
            <p:cNvPr id="28" name="t">
              <a:extLst>
                <a:ext uri="{FF2B5EF4-FFF2-40B4-BE49-F238E27FC236}">
                  <a16:creationId xmlns:a16="http://schemas.microsoft.com/office/drawing/2014/main" id="{7ECD7C59-891A-B2DF-F58B-03DD1AFABC42}"/>
                </a:ext>
              </a:extLst>
            </p:cNvPr>
            <p:cNvSpPr txBox="1"/>
            <p:nvPr/>
          </p:nvSpPr>
          <p:spPr>
            <a:xfrm>
              <a:off x="2011680" y="2139696"/>
              <a:ext cx="6766560" cy="201168"/>
            </a:xfrm>
            <a:prstGeom prst="rect">
              <a:avLst/>
            </a:prstGeom>
            <a:noFill/>
            <a:ln/>
          </p:spPr>
          <p:txBody>
            <a:bodyPr wrap="square" rtlCol="0"/>
            <a:lstStyle/>
            <a:p>
              <a:pPr algn="l"/>
              <a:r>
                <a:rPr lang="en-US" sz="1050" b="0" dirty="0">
                  <a:solidFill>
                    <a:srgbClr val="FFFFFF"/>
                  </a:solidFill>
                </a:rPr>
                <a:t>Governance intelligence — policy dashboards, gateway integration and self-updating rule engine</a:t>
              </a:r>
            </a:p>
          </p:txBody>
        </p:sp>
      </p:grpSp>
      <p:grpSp>
        <p:nvGrpSpPr>
          <p:cNvPr id="29" name="DIV_Long-ter">
            <a:extLst>
              <a:ext uri="{FF2B5EF4-FFF2-40B4-BE49-F238E27FC236}">
                <a16:creationId xmlns:a16="http://schemas.microsoft.com/office/drawing/2014/main" id="{CDD0A056-9F6A-912C-6EE1-CBF582AD2C77}"/>
              </a:ext>
            </a:extLst>
          </p:cNvPr>
          <p:cNvGrpSpPr/>
          <p:nvPr/>
        </p:nvGrpSpPr>
        <p:grpSpPr>
          <a:xfrm>
            <a:off x="530352" y="4874234"/>
            <a:ext cx="11090148" cy="236474"/>
            <a:chOff x="228600" y="3438144"/>
            <a:chExt cx="8686800" cy="201168"/>
          </a:xfrm>
        </p:grpSpPr>
        <p:sp>
          <p:nvSpPr>
            <p:cNvPr id="30" name="r">
              <a:extLst>
                <a:ext uri="{FF2B5EF4-FFF2-40B4-BE49-F238E27FC236}">
                  <a16:creationId xmlns:a16="http://schemas.microsoft.com/office/drawing/2014/main" id="{68561E60-B356-7799-DFCF-B4BD00B3528E}"/>
                </a:ext>
              </a:extLst>
            </p:cNvPr>
            <p:cNvSpPr/>
            <p:nvPr/>
          </p:nvSpPr>
          <p:spPr>
            <a:xfrm>
              <a:off x="228600" y="3438144"/>
              <a:ext cx="8686800" cy="201168"/>
            </a:xfrm>
            <a:prstGeom prst="rect">
              <a:avLst/>
            </a:prstGeom>
            <a:solidFill>
              <a:srgbClr val="993C1D"/>
            </a:solidFill>
            <a:ln w="0">
              <a:solidFill>
                <a:srgbClr val="993C1D"/>
              </a:solidFill>
            </a:ln>
          </p:spPr>
          <p:txBody>
            <a:bodyPr/>
            <a:lstStyle/>
            <a:p>
              <a:endParaRPr lang="en-US" sz="2800"/>
            </a:p>
          </p:txBody>
        </p:sp>
        <p:sp>
          <p:nvSpPr>
            <p:cNvPr id="31" name="t">
              <a:extLst>
                <a:ext uri="{FF2B5EF4-FFF2-40B4-BE49-F238E27FC236}">
                  <a16:creationId xmlns:a16="http://schemas.microsoft.com/office/drawing/2014/main" id="{726B8442-9CEC-761A-B459-7393E62214C0}"/>
                </a:ext>
              </a:extLst>
            </p:cNvPr>
            <p:cNvSpPr txBox="1"/>
            <p:nvPr/>
          </p:nvSpPr>
          <p:spPr>
            <a:xfrm>
              <a:off x="347472" y="3447288"/>
              <a:ext cx="1737360" cy="201168"/>
            </a:xfrm>
            <a:prstGeom prst="rect">
              <a:avLst/>
            </a:prstGeom>
            <a:noFill/>
            <a:ln/>
          </p:spPr>
          <p:txBody>
            <a:bodyPr wrap="square" rtlCol="0"/>
            <a:lstStyle/>
            <a:p>
              <a:pPr algn="l"/>
              <a:r>
                <a:rPr lang="en-US" sz="1050" b="1" dirty="0">
                  <a:solidFill>
                    <a:srgbClr val="FFFFFF"/>
                  </a:solidFill>
                </a:rPr>
                <a:t>Long-term  (24+ months)</a:t>
              </a:r>
            </a:p>
          </p:txBody>
        </p:sp>
        <p:sp>
          <p:nvSpPr>
            <p:cNvPr id="32" name="t">
              <a:extLst>
                <a:ext uri="{FF2B5EF4-FFF2-40B4-BE49-F238E27FC236}">
                  <a16:creationId xmlns:a16="http://schemas.microsoft.com/office/drawing/2014/main" id="{004F5292-C186-F21A-21B9-C2996C7CCA3A}"/>
                </a:ext>
              </a:extLst>
            </p:cNvPr>
            <p:cNvSpPr txBox="1"/>
            <p:nvPr/>
          </p:nvSpPr>
          <p:spPr>
            <a:xfrm>
              <a:off x="2011680" y="3447288"/>
              <a:ext cx="6766560" cy="201168"/>
            </a:xfrm>
            <a:prstGeom prst="rect">
              <a:avLst/>
            </a:prstGeom>
            <a:noFill/>
            <a:ln/>
          </p:spPr>
          <p:txBody>
            <a:bodyPr wrap="square" rtlCol="0"/>
            <a:lstStyle/>
            <a:p>
              <a:pPr algn="l"/>
              <a:r>
                <a:rPr lang="en-US" sz="1050" b="0" dirty="0">
                  <a:solidFill>
                    <a:srgbClr val="FFFFFF"/>
                  </a:solidFill>
                </a:rPr>
                <a:t>Scale &amp; intelligence — distributed infrastructure, GPU acceleration and advanced ML governance</a:t>
              </a:r>
            </a:p>
          </p:txBody>
        </p:sp>
      </p:grpSp>
      <p:grpSp>
        <p:nvGrpSpPr>
          <p:cNvPr id="33" name="GROUP_CI/CD_integr">
            <a:extLst>
              <a:ext uri="{FF2B5EF4-FFF2-40B4-BE49-F238E27FC236}">
                <a16:creationId xmlns:a16="http://schemas.microsoft.com/office/drawing/2014/main" id="{F6B4846C-C328-AF83-7328-F22D5B040188}"/>
              </a:ext>
            </a:extLst>
          </p:cNvPr>
          <p:cNvGrpSpPr/>
          <p:nvPr/>
        </p:nvGrpSpPr>
        <p:grpSpPr>
          <a:xfrm>
            <a:off x="506706" y="1906846"/>
            <a:ext cx="3391320" cy="1133940"/>
            <a:chOff x="228600" y="1069848"/>
            <a:chExt cx="2743200" cy="1018236"/>
          </a:xfrm>
        </p:grpSpPr>
        <p:sp>
          <p:nvSpPr>
            <p:cNvPr id="34" name="r">
              <a:extLst>
                <a:ext uri="{FF2B5EF4-FFF2-40B4-BE49-F238E27FC236}">
                  <a16:creationId xmlns:a16="http://schemas.microsoft.com/office/drawing/2014/main" id="{F0B2EEB8-434E-26A6-0541-651324675C13}"/>
                </a:ext>
              </a:extLst>
            </p:cNvPr>
            <p:cNvSpPr/>
            <p:nvPr/>
          </p:nvSpPr>
          <p:spPr>
            <a:xfrm>
              <a:off x="228600" y="1069848"/>
              <a:ext cx="2743200" cy="1005840"/>
            </a:xfrm>
            <a:prstGeom prst="rect">
              <a:avLst/>
            </a:prstGeom>
            <a:solidFill>
              <a:srgbClr val="E6F1FB"/>
            </a:solidFill>
            <a:ln w="9525">
              <a:solidFill>
                <a:srgbClr val="85B7EB"/>
              </a:solidFill>
            </a:ln>
          </p:spPr>
          <p:txBody>
            <a:bodyPr/>
            <a:lstStyle/>
            <a:p>
              <a:endParaRPr lang="en-US" sz="1050"/>
            </a:p>
          </p:txBody>
        </p:sp>
        <p:sp>
          <p:nvSpPr>
            <p:cNvPr id="35" name="r">
              <a:extLst>
                <a:ext uri="{FF2B5EF4-FFF2-40B4-BE49-F238E27FC236}">
                  <a16:creationId xmlns:a16="http://schemas.microsoft.com/office/drawing/2014/main" id="{2E4FA1B5-D4E7-D5FC-6C90-91D69321BCC8}"/>
                </a:ext>
              </a:extLst>
            </p:cNvPr>
            <p:cNvSpPr/>
            <p:nvPr/>
          </p:nvSpPr>
          <p:spPr>
            <a:xfrm>
              <a:off x="228600" y="1069848"/>
              <a:ext cx="2743200" cy="59436"/>
            </a:xfrm>
            <a:prstGeom prst="rect">
              <a:avLst/>
            </a:prstGeom>
            <a:solidFill>
              <a:srgbClr val="185FA5"/>
            </a:solidFill>
            <a:ln w="0">
              <a:solidFill>
                <a:srgbClr val="185FA5"/>
              </a:solidFill>
            </a:ln>
          </p:spPr>
          <p:txBody>
            <a:bodyPr/>
            <a:lstStyle/>
            <a:p>
              <a:endParaRPr lang="en-US" sz="1050"/>
            </a:p>
          </p:txBody>
        </p:sp>
        <p:sp>
          <p:nvSpPr>
            <p:cNvPr id="36" name="r">
              <a:extLst>
                <a:ext uri="{FF2B5EF4-FFF2-40B4-BE49-F238E27FC236}">
                  <a16:creationId xmlns:a16="http://schemas.microsoft.com/office/drawing/2014/main" id="{DC93BD3E-F567-D957-845D-6A2B06BA7BE3}"/>
                </a:ext>
              </a:extLst>
            </p:cNvPr>
            <p:cNvSpPr/>
            <p:nvPr/>
          </p:nvSpPr>
          <p:spPr>
            <a:xfrm>
              <a:off x="2002536" y="1143000"/>
              <a:ext cx="914400" cy="182880"/>
            </a:xfrm>
            <a:prstGeom prst="rect">
              <a:avLst/>
            </a:prstGeom>
            <a:solidFill>
              <a:srgbClr val="185FA5"/>
            </a:solidFill>
            <a:ln w="0">
              <a:solidFill>
                <a:srgbClr val="185FA5"/>
              </a:solidFill>
            </a:ln>
          </p:spPr>
          <p:txBody>
            <a:bodyPr/>
            <a:lstStyle/>
            <a:p>
              <a:endParaRPr lang="en-US" sz="1050"/>
            </a:p>
          </p:txBody>
        </p:sp>
        <p:sp>
          <p:nvSpPr>
            <p:cNvPr id="37" name="t">
              <a:extLst>
                <a:ext uri="{FF2B5EF4-FFF2-40B4-BE49-F238E27FC236}">
                  <a16:creationId xmlns:a16="http://schemas.microsoft.com/office/drawing/2014/main" id="{22C75B71-1FCE-BBA2-C6D4-C16BEFEF4A9F}"/>
                </a:ext>
              </a:extLst>
            </p:cNvPr>
            <p:cNvSpPr txBox="1"/>
            <p:nvPr/>
          </p:nvSpPr>
          <p:spPr>
            <a:xfrm>
              <a:off x="2002536" y="1143000"/>
              <a:ext cx="914400" cy="182880"/>
            </a:xfrm>
            <a:prstGeom prst="rect">
              <a:avLst/>
            </a:prstGeom>
            <a:noFill/>
            <a:ln/>
          </p:spPr>
          <p:txBody>
            <a:bodyPr wrap="square" rtlCol="0"/>
            <a:lstStyle/>
            <a:p>
              <a:pPr algn="ctr"/>
              <a:r>
                <a:rPr lang="en-US" sz="1050" b="1" dirty="0">
                  <a:solidFill>
                    <a:srgbClr val="FFFFFF"/>
                  </a:solidFill>
                </a:rPr>
                <a:t>Near-term</a:t>
              </a:r>
            </a:p>
          </p:txBody>
        </p:sp>
        <p:sp>
          <p:nvSpPr>
            <p:cNvPr id="38" name="t">
              <a:extLst>
                <a:ext uri="{FF2B5EF4-FFF2-40B4-BE49-F238E27FC236}">
                  <a16:creationId xmlns:a16="http://schemas.microsoft.com/office/drawing/2014/main" id="{051920AA-DB6A-E440-694D-EFA52786E903}"/>
                </a:ext>
              </a:extLst>
            </p:cNvPr>
            <p:cNvSpPr txBox="1"/>
            <p:nvPr/>
          </p:nvSpPr>
          <p:spPr>
            <a:xfrm>
              <a:off x="356616" y="1161288"/>
              <a:ext cx="1572768" cy="237744"/>
            </a:xfrm>
            <a:prstGeom prst="rect">
              <a:avLst/>
            </a:prstGeom>
            <a:noFill/>
            <a:ln/>
          </p:spPr>
          <p:txBody>
            <a:bodyPr wrap="square" rtlCol="0"/>
            <a:lstStyle/>
            <a:p>
              <a:pPr algn="l"/>
              <a:r>
                <a:rPr lang="en-US" sz="1100" b="1" dirty="0">
                  <a:solidFill>
                    <a:srgbClr val="042C53"/>
                  </a:solidFill>
                </a:rPr>
                <a:t>CI/CD integration</a:t>
              </a:r>
            </a:p>
          </p:txBody>
        </p:sp>
        <p:sp>
          <p:nvSpPr>
            <p:cNvPr id="39" name="r">
              <a:extLst>
                <a:ext uri="{FF2B5EF4-FFF2-40B4-BE49-F238E27FC236}">
                  <a16:creationId xmlns:a16="http://schemas.microsoft.com/office/drawing/2014/main" id="{BEB8E0DA-487D-C153-4A20-6E9327A6D5A2}"/>
                </a:ext>
              </a:extLst>
            </p:cNvPr>
            <p:cNvSpPr/>
            <p:nvPr/>
          </p:nvSpPr>
          <p:spPr>
            <a:xfrm>
              <a:off x="393192" y="1453896"/>
              <a:ext cx="82296" cy="82296"/>
            </a:xfrm>
            <a:prstGeom prst="rect">
              <a:avLst/>
            </a:prstGeom>
            <a:solidFill>
              <a:srgbClr val="185FA5"/>
            </a:solidFill>
            <a:ln w="0">
              <a:solidFill>
                <a:srgbClr val="185FA5"/>
              </a:solidFill>
            </a:ln>
          </p:spPr>
          <p:txBody>
            <a:bodyPr/>
            <a:lstStyle/>
            <a:p>
              <a:endParaRPr lang="en-US" sz="1050"/>
            </a:p>
          </p:txBody>
        </p:sp>
        <p:sp>
          <p:nvSpPr>
            <p:cNvPr id="40" name="t">
              <a:extLst>
                <a:ext uri="{FF2B5EF4-FFF2-40B4-BE49-F238E27FC236}">
                  <a16:creationId xmlns:a16="http://schemas.microsoft.com/office/drawing/2014/main" id="{E5A59985-4802-8BC3-4337-C26E2D3F3E6B}"/>
                </a:ext>
              </a:extLst>
            </p:cNvPr>
            <p:cNvSpPr txBox="1"/>
            <p:nvPr/>
          </p:nvSpPr>
          <p:spPr>
            <a:xfrm>
              <a:off x="530352" y="1396681"/>
              <a:ext cx="2340864" cy="219456"/>
            </a:xfrm>
            <a:prstGeom prst="rect">
              <a:avLst/>
            </a:prstGeom>
            <a:noFill/>
            <a:ln/>
          </p:spPr>
          <p:txBody>
            <a:bodyPr wrap="square" rtlCol="0"/>
            <a:lstStyle/>
            <a:p>
              <a:pPr algn="l"/>
              <a:r>
                <a:rPr lang="en-US" sz="950" b="0" dirty="0">
                  <a:solidFill>
                    <a:srgbClr val="0C447C"/>
                  </a:solidFill>
                </a:rPr>
                <a:t>Automated PR creation with inline spec fix suggestions</a:t>
              </a:r>
            </a:p>
          </p:txBody>
        </p:sp>
        <p:sp>
          <p:nvSpPr>
            <p:cNvPr id="41" name="r">
              <a:extLst>
                <a:ext uri="{FF2B5EF4-FFF2-40B4-BE49-F238E27FC236}">
                  <a16:creationId xmlns:a16="http://schemas.microsoft.com/office/drawing/2014/main" id="{82307E76-EDB0-5E95-F90A-C70BDC253AFA}"/>
                </a:ext>
              </a:extLst>
            </p:cNvPr>
            <p:cNvSpPr/>
            <p:nvPr/>
          </p:nvSpPr>
          <p:spPr>
            <a:xfrm>
              <a:off x="393192" y="1691640"/>
              <a:ext cx="82296" cy="82296"/>
            </a:xfrm>
            <a:prstGeom prst="rect">
              <a:avLst/>
            </a:prstGeom>
            <a:solidFill>
              <a:srgbClr val="185FA5"/>
            </a:solidFill>
            <a:ln w="0">
              <a:solidFill>
                <a:srgbClr val="185FA5"/>
              </a:solidFill>
            </a:ln>
          </p:spPr>
          <p:txBody>
            <a:bodyPr/>
            <a:lstStyle/>
            <a:p>
              <a:endParaRPr lang="en-US" sz="1050"/>
            </a:p>
          </p:txBody>
        </p:sp>
        <p:sp>
          <p:nvSpPr>
            <p:cNvPr id="42" name="t">
              <a:extLst>
                <a:ext uri="{FF2B5EF4-FFF2-40B4-BE49-F238E27FC236}">
                  <a16:creationId xmlns:a16="http://schemas.microsoft.com/office/drawing/2014/main" id="{98425425-F6B4-6D36-9CFA-71F9ED62E1EF}"/>
                </a:ext>
              </a:extLst>
            </p:cNvPr>
            <p:cNvSpPr txBox="1"/>
            <p:nvPr/>
          </p:nvSpPr>
          <p:spPr>
            <a:xfrm>
              <a:off x="530352" y="1637964"/>
              <a:ext cx="2340864" cy="219456"/>
            </a:xfrm>
            <a:prstGeom prst="rect">
              <a:avLst/>
            </a:prstGeom>
            <a:noFill/>
            <a:ln/>
          </p:spPr>
          <p:txBody>
            <a:bodyPr wrap="square" rtlCol="0"/>
            <a:lstStyle/>
            <a:p>
              <a:pPr algn="l"/>
              <a:r>
                <a:rPr lang="en-US" sz="1050" b="0" dirty="0">
                  <a:solidFill>
                    <a:srgbClr val="0C447C"/>
                  </a:solidFill>
                </a:rPr>
                <a:t>GitHub Actions / GitLab CI pipeline plugin</a:t>
              </a:r>
            </a:p>
          </p:txBody>
        </p:sp>
        <p:sp>
          <p:nvSpPr>
            <p:cNvPr id="43" name="r">
              <a:extLst>
                <a:ext uri="{FF2B5EF4-FFF2-40B4-BE49-F238E27FC236}">
                  <a16:creationId xmlns:a16="http://schemas.microsoft.com/office/drawing/2014/main" id="{D1BF5383-B977-7BB4-62D9-87957988BF7E}"/>
                </a:ext>
              </a:extLst>
            </p:cNvPr>
            <p:cNvSpPr/>
            <p:nvPr/>
          </p:nvSpPr>
          <p:spPr>
            <a:xfrm>
              <a:off x="393192" y="1929384"/>
              <a:ext cx="82296" cy="82296"/>
            </a:xfrm>
            <a:prstGeom prst="rect">
              <a:avLst/>
            </a:prstGeom>
            <a:solidFill>
              <a:srgbClr val="185FA5"/>
            </a:solidFill>
            <a:ln w="0">
              <a:solidFill>
                <a:srgbClr val="185FA5"/>
              </a:solidFill>
            </a:ln>
          </p:spPr>
          <p:txBody>
            <a:bodyPr/>
            <a:lstStyle/>
            <a:p>
              <a:endParaRPr lang="en-US" sz="1050"/>
            </a:p>
          </p:txBody>
        </p:sp>
        <p:sp>
          <p:nvSpPr>
            <p:cNvPr id="44" name="t">
              <a:extLst>
                <a:ext uri="{FF2B5EF4-FFF2-40B4-BE49-F238E27FC236}">
                  <a16:creationId xmlns:a16="http://schemas.microsoft.com/office/drawing/2014/main" id="{2166565F-8455-A244-24EE-ABD2368521F2}"/>
                </a:ext>
              </a:extLst>
            </p:cNvPr>
            <p:cNvSpPr txBox="1"/>
            <p:nvPr/>
          </p:nvSpPr>
          <p:spPr>
            <a:xfrm>
              <a:off x="530351" y="1868628"/>
              <a:ext cx="2386584" cy="219456"/>
            </a:xfrm>
            <a:prstGeom prst="rect">
              <a:avLst/>
            </a:prstGeom>
            <a:noFill/>
            <a:ln/>
          </p:spPr>
          <p:txBody>
            <a:bodyPr wrap="square" rtlCol="0"/>
            <a:lstStyle/>
            <a:p>
              <a:pPr algn="l"/>
              <a:r>
                <a:rPr lang="en-US" sz="950" b="0" dirty="0">
                  <a:solidFill>
                    <a:srgbClr val="0C447C"/>
                  </a:solidFill>
                </a:rPr>
                <a:t>Quality gate: block merges below health score threshold</a:t>
              </a:r>
            </a:p>
          </p:txBody>
        </p:sp>
      </p:grpSp>
      <p:grpSp>
        <p:nvGrpSpPr>
          <p:cNvPr id="45" name="GROUP_Streaming_an">
            <a:extLst>
              <a:ext uri="{FF2B5EF4-FFF2-40B4-BE49-F238E27FC236}">
                <a16:creationId xmlns:a16="http://schemas.microsoft.com/office/drawing/2014/main" id="{D3B68F11-D68D-46D8-5DD2-A703D8C085BC}"/>
              </a:ext>
            </a:extLst>
          </p:cNvPr>
          <p:cNvGrpSpPr/>
          <p:nvPr/>
        </p:nvGrpSpPr>
        <p:grpSpPr>
          <a:xfrm>
            <a:off x="4105169" y="1906846"/>
            <a:ext cx="3639627" cy="1120134"/>
            <a:chOff x="3200398" y="1069848"/>
            <a:chExt cx="2743202" cy="1060704"/>
          </a:xfrm>
        </p:grpSpPr>
        <p:sp>
          <p:nvSpPr>
            <p:cNvPr id="46" name="r">
              <a:extLst>
                <a:ext uri="{FF2B5EF4-FFF2-40B4-BE49-F238E27FC236}">
                  <a16:creationId xmlns:a16="http://schemas.microsoft.com/office/drawing/2014/main" id="{8D2FB22A-EC00-D0B3-A33A-5EA90AE2DDAB}"/>
                </a:ext>
              </a:extLst>
            </p:cNvPr>
            <p:cNvSpPr/>
            <p:nvPr/>
          </p:nvSpPr>
          <p:spPr>
            <a:xfrm>
              <a:off x="3200398" y="1069848"/>
              <a:ext cx="2743200" cy="1060704"/>
            </a:xfrm>
            <a:prstGeom prst="rect">
              <a:avLst/>
            </a:prstGeom>
            <a:solidFill>
              <a:srgbClr val="E6F1FB"/>
            </a:solidFill>
            <a:ln w="9525">
              <a:solidFill>
                <a:srgbClr val="85B7EB"/>
              </a:solidFill>
            </a:ln>
          </p:spPr>
          <p:txBody>
            <a:bodyPr/>
            <a:lstStyle/>
            <a:p>
              <a:endParaRPr lang="en-US" sz="1050"/>
            </a:p>
          </p:txBody>
        </p:sp>
        <p:sp>
          <p:nvSpPr>
            <p:cNvPr id="47" name="r">
              <a:extLst>
                <a:ext uri="{FF2B5EF4-FFF2-40B4-BE49-F238E27FC236}">
                  <a16:creationId xmlns:a16="http://schemas.microsoft.com/office/drawing/2014/main" id="{CB80ADFA-E416-D884-FE50-41F66E555471}"/>
                </a:ext>
              </a:extLst>
            </p:cNvPr>
            <p:cNvSpPr/>
            <p:nvPr/>
          </p:nvSpPr>
          <p:spPr>
            <a:xfrm>
              <a:off x="3200400" y="1069848"/>
              <a:ext cx="2743200" cy="59436"/>
            </a:xfrm>
            <a:prstGeom prst="rect">
              <a:avLst/>
            </a:prstGeom>
            <a:solidFill>
              <a:srgbClr val="185FA5"/>
            </a:solidFill>
            <a:ln w="0">
              <a:solidFill>
                <a:srgbClr val="185FA5"/>
              </a:solidFill>
            </a:ln>
          </p:spPr>
          <p:txBody>
            <a:bodyPr/>
            <a:lstStyle/>
            <a:p>
              <a:endParaRPr lang="en-US" sz="1050"/>
            </a:p>
          </p:txBody>
        </p:sp>
        <p:sp>
          <p:nvSpPr>
            <p:cNvPr id="48" name="r">
              <a:extLst>
                <a:ext uri="{FF2B5EF4-FFF2-40B4-BE49-F238E27FC236}">
                  <a16:creationId xmlns:a16="http://schemas.microsoft.com/office/drawing/2014/main" id="{1591DCCC-6392-45F9-43D9-F76A38B53213}"/>
                </a:ext>
              </a:extLst>
            </p:cNvPr>
            <p:cNvSpPr/>
            <p:nvPr/>
          </p:nvSpPr>
          <p:spPr>
            <a:xfrm>
              <a:off x="4974336" y="1143000"/>
              <a:ext cx="914400" cy="182880"/>
            </a:xfrm>
            <a:prstGeom prst="rect">
              <a:avLst/>
            </a:prstGeom>
            <a:solidFill>
              <a:srgbClr val="185FA5"/>
            </a:solidFill>
            <a:ln w="0">
              <a:solidFill>
                <a:srgbClr val="185FA5"/>
              </a:solidFill>
            </a:ln>
          </p:spPr>
          <p:txBody>
            <a:bodyPr/>
            <a:lstStyle/>
            <a:p>
              <a:endParaRPr lang="en-US" sz="1050"/>
            </a:p>
          </p:txBody>
        </p:sp>
        <p:sp>
          <p:nvSpPr>
            <p:cNvPr id="50" name="t">
              <a:extLst>
                <a:ext uri="{FF2B5EF4-FFF2-40B4-BE49-F238E27FC236}">
                  <a16:creationId xmlns:a16="http://schemas.microsoft.com/office/drawing/2014/main" id="{E1C40E5A-93FA-FFB6-6915-0E205A8A94F1}"/>
                </a:ext>
              </a:extLst>
            </p:cNvPr>
            <p:cNvSpPr txBox="1"/>
            <p:nvPr/>
          </p:nvSpPr>
          <p:spPr>
            <a:xfrm>
              <a:off x="4974336" y="1143000"/>
              <a:ext cx="914400" cy="182880"/>
            </a:xfrm>
            <a:prstGeom prst="rect">
              <a:avLst/>
            </a:prstGeom>
            <a:noFill/>
            <a:ln/>
          </p:spPr>
          <p:txBody>
            <a:bodyPr wrap="square" rtlCol="0"/>
            <a:lstStyle/>
            <a:p>
              <a:pPr algn="ctr"/>
              <a:r>
                <a:rPr lang="en-US" sz="1050" b="1" dirty="0">
                  <a:solidFill>
                    <a:srgbClr val="FFFFFF"/>
                  </a:solidFill>
                </a:rPr>
                <a:t>Near-term</a:t>
              </a:r>
            </a:p>
          </p:txBody>
        </p:sp>
        <p:sp>
          <p:nvSpPr>
            <p:cNvPr id="51" name="t">
              <a:extLst>
                <a:ext uri="{FF2B5EF4-FFF2-40B4-BE49-F238E27FC236}">
                  <a16:creationId xmlns:a16="http://schemas.microsoft.com/office/drawing/2014/main" id="{3B61212C-2EB2-77E0-9BB2-0D9C798CDB84}"/>
                </a:ext>
              </a:extLst>
            </p:cNvPr>
            <p:cNvSpPr txBox="1"/>
            <p:nvPr/>
          </p:nvSpPr>
          <p:spPr>
            <a:xfrm>
              <a:off x="3328416" y="1161288"/>
              <a:ext cx="1572768" cy="237744"/>
            </a:xfrm>
            <a:prstGeom prst="rect">
              <a:avLst/>
            </a:prstGeom>
            <a:noFill/>
            <a:ln/>
          </p:spPr>
          <p:txBody>
            <a:bodyPr wrap="square" rtlCol="0"/>
            <a:lstStyle/>
            <a:p>
              <a:pPr algn="l"/>
              <a:r>
                <a:rPr lang="en-US" sz="1100" b="1" dirty="0">
                  <a:solidFill>
                    <a:srgbClr val="042C53"/>
                  </a:solidFill>
                </a:rPr>
                <a:t>Streaming analysis</a:t>
              </a:r>
            </a:p>
          </p:txBody>
        </p:sp>
        <p:sp>
          <p:nvSpPr>
            <p:cNvPr id="52" name="r">
              <a:extLst>
                <a:ext uri="{FF2B5EF4-FFF2-40B4-BE49-F238E27FC236}">
                  <a16:creationId xmlns:a16="http://schemas.microsoft.com/office/drawing/2014/main" id="{CD7B6EF6-4262-6437-BBFE-89D138A2DA87}"/>
                </a:ext>
              </a:extLst>
            </p:cNvPr>
            <p:cNvSpPr/>
            <p:nvPr/>
          </p:nvSpPr>
          <p:spPr>
            <a:xfrm>
              <a:off x="3364992" y="1453896"/>
              <a:ext cx="82296" cy="82296"/>
            </a:xfrm>
            <a:prstGeom prst="rect">
              <a:avLst/>
            </a:prstGeom>
            <a:solidFill>
              <a:srgbClr val="185FA5"/>
            </a:solidFill>
            <a:ln w="0">
              <a:solidFill>
                <a:srgbClr val="185FA5"/>
              </a:solidFill>
            </a:ln>
          </p:spPr>
          <p:txBody>
            <a:bodyPr/>
            <a:lstStyle/>
            <a:p>
              <a:endParaRPr lang="en-US" sz="1050"/>
            </a:p>
          </p:txBody>
        </p:sp>
        <p:sp>
          <p:nvSpPr>
            <p:cNvPr id="53" name="t">
              <a:extLst>
                <a:ext uri="{FF2B5EF4-FFF2-40B4-BE49-F238E27FC236}">
                  <a16:creationId xmlns:a16="http://schemas.microsoft.com/office/drawing/2014/main" id="{939B3D5F-2141-6D6F-0E92-852CE7A6F6D6}"/>
                </a:ext>
              </a:extLst>
            </p:cNvPr>
            <p:cNvSpPr txBox="1"/>
            <p:nvPr/>
          </p:nvSpPr>
          <p:spPr>
            <a:xfrm>
              <a:off x="3502152" y="1398289"/>
              <a:ext cx="2340864" cy="219456"/>
            </a:xfrm>
            <a:prstGeom prst="rect">
              <a:avLst/>
            </a:prstGeom>
            <a:noFill/>
            <a:ln/>
          </p:spPr>
          <p:txBody>
            <a:bodyPr wrap="square" rtlCol="0"/>
            <a:lstStyle/>
            <a:p>
              <a:pPr algn="l"/>
              <a:r>
                <a:rPr lang="en-US" sz="1050" b="0" dirty="0">
                  <a:solidFill>
                    <a:srgbClr val="0C447C"/>
                  </a:solidFill>
                </a:rPr>
                <a:t>Real-time feedback as spec is authored — line-by-line</a:t>
              </a:r>
            </a:p>
          </p:txBody>
        </p:sp>
        <p:sp>
          <p:nvSpPr>
            <p:cNvPr id="54" name="r">
              <a:extLst>
                <a:ext uri="{FF2B5EF4-FFF2-40B4-BE49-F238E27FC236}">
                  <a16:creationId xmlns:a16="http://schemas.microsoft.com/office/drawing/2014/main" id="{CA914C68-D816-C746-552B-A20746DC9F42}"/>
                </a:ext>
              </a:extLst>
            </p:cNvPr>
            <p:cNvSpPr/>
            <p:nvPr/>
          </p:nvSpPr>
          <p:spPr>
            <a:xfrm>
              <a:off x="3364992" y="1691640"/>
              <a:ext cx="82296" cy="82296"/>
            </a:xfrm>
            <a:prstGeom prst="rect">
              <a:avLst/>
            </a:prstGeom>
            <a:solidFill>
              <a:srgbClr val="185FA5"/>
            </a:solidFill>
            <a:ln w="0">
              <a:solidFill>
                <a:srgbClr val="185FA5"/>
              </a:solidFill>
            </a:ln>
          </p:spPr>
          <p:txBody>
            <a:bodyPr/>
            <a:lstStyle/>
            <a:p>
              <a:endParaRPr lang="en-US" sz="1050"/>
            </a:p>
          </p:txBody>
        </p:sp>
        <p:sp>
          <p:nvSpPr>
            <p:cNvPr id="55" name="t">
              <a:extLst>
                <a:ext uri="{FF2B5EF4-FFF2-40B4-BE49-F238E27FC236}">
                  <a16:creationId xmlns:a16="http://schemas.microsoft.com/office/drawing/2014/main" id="{16768734-8917-C9FF-0742-DD1493CF9B6A}"/>
                </a:ext>
              </a:extLst>
            </p:cNvPr>
            <p:cNvSpPr txBox="1"/>
            <p:nvPr/>
          </p:nvSpPr>
          <p:spPr>
            <a:xfrm>
              <a:off x="3502152" y="1632301"/>
              <a:ext cx="2340864" cy="219456"/>
            </a:xfrm>
            <a:prstGeom prst="rect">
              <a:avLst/>
            </a:prstGeom>
            <a:noFill/>
            <a:ln/>
          </p:spPr>
          <p:txBody>
            <a:bodyPr wrap="square" rtlCol="0"/>
            <a:lstStyle/>
            <a:p>
              <a:pPr algn="l"/>
              <a:r>
                <a:rPr lang="en-US" sz="1050" b="0" dirty="0">
                  <a:solidFill>
                    <a:srgbClr val="0C447C"/>
                  </a:solidFill>
                </a:rPr>
                <a:t>IDE plugin (VS Code) with inline health indicators</a:t>
              </a:r>
            </a:p>
          </p:txBody>
        </p:sp>
        <p:sp>
          <p:nvSpPr>
            <p:cNvPr id="56" name="r">
              <a:extLst>
                <a:ext uri="{FF2B5EF4-FFF2-40B4-BE49-F238E27FC236}">
                  <a16:creationId xmlns:a16="http://schemas.microsoft.com/office/drawing/2014/main" id="{4F41A040-B6F8-B3BA-5976-48F526633240}"/>
                </a:ext>
              </a:extLst>
            </p:cNvPr>
            <p:cNvSpPr/>
            <p:nvPr/>
          </p:nvSpPr>
          <p:spPr>
            <a:xfrm>
              <a:off x="3364992" y="1929384"/>
              <a:ext cx="82296" cy="82296"/>
            </a:xfrm>
            <a:prstGeom prst="rect">
              <a:avLst/>
            </a:prstGeom>
            <a:solidFill>
              <a:srgbClr val="185FA5"/>
            </a:solidFill>
            <a:ln w="0">
              <a:solidFill>
                <a:srgbClr val="185FA5"/>
              </a:solidFill>
            </a:ln>
          </p:spPr>
          <p:txBody>
            <a:bodyPr/>
            <a:lstStyle/>
            <a:p>
              <a:endParaRPr lang="en-US" sz="1050"/>
            </a:p>
          </p:txBody>
        </p:sp>
        <p:sp>
          <p:nvSpPr>
            <p:cNvPr id="57" name="t">
              <a:extLst>
                <a:ext uri="{FF2B5EF4-FFF2-40B4-BE49-F238E27FC236}">
                  <a16:creationId xmlns:a16="http://schemas.microsoft.com/office/drawing/2014/main" id="{497CDDEB-DDC9-829C-85CE-21F21EAD9DBF}"/>
                </a:ext>
              </a:extLst>
            </p:cNvPr>
            <p:cNvSpPr txBox="1"/>
            <p:nvPr/>
          </p:nvSpPr>
          <p:spPr>
            <a:xfrm>
              <a:off x="3502152" y="1873777"/>
              <a:ext cx="2340864" cy="219456"/>
            </a:xfrm>
            <a:prstGeom prst="rect">
              <a:avLst/>
            </a:prstGeom>
            <a:noFill/>
            <a:ln/>
          </p:spPr>
          <p:txBody>
            <a:bodyPr wrap="square" rtlCol="0"/>
            <a:lstStyle/>
            <a:p>
              <a:pPr algn="l"/>
              <a:r>
                <a:rPr lang="en-US" sz="1050" b="0" dirty="0">
                  <a:solidFill>
                    <a:srgbClr val="0C447C"/>
                  </a:solidFill>
                </a:rPr>
                <a:t>Incremental re-analysis of only changed spec sections</a:t>
              </a:r>
            </a:p>
          </p:txBody>
        </p:sp>
      </p:grpSp>
      <p:grpSp>
        <p:nvGrpSpPr>
          <p:cNvPr id="58" name="GROUP_Agentic_API_">
            <a:extLst>
              <a:ext uri="{FF2B5EF4-FFF2-40B4-BE49-F238E27FC236}">
                <a16:creationId xmlns:a16="http://schemas.microsoft.com/office/drawing/2014/main" id="{C8A8AE34-706C-07DA-3097-256D60FDB052}"/>
              </a:ext>
            </a:extLst>
          </p:cNvPr>
          <p:cNvGrpSpPr/>
          <p:nvPr/>
        </p:nvGrpSpPr>
        <p:grpSpPr>
          <a:xfrm>
            <a:off x="7955909" y="1906845"/>
            <a:ext cx="3664591" cy="1120135"/>
            <a:chOff x="6172200" y="1069848"/>
            <a:chExt cx="2743200" cy="1005840"/>
          </a:xfrm>
        </p:grpSpPr>
        <p:sp>
          <p:nvSpPr>
            <p:cNvPr id="59" name="r">
              <a:extLst>
                <a:ext uri="{FF2B5EF4-FFF2-40B4-BE49-F238E27FC236}">
                  <a16:creationId xmlns:a16="http://schemas.microsoft.com/office/drawing/2014/main" id="{28B2658A-9FD7-BCDD-1163-87F074FEA105}"/>
                </a:ext>
              </a:extLst>
            </p:cNvPr>
            <p:cNvSpPr/>
            <p:nvPr/>
          </p:nvSpPr>
          <p:spPr>
            <a:xfrm>
              <a:off x="6172200" y="1069848"/>
              <a:ext cx="2743200" cy="1005840"/>
            </a:xfrm>
            <a:prstGeom prst="rect">
              <a:avLst/>
            </a:prstGeom>
            <a:solidFill>
              <a:srgbClr val="E6F1FB"/>
            </a:solidFill>
            <a:ln w="9525">
              <a:solidFill>
                <a:srgbClr val="85B7EB"/>
              </a:solidFill>
            </a:ln>
          </p:spPr>
          <p:txBody>
            <a:bodyPr/>
            <a:lstStyle/>
            <a:p>
              <a:endParaRPr lang="en-US" sz="1050"/>
            </a:p>
          </p:txBody>
        </p:sp>
        <p:sp>
          <p:nvSpPr>
            <p:cNvPr id="60" name="r">
              <a:extLst>
                <a:ext uri="{FF2B5EF4-FFF2-40B4-BE49-F238E27FC236}">
                  <a16:creationId xmlns:a16="http://schemas.microsoft.com/office/drawing/2014/main" id="{A68650C7-6F3F-AFD0-3609-98E6726B139F}"/>
                </a:ext>
              </a:extLst>
            </p:cNvPr>
            <p:cNvSpPr/>
            <p:nvPr/>
          </p:nvSpPr>
          <p:spPr>
            <a:xfrm>
              <a:off x="6172200" y="1069848"/>
              <a:ext cx="2743200" cy="59436"/>
            </a:xfrm>
            <a:prstGeom prst="rect">
              <a:avLst/>
            </a:prstGeom>
            <a:solidFill>
              <a:srgbClr val="185FA5"/>
            </a:solidFill>
            <a:ln w="0">
              <a:solidFill>
                <a:srgbClr val="185FA5"/>
              </a:solidFill>
            </a:ln>
          </p:spPr>
          <p:txBody>
            <a:bodyPr/>
            <a:lstStyle/>
            <a:p>
              <a:endParaRPr lang="en-US" sz="1050"/>
            </a:p>
          </p:txBody>
        </p:sp>
        <p:sp>
          <p:nvSpPr>
            <p:cNvPr id="61" name="r">
              <a:extLst>
                <a:ext uri="{FF2B5EF4-FFF2-40B4-BE49-F238E27FC236}">
                  <a16:creationId xmlns:a16="http://schemas.microsoft.com/office/drawing/2014/main" id="{9C05287B-00A5-A80F-0BA7-A7B5262FA55A}"/>
                </a:ext>
              </a:extLst>
            </p:cNvPr>
            <p:cNvSpPr/>
            <p:nvPr/>
          </p:nvSpPr>
          <p:spPr>
            <a:xfrm>
              <a:off x="7946136" y="1143000"/>
              <a:ext cx="914400" cy="182880"/>
            </a:xfrm>
            <a:prstGeom prst="rect">
              <a:avLst/>
            </a:prstGeom>
            <a:solidFill>
              <a:srgbClr val="185FA5"/>
            </a:solidFill>
            <a:ln w="0">
              <a:solidFill>
                <a:srgbClr val="185FA5"/>
              </a:solidFill>
            </a:ln>
          </p:spPr>
          <p:txBody>
            <a:bodyPr/>
            <a:lstStyle/>
            <a:p>
              <a:endParaRPr lang="en-US" sz="1050"/>
            </a:p>
          </p:txBody>
        </p:sp>
        <p:sp>
          <p:nvSpPr>
            <p:cNvPr id="62" name="t">
              <a:extLst>
                <a:ext uri="{FF2B5EF4-FFF2-40B4-BE49-F238E27FC236}">
                  <a16:creationId xmlns:a16="http://schemas.microsoft.com/office/drawing/2014/main" id="{681978A3-F03B-CBD7-CB1A-86FBC756BB41}"/>
                </a:ext>
              </a:extLst>
            </p:cNvPr>
            <p:cNvSpPr txBox="1"/>
            <p:nvPr/>
          </p:nvSpPr>
          <p:spPr>
            <a:xfrm>
              <a:off x="7946136" y="1143000"/>
              <a:ext cx="914400" cy="182880"/>
            </a:xfrm>
            <a:prstGeom prst="rect">
              <a:avLst/>
            </a:prstGeom>
            <a:noFill/>
            <a:ln/>
          </p:spPr>
          <p:txBody>
            <a:bodyPr wrap="square" rtlCol="0"/>
            <a:lstStyle/>
            <a:p>
              <a:pPr algn="ctr"/>
              <a:r>
                <a:rPr lang="en-US" sz="1050" b="1" dirty="0">
                  <a:solidFill>
                    <a:srgbClr val="FFFFFF"/>
                  </a:solidFill>
                </a:rPr>
                <a:t>Near-term</a:t>
              </a:r>
            </a:p>
          </p:txBody>
        </p:sp>
        <p:sp>
          <p:nvSpPr>
            <p:cNvPr id="63" name="t">
              <a:extLst>
                <a:ext uri="{FF2B5EF4-FFF2-40B4-BE49-F238E27FC236}">
                  <a16:creationId xmlns:a16="http://schemas.microsoft.com/office/drawing/2014/main" id="{AC2C232E-E78A-6236-C62E-06DD05037E49}"/>
                </a:ext>
              </a:extLst>
            </p:cNvPr>
            <p:cNvSpPr txBox="1"/>
            <p:nvPr/>
          </p:nvSpPr>
          <p:spPr>
            <a:xfrm>
              <a:off x="6300216" y="1161288"/>
              <a:ext cx="1572768" cy="237744"/>
            </a:xfrm>
            <a:prstGeom prst="rect">
              <a:avLst/>
            </a:prstGeom>
            <a:noFill/>
            <a:ln/>
          </p:spPr>
          <p:txBody>
            <a:bodyPr wrap="square" rtlCol="0"/>
            <a:lstStyle/>
            <a:p>
              <a:pPr algn="l"/>
              <a:r>
                <a:rPr lang="en-US" sz="1100" b="1" dirty="0">
                  <a:solidFill>
                    <a:srgbClr val="042C53"/>
                  </a:solidFill>
                </a:rPr>
                <a:t>Agentic API monitoring</a:t>
              </a:r>
            </a:p>
          </p:txBody>
        </p:sp>
        <p:sp>
          <p:nvSpPr>
            <p:cNvPr id="64" name="r">
              <a:extLst>
                <a:ext uri="{FF2B5EF4-FFF2-40B4-BE49-F238E27FC236}">
                  <a16:creationId xmlns:a16="http://schemas.microsoft.com/office/drawing/2014/main" id="{011093F1-4FA2-36D6-1703-C22F8D28A508}"/>
                </a:ext>
              </a:extLst>
            </p:cNvPr>
            <p:cNvSpPr/>
            <p:nvPr/>
          </p:nvSpPr>
          <p:spPr>
            <a:xfrm>
              <a:off x="6336792" y="1422045"/>
              <a:ext cx="82296" cy="82296"/>
            </a:xfrm>
            <a:prstGeom prst="rect">
              <a:avLst/>
            </a:prstGeom>
            <a:solidFill>
              <a:srgbClr val="185FA5"/>
            </a:solidFill>
            <a:ln w="0">
              <a:solidFill>
                <a:srgbClr val="185FA5"/>
              </a:solidFill>
            </a:ln>
          </p:spPr>
          <p:txBody>
            <a:bodyPr/>
            <a:lstStyle/>
            <a:p>
              <a:endParaRPr lang="en-US" sz="1050"/>
            </a:p>
          </p:txBody>
        </p:sp>
        <p:sp>
          <p:nvSpPr>
            <p:cNvPr id="65" name="t">
              <a:extLst>
                <a:ext uri="{FF2B5EF4-FFF2-40B4-BE49-F238E27FC236}">
                  <a16:creationId xmlns:a16="http://schemas.microsoft.com/office/drawing/2014/main" id="{E28BAD9F-7C53-F4AF-991D-C23E4822B64E}"/>
                </a:ext>
              </a:extLst>
            </p:cNvPr>
            <p:cNvSpPr txBox="1"/>
            <p:nvPr/>
          </p:nvSpPr>
          <p:spPr>
            <a:xfrm>
              <a:off x="6473952" y="1329441"/>
              <a:ext cx="2340864" cy="219456"/>
            </a:xfrm>
            <a:prstGeom prst="rect">
              <a:avLst/>
            </a:prstGeom>
            <a:noFill/>
            <a:ln/>
          </p:spPr>
          <p:txBody>
            <a:bodyPr wrap="square" rtlCol="0"/>
            <a:lstStyle/>
            <a:p>
              <a:pPr algn="l"/>
              <a:r>
                <a:rPr lang="en-US" sz="1050" b="0" dirty="0">
                  <a:solidFill>
                    <a:srgbClr val="0C447C"/>
                  </a:solidFill>
                </a:rPr>
                <a:t>Autonomous agent scans live APIs on a configurable schedule</a:t>
              </a:r>
            </a:p>
          </p:txBody>
        </p:sp>
        <p:sp>
          <p:nvSpPr>
            <p:cNvPr id="66" name="r">
              <a:extLst>
                <a:ext uri="{FF2B5EF4-FFF2-40B4-BE49-F238E27FC236}">
                  <a16:creationId xmlns:a16="http://schemas.microsoft.com/office/drawing/2014/main" id="{675AB253-CFC1-66DD-516A-97755BB5B8EB}"/>
                </a:ext>
              </a:extLst>
            </p:cNvPr>
            <p:cNvSpPr/>
            <p:nvPr/>
          </p:nvSpPr>
          <p:spPr>
            <a:xfrm>
              <a:off x="6336792" y="1670407"/>
              <a:ext cx="82296" cy="82296"/>
            </a:xfrm>
            <a:prstGeom prst="rect">
              <a:avLst/>
            </a:prstGeom>
            <a:solidFill>
              <a:srgbClr val="185FA5"/>
            </a:solidFill>
            <a:ln w="0">
              <a:solidFill>
                <a:srgbClr val="185FA5"/>
              </a:solidFill>
            </a:ln>
          </p:spPr>
          <p:txBody>
            <a:bodyPr/>
            <a:lstStyle/>
            <a:p>
              <a:endParaRPr lang="en-US" sz="1050"/>
            </a:p>
          </p:txBody>
        </p:sp>
        <p:sp>
          <p:nvSpPr>
            <p:cNvPr id="67" name="t">
              <a:extLst>
                <a:ext uri="{FF2B5EF4-FFF2-40B4-BE49-F238E27FC236}">
                  <a16:creationId xmlns:a16="http://schemas.microsoft.com/office/drawing/2014/main" id="{BCDDDAB1-63B3-4DF9-51E3-46495E9D55EE}"/>
                </a:ext>
              </a:extLst>
            </p:cNvPr>
            <p:cNvSpPr txBox="1"/>
            <p:nvPr/>
          </p:nvSpPr>
          <p:spPr>
            <a:xfrm>
              <a:off x="6473952" y="1609654"/>
              <a:ext cx="2441448" cy="219456"/>
            </a:xfrm>
            <a:prstGeom prst="rect">
              <a:avLst/>
            </a:prstGeom>
            <a:noFill/>
            <a:ln/>
          </p:spPr>
          <p:txBody>
            <a:bodyPr wrap="square" rtlCol="0"/>
            <a:lstStyle/>
            <a:p>
              <a:pPr algn="l"/>
              <a:r>
                <a:rPr lang="en-US" sz="950" b="0" dirty="0">
                  <a:solidFill>
                    <a:srgbClr val="0C447C"/>
                  </a:solidFill>
                </a:rPr>
                <a:t>Detects drift vs. OpenAPI spec — flags new violations</a:t>
              </a:r>
            </a:p>
          </p:txBody>
        </p:sp>
        <p:sp>
          <p:nvSpPr>
            <p:cNvPr id="68" name="r">
              <a:extLst>
                <a:ext uri="{FF2B5EF4-FFF2-40B4-BE49-F238E27FC236}">
                  <a16:creationId xmlns:a16="http://schemas.microsoft.com/office/drawing/2014/main" id="{EC8B94F5-6872-527A-0AA9-5A8265FAFA36}"/>
                </a:ext>
              </a:extLst>
            </p:cNvPr>
            <p:cNvSpPr/>
            <p:nvPr/>
          </p:nvSpPr>
          <p:spPr>
            <a:xfrm>
              <a:off x="6336792" y="1901075"/>
              <a:ext cx="82296" cy="82296"/>
            </a:xfrm>
            <a:prstGeom prst="rect">
              <a:avLst/>
            </a:prstGeom>
            <a:solidFill>
              <a:srgbClr val="185FA5"/>
            </a:solidFill>
            <a:ln w="0">
              <a:solidFill>
                <a:srgbClr val="185FA5"/>
              </a:solidFill>
            </a:ln>
          </p:spPr>
          <p:txBody>
            <a:bodyPr/>
            <a:lstStyle/>
            <a:p>
              <a:endParaRPr lang="en-US" sz="1050"/>
            </a:p>
          </p:txBody>
        </p:sp>
        <p:sp>
          <p:nvSpPr>
            <p:cNvPr id="69" name="t">
              <a:extLst>
                <a:ext uri="{FF2B5EF4-FFF2-40B4-BE49-F238E27FC236}">
                  <a16:creationId xmlns:a16="http://schemas.microsoft.com/office/drawing/2014/main" id="{98737088-1894-8FEA-76AA-9ABBEFA3602B}"/>
                </a:ext>
              </a:extLst>
            </p:cNvPr>
            <p:cNvSpPr txBox="1"/>
            <p:nvPr/>
          </p:nvSpPr>
          <p:spPr>
            <a:xfrm>
              <a:off x="6473952" y="1764741"/>
              <a:ext cx="2340864" cy="219456"/>
            </a:xfrm>
            <a:prstGeom prst="rect">
              <a:avLst/>
            </a:prstGeom>
            <a:noFill/>
            <a:ln/>
          </p:spPr>
          <p:txBody>
            <a:bodyPr wrap="square" rtlCol="0"/>
            <a:lstStyle/>
            <a:p>
              <a:pPr algn="l"/>
              <a:r>
                <a:rPr lang="en-US" sz="950" b="0" dirty="0">
                  <a:solidFill>
                    <a:srgbClr val="0C447C"/>
                  </a:solidFill>
                </a:rPr>
                <a:t>Auto-emails health report to mapped stakeholders per API team</a:t>
              </a:r>
            </a:p>
          </p:txBody>
        </p:sp>
      </p:grpSp>
      <p:grpSp>
        <p:nvGrpSpPr>
          <p:cNvPr id="70" name="GROUP_Policy-as-co">
            <a:extLst>
              <a:ext uri="{FF2B5EF4-FFF2-40B4-BE49-F238E27FC236}">
                <a16:creationId xmlns:a16="http://schemas.microsoft.com/office/drawing/2014/main" id="{BE7D3F91-C610-EC90-278B-9DE13D961AA7}"/>
              </a:ext>
            </a:extLst>
          </p:cNvPr>
          <p:cNvGrpSpPr/>
          <p:nvPr/>
        </p:nvGrpSpPr>
        <p:grpSpPr>
          <a:xfrm>
            <a:off x="530352" y="3431213"/>
            <a:ext cx="3367674" cy="1373337"/>
            <a:chOff x="228600" y="2377440"/>
            <a:chExt cx="2743200" cy="1005840"/>
          </a:xfrm>
        </p:grpSpPr>
        <p:sp>
          <p:nvSpPr>
            <p:cNvPr id="71" name="r">
              <a:extLst>
                <a:ext uri="{FF2B5EF4-FFF2-40B4-BE49-F238E27FC236}">
                  <a16:creationId xmlns:a16="http://schemas.microsoft.com/office/drawing/2014/main" id="{5B50D403-A8B2-7626-96EF-68CDEEDA6389}"/>
                </a:ext>
              </a:extLst>
            </p:cNvPr>
            <p:cNvSpPr/>
            <p:nvPr/>
          </p:nvSpPr>
          <p:spPr>
            <a:xfrm>
              <a:off x="228600" y="2377440"/>
              <a:ext cx="2743200" cy="1005840"/>
            </a:xfrm>
            <a:prstGeom prst="rect">
              <a:avLst/>
            </a:prstGeom>
            <a:solidFill>
              <a:srgbClr val="E1F5EE"/>
            </a:solidFill>
            <a:ln w="9525">
              <a:solidFill>
                <a:srgbClr val="5DCAA5"/>
              </a:solidFill>
            </a:ln>
          </p:spPr>
          <p:txBody>
            <a:bodyPr/>
            <a:lstStyle/>
            <a:p>
              <a:endParaRPr lang="en-US" sz="2800"/>
            </a:p>
          </p:txBody>
        </p:sp>
        <p:sp>
          <p:nvSpPr>
            <p:cNvPr id="72" name="r">
              <a:extLst>
                <a:ext uri="{FF2B5EF4-FFF2-40B4-BE49-F238E27FC236}">
                  <a16:creationId xmlns:a16="http://schemas.microsoft.com/office/drawing/2014/main" id="{8D26355B-EEDA-B769-C647-925A5707881F}"/>
                </a:ext>
              </a:extLst>
            </p:cNvPr>
            <p:cNvSpPr/>
            <p:nvPr/>
          </p:nvSpPr>
          <p:spPr>
            <a:xfrm>
              <a:off x="228600" y="2377440"/>
              <a:ext cx="2743200" cy="59436"/>
            </a:xfrm>
            <a:prstGeom prst="rect">
              <a:avLst/>
            </a:prstGeom>
            <a:solidFill>
              <a:srgbClr val="0F6E56"/>
            </a:solidFill>
            <a:ln w="0">
              <a:solidFill>
                <a:srgbClr val="0F6E56"/>
              </a:solidFill>
            </a:ln>
          </p:spPr>
          <p:txBody>
            <a:bodyPr/>
            <a:lstStyle/>
            <a:p>
              <a:endParaRPr lang="en-US" sz="2800"/>
            </a:p>
          </p:txBody>
        </p:sp>
        <p:sp>
          <p:nvSpPr>
            <p:cNvPr id="73" name="r">
              <a:extLst>
                <a:ext uri="{FF2B5EF4-FFF2-40B4-BE49-F238E27FC236}">
                  <a16:creationId xmlns:a16="http://schemas.microsoft.com/office/drawing/2014/main" id="{B9C2F7C0-A4C4-9587-6CBA-05033FB027AA}"/>
                </a:ext>
              </a:extLst>
            </p:cNvPr>
            <p:cNvSpPr/>
            <p:nvPr/>
          </p:nvSpPr>
          <p:spPr>
            <a:xfrm>
              <a:off x="2002536" y="2450592"/>
              <a:ext cx="914400" cy="182880"/>
            </a:xfrm>
            <a:prstGeom prst="rect">
              <a:avLst/>
            </a:prstGeom>
            <a:solidFill>
              <a:srgbClr val="0F6E56"/>
            </a:solidFill>
            <a:ln w="0">
              <a:solidFill>
                <a:srgbClr val="0F6E56"/>
              </a:solidFill>
            </a:ln>
          </p:spPr>
          <p:txBody>
            <a:bodyPr/>
            <a:lstStyle/>
            <a:p>
              <a:endParaRPr lang="en-US" sz="2800"/>
            </a:p>
          </p:txBody>
        </p:sp>
        <p:sp>
          <p:nvSpPr>
            <p:cNvPr id="74" name="t">
              <a:extLst>
                <a:ext uri="{FF2B5EF4-FFF2-40B4-BE49-F238E27FC236}">
                  <a16:creationId xmlns:a16="http://schemas.microsoft.com/office/drawing/2014/main" id="{45159D1B-5C3F-6127-2FE7-204751FB259F}"/>
                </a:ext>
              </a:extLst>
            </p:cNvPr>
            <p:cNvSpPr txBox="1"/>
            <p:nvPr/>
          </p:nvSpPr>
          <p:spPr>
            <a:xfrm>
              <a:off x="2002536" y="2450592"/>
              <a:ext cx="914400" cy="182880"/>
            </a:xfrm>
            <a:prstGeom prst="rect">
              <a:avLst/>
            </a:prstGeom>
            <a:noFill/>
            <a:ln/>
          </p:spPr>
          <p:txBody>
            <a:bodyPr wrap="square" rtlCol="0"/>
            <a:lstStyle/>
            <a:p>
              <a:pPr algn="ctr"/>
              <a:r>
                <a:rPr lang="en-US" sz="1000" b="1" dirty="0">
                  <a:solidFill>
                    <a:srgbClr val="FFFFFF"/>
                  </a:solidFill>
                </a:rPr>
                <a:t>Mid-term</a:t>
              </a:r>
            </a:p>
          </p:txBody>
        </p:sp>
        <p:sp>
          <p:nvSpPr>
            <p:cNvPr id="75" name="t">
              <a:extLst>
                <a:ext uri="{FF2B5EF4-FFF2-40B4-BE49-F238E27FC236}">
                  <a16:creationId xmlns:a16="http://schemas.microsoft.com/office/drawing/2014/main" id="{8C6F4811-4AFC-E99F-20BE-492CA8159CFD}"/>
                </a:ext>
              </a:extLst>
            </p:cNvPr>
            <p:cNvSpPr txBox="1"/>
            <p:nvPr/>
          </p:nvSpPr>
          <p:spPr>
            <a:xfrm>
              <a:off x="356616" y="2468880"/>
              <a:ext cx="1572768" cy="237744"/>
            </a:xfrm>
            <a:prstGeom prst="rect">
              <a:avLst/>
            </a:prstGeom>
            <a:noFill/>
            <a:ln/>
          </p:spPr>
          <p:txBody>
            <a:bodyPr wrap="square" rtlCol="0"/>
            <a:lstStyle/>
            <a:p>
              <a:pPr algn="l"/>
              <a:r>
                <a:rPr lang="en-US" sz="1200" b="1" dirty="0">
                  <a:solidFill>
                    <a:srgbClr val="04342C"/>
                  </a:solidFill>
                </a:rPr>
                <a:t>Policy-as-code dashboard</a:t>
              </a:r>
            </a:p>
          </p:txBody>
        </p:sp>
        <p:sp>
          <p:nvSpPr>
            <p:cNvPr id="76" name="r">
              <a:extLst>
                <a:ext uri="{FF2B5EF4-FFF2-40B4-BE49-F238E27FC236}">
                  <a16:creationId xmlns:a16="http://schemas.microsoft.com/office/drawing/2014/main" id="{064B3DA8-E9AE-D308-D918-1EDA5C116E92}"/>
                </a:ext>
              </a:extLst>
            </p:cNvPr>
            <p:cNvSpPr/>
            <p:nvPr/>
          </p:nvSpPr>
          <p:spPr>
            <a:xfrm>
              <a:off x="393192" y="2761488"/>
              <a:ext cx="82296" cy="82296"/>
            </a:xfrm>
            <a:prstGeom prst="rect">
              <a:avLst/>
            </a:prstGeom>
            <a:solidFill>
              <a:srgbClr val="0F6E56"/>
            </a:solidFill>
            <a:ln w="0">
              <a:solidFill>
                <a:srgbClr val="0F6E56"/>
              </a:solidFill>
            </a:ln>
          </p:spPr>
          <p:txBody>
            <a:bodyPr/>
            <a:lstStyle/>
            <a:p>
              <a:endParaRPr lang="en-US" sz="2800"/>
            </a:p>
          </p:txBody>
        </p:sp>
        <p:sp>
          <p:nvSpPr>
            <p:cNvPr id="77" name="t">
              <a:extLst>
                <a:ext uri="{FF2B5EF4-FFF2-40B4-BE49-F238E27FC236}">
                  <a16:creationId xmlns:a16="http://schemas.microsoft.com/office/drawing/2014/main" id="{91F96888-F8D9-0901-EC13-9379B6E030A5}"/>
                </a:ext>
              </a:extLst>
            </p:cNvPr>
            <p:cNvSpPr txBox="1"/>
            <p:nvPr/>
          </p:nvSpPr>
          <p:spPr>
            <a:xfrm>
              <a:off x="530352" y="2743200"/>
              <a:ext cx="2340864" cy="219456"/>
            </a:xfrm>
            <a:prstGeom prst="rect">
              <a:avLst/>
            </a:prstGeom>
            <a:noFill/>
            <a:ln/>
          </p:spPr>
          <p:txBody>
            <a:bodyPr wrap="square" rtlCol="0"/>
            <a:lstStyle/>
            <a:p>
              <a:pPr algn="l"/>
              <a:r>
                <a:rPr lang="en-US" sz="1050" b="0" dirty="0">
                  <a:solidFill>
                    <a:srgbClr val="085041"/>
                  </a:solidFill>
                </a:rPr>
                <a:t>Visual governance dashboard across all APIs in the org</a:t>
              </a:r>
            </a:p>
          </p:txBody>
        </p:sp>
        <p:sp>
          <p:nvSpPr>
            <p:cNvPr id="78" name="r">
              <a:extLst>
                <a:ext uri="{FF2B5EF4-FFF2-40B4-BE49-F238E27FC236}">
                  <a16:creationId xmlns:a16="http://schemas.microsoft.com/office/drawing/2014/main" id="{0DF27F10-3187-E181-8235-11008005B132}"/>
                </a:ext>
              </a:extLst>
            </p:cNvPr>
            <p:cNvSpPr/>
            <p:nvPr/>
          </p:nvSpPr>
          <p:spPr>
            <a:xfrm>
              <a:off x="393192" y="2999232"/>
              <a:ext cx="82296" cy="82296"/>
            </a:xfrm>
            <a:prstGeom prst="rect">
              <a:avLst/>
            </a:prstGeom>
            <a:solidFill>
              <a:srgbClr val="0F6E56"/>
            </a:solidFill>
            <a:ln w="0">
              <a:solidFill>
                <a:srgbClr val="0F6E56"/>
              </a:solidFill>
            </a:ln>
          </p:spPr>
          <p:txBody>
            <a:bodyPr/>
            <a:lstStyle/>
            <a:p>
              <a:endParaRPr lang="en-US" sz="2800"/>
            </a:p>
          </p:txBody>
        </p:sp>
        <p:sp>
          <p:nvSpPr>
            <p:cNvPr id="79" name="t">
              <a:extLst>
                <a:ext uri="{FF2B5EF4-FFF2-40B4-BE49-F238E27FC236}">
                  <a16:creationId xmlns:a16="http://schemas.microsoft.com/office/drawing/2014/main" id="{172AE77E-66CD-7228-DDAB-302639295BBA}"/>
                </a:ext>
              </a:extLst>
            </p:cNvPr>
            <p:cNvSpPr txBox="1"/>
            <p:nvPr/>
          </p:nvSpPr>
          <p:spPr>
            <a:xfrm>
              <a:off x="530352" y="2980944"/>
              <a:ext cx="2340864" cy="219456"/>
            </a:xfrm>
            <a:prstGeom prst="rect">
              <a:avLst/>
            </a:prstGeom>
            <a:noFill/>
            <a:ln/>
          </p:spPr>
          <p:txBody>
            <a:bodyPr wrap="square" rtlCol="0"/>
            <a:lstStyle/>
            <a:p>
              <a:pPr algn="l"/>
              <a:r>
                <a:rPr lang="en-US" sz="1050" b="0" dirty="0">
                  <a:solidFill>
                    <a:srgbClr val="085041"/>
                  </a:solidFill>
                </a:rPr>
                <a:t>Custom policy definition language for enterprise rules</a:t>
              </a:r>
            </a:p>
          </p:txBody>
        </p:sp>
        <p:sp>
          <p:nvSpPr>
            <p:cNvPr id="80" name="r">
              <a:extLst>
                <a:ext uri="{FF2B5EF4-FFF2-40B4-BE49-F238E27FC236}">
                  <a16:creationId xmlns:a16="http://schemas.microsoft.com/office/drawing/2014/main" id="{706719D8-4C74-4500-731F-D52EC6CB205C}"/>
                </a:ext>
              </a:extLst>
            </p:cNvPr>
            <p:cNvSpPr/>
            <p:nvPr/>
          </p:nvSpPr>
          <p:spPr>
            <a:xfrm>
              <a:off x="393192" y="3236976"/>
              <a:ext cx="82296" cy="82296"/>
            </a:xfrm>
            <a:prstGeom prst="rect">
              <a:avLst/>
            </a:prstGeom>
            <a:solidFill>
              <a:srgbClr val="0F6E56"/>
            </a:solidFill>
            <a:ln w="0">
              <a:solidFill>
                <a:srgbClr val="0F6E56"/>
              </a:solidFill>
            </a:ln>
          </p:spPr>
          <p:txBody>
            <a:bodyPr/>
            <a:lstStyle/>
            <a:p>
              <a:endParaRPr lang="en-US" sz="2800"/>
            </a:p>
          </p:txBody>
        </p:sp>
        <p:sp>
          <p:nvSpPr>
            <p:cNvPr id="81" name="t">
              <a:extLst>
                <a:ext uri="{FF2B5EF4-FFF2-40B4-BE49-F238E27FC236}">
                  <a16:creationId xmlns:a16="http://schemas.microsoft.com/office/drawing/2014/main" id="{F5657749-97CD-4F04-A710-CC2C627441D6}"/>
                </a:ext>
              </a:extLst>
            </p:cNvPr>
            <p:cNvSpPr txBox="1"/>
            <p:nvPr/>
          </p:nvSpPr>
          <p:spPr>
            <a:xfrm>
              <a:off x="530352" y="3218688"/>
              <a:ext cx="2340864" cy="219456"/>
            </a:xfrm>
            <a:prstGeom prst="rect">
              <a:avLst/>
            </a:prstGeom>
            <a:noFill/>
            <a:ln/>
          </p:spPr>
          <p:txBody>
            <a:bodyPr wrap="square" rtlCol="0"/>
            <a:lstStyle/>
            <a:p>
              <a:pPr algn="l"/>
              <a:r>
                <a:rPr lang="en-US" sz="1050" b="0" dirty="0">
                  <a:solidFill>
                    <a:srgbClr val="085041"/>
                  </a:solidFill>
                </a:rPr>
                <a:t>Trend tracking: health score evolution over time</a:t>
              </a:r>
            </a:p>
          </p:txBody>
        </p:sp>
      </p:grpSp>
      <p:grpSp>
        <p:nvGrpSpPr>
          <p:cNvPr id="82" name="GROUP_API_gateway_">
            <a:extLst>
              <a:ext uri="{FF2B5EF4-FFF2-40B4-BE49-F238E27FC236}">
                <a16:creationId xmlns:a16="http://schemas.microsoft.com/office/drawing/2014/main" id="{2E43C7CB-ACF5-C2EA-3672-9EC11CFA5287}"/>
              </a:ext>
            </a:extLst>
          </p:cNvPr>
          <p:cNvGrpSpPr/>
          <p:nvPr/>
        </p:nvGrpSpPr>
        <p:grpSpPr>
          <a:xfrm>
            <a:off x="4105169" y="3437188"/>
            <a:ext cx="3596286" cy="1337101"/>
            <a:chOff x="3200400" y="2377440"/>
            <a:chExt cx="2743200" cy="1015794"/>
          </a:xfrm>
        </p:grpSpPr>
        <p:sp>
          <p:nvSpPr>
            <p:cNvPr id="83" name="r">
              <a:extLst>
                <a:ext uri="{FF2B5EF4-FFF2-40B4-BE49-F238E27FC236}">
                  <a16:creationId xmlns:a16="http://schemas.microsoft.com/office/drawing/2014/main" id="{EB8DE4A8-002B-599A-CF8E-F115C859F506}"/>
                </a:ext>
              </a:extLst>
            </p:cNvPr>
            <p:cNvSpPr/>
            <p:nvPr/>
          </p:nvSpPr>
          <p:spPr>
            <a:xfrm>
              <a:off x="3200400" y="2377440"/>
              <a:ext cx="2743200" cy="1005840"/>
            </a:xfrm>
            <a:prstGeom prst="rect">
              <a:avLst/>
            </a:prstGeom>
            <a:solidFill>
              <a:srgbClr val="E1F5EE"/>
            </a:solidFill>
            <a:ln w="9525">
              <a:solidFill>
                <a:srgbClr val="5DCAA5"/>
              </a:solidFill>
            </a:ln>
          </p:spPr>
          <p:txBody>
            <a:bodyPr/>
            <a:lstStyle/>
            <a:p>
              <a:endParaRPr lang="en-US" sz="2800"/>
            </a:p>
          </p:txBody>
        </p:sp>
        <p:sp>
          <p:nvSpPr>
            <p:cNvPr id="84" name="r">
              <a:extLst>
                <a:ext uri="{FF2B5EF4-FFF2-40B4-BE49-F238E27FC236}">
                  <a16:creationId xmlns:a16="http://schemas.microsoft.com/office/drawing/2014/main" id="{0899D71F-4FA0-09BA-B3A2-5990B9DF637D}"/>
                </a:ext>
              </a:extLst>
            </p:cNvPr>
            <p:cNvSpPr/>
            <p:nvPr/>
          </p:nvSpPr>
          <p:spPr>
            <a:xfrm>
              <a:off x="3200400" y="2377440"/>
              <a:ext cx="2743200" cy="59436"/>
            </a:xfrm>
            <a:prstGeom prst="rect">
              <a:avLst/>
            </a:prstGeom>
            <a:solidFill>
              <a:srgbClr val="0F6E56"/>
            </a:solidFill>
            <a:ln w="0">
              <a:solidFill>
                <a:srgbClr val="0F6E56"/>
              </a:solidFill>
            </a:ln>
          </p:spPr>
          <p:txBody>
            <a:bodyPr/>
            <a:lstStyle/>
            <a:p>
              <a:endParaRPr lang="en-US" sz="2800"/>
            </a:p>
          </p:txBody>
        </p:sp>
        <p:sp>
          <p:nvSpPr>
            <p:cNvPr id="85" name="r">
              <a:extLst>
                <a:ext uri="{FF2B5EF4-FFF2-40B4-BE49-F238E27FC236}">
                  <a16:creationId xmlns:a16="http://schemas.microsoft.com/office/drawing/2014/main" id="{6DDEFE6E-43F4-7D50-0749-B8C5354C8A47}"/>
                </a:ext>
              </a:extLst>
            </p:cNvPr>
            <p:cNvSpPr/>
            <p:nvPr/>
          </p:nvSpPr>
          <p:spPr>
            <a:xfrm>
              <a:off x="4974336" y="2450592"/>
              <a:ext cx="914400" cy="182880"/>
            </a:xfrm>
            <a:prstGeom prst="rect">
              <a:avLst/>
            </a:prstGeom>
            <a:solidFill>
              <a:srgbClr val="0F6E56"/>
            </a:solidFill>
            <a:ln w="0">
              <a:solidFill>
                <a:srgbClr val="0F6E56"/>
              </a:solidFill>
            </a:ln>
          </p:spPr>
          <p:txBody>
            <a:bodyPr/>
            <a:lstStyle/>
            <a:p>
              <a:endParaRPr lang="en-US" sz="2800"/>
            </a:p>
          </p:txBody>
        </p:sp>
        <p:sp>
          <p:nvSpPr>
            <p:cNvPr id="86" name="t">
              <a:extLst>
                <a:ext uri="{FF2B5EF4-FFF2-40B4-BE49-F238E27FC236}">
                  <a16:creationId xmlns:a16="http://schemas.microsoft.com/office/drawing/2014/main" id="{6B4BD9C1-A3F4-FE44-CE95-51E6FFBBD7FB}"/>
                </a:ext>
              </a:extLst>
            </p:cNvPr>
            <p:cNvSpPr txBox="1"/>
            <p:nvPr/>
          </p:nvSpPr>
          <p:spPr>
            <a:xfrm>
              <a:off x="4974336" y="2450592"/>
              <a:ext cx="914400" cy="182880"/>
            </a:xfrm>
            <a:prstGeom prst="rect">
              <a:avLst/>
            </a:prstGeom>
            <a:noFill/>
            <a:ln/>
          </p:spPr>
          <p:txBody>
            <a:bodyPr wrap="square" rtlCol="0"/>
            <a:lstStyle/>
            <a:p>
              <a:pPr algn="ctr"/>
              <a:r>
                <a:rPr lang="en-US" sz="1000" b="1" dirty="0">
                  <a:solidFill>
                    <a:srgbClr val="FFFFFF"/>
                  </a:solidFill>
                </a:rPr>
                <a:t>Mid-term</a:t>
              </a:r>
            </a:p>
          </p:txBody>
        </p:sp>
        <p:sp>
          <p:nvSpPr>
            <p:cNvPr id="87" name="t">
              <a:extLst>
                <a:ext uri="{FF2B5EF4-FFF2-40B4-BE49-F238E27FC236}">
                  <a16:creationId xmlns:a16="http://schemas.microsoft.com/office/drawing/2014/main" id="{A5CF144A-9AA1-B4D1-9BD0-7B44A8161615}"/>
                </a:ext>
              </a:extLst>
            </p:cNvPr>
            <p:cNvSpPr txBox="1"/>
            <p:nvPr/>
          </p:nvSpPr>
          <p:spPr>
            <a:xfrm>
              <a:off x="3328416" y="2468880"/>
              <a:ext cx="1572768" cy="237744"/>
            </a:xfrm>
            <a:prstGeom prst="rect">
              <a:avLst/>
            </a:prstGeom>
            <a:noFill/>
            <a:ln/>
          </p:spPr>
          <p:txBody>
            <a:bodyPr wrap="square" rtlCol="0"/>
            <a:lstStyle/>
            <a:p>
              <a:pPr algn="l"/>
              <a:r>
                <a:rPr lang="en-US" sz="1200" b="1" dirty="0">
                  <a:solidFill>
                    <a:srgbClr val="04342C"/>
                  </a:solidFill>
                </a:rPr>
                <a:t>API gateway integration</a:t>
              </a:r>
            </a:p>
          </p:txBody>
        </p:sp>
        <p:sp>
          <p:nvSpPr>
            <p:cNvPr id="88" name="r">
              <a:extLst>
                <a:ext uri="{FF2B5EF4-FFF2-40B4-BE49-F238E27FC236}">
                  <a16:creationId xmlns:a16="http://schemas.microsoft.com/office/drawing/2014/main" id="{D4EE858A-D85C-D85F-970E-7DA59B9A901B}"/>
                </a:ext>
              </a:extLst>
            </p:cNvPr>
            <p:cNvSpPr/>
            <p:nvPr/>
          </p:nvSpPr>
          <p:spPr>
            <a:xfrm>
              <a:off x="3364992" y="2761488"/>
              <a:ext cx="82296" cy="82296"/>
            </a:xfrm>
            <a:prstGeom prst="rect">
              <a:avLst/>
            </a:prstGeom>
            <a:solidFill>
              <a:srgbClr val="0F6E56"/>
            </a:solidFill>
            <a:ln w="0">
              <a:solidFill>
                <a:srgbClr val="0F6E56"/>
              </a:solidFill>
            </a:ln>
          </p:spPr>
          <p:txBody>
            <a:bodyPr/>
            <a:lstStyle/>
            <a:p>
              <a:endParaRPr lang="en-US" sz="2800"/>
            </a:p>
          </p:txBody>
        </p:sp>
        <p:sp>
          <p:nvSpPr>
            <p:cNvPr id="89" name="t">
              <a:extLst>
                <a:ext uri="{FF2B5EF4-FFF2-40B4-BE49-F238E27FC236}">
                  <a16:creationId xmlns:a16="http://schemas.microsoft.com/office/drawing/2014/main" id="{D0B523CF-E45A-0790-ACF8-6AEEB778FAD5}"/>
                </a:ext>
              </a:extLst>
            </p:cNvPr>
            <p:cNvSpPr txBox="1"/>
            <p:nvPr/>
          </p:nvSpPr>
          <p:spPr>
            <a:xfrm>
              <a:off x="3502152" y="2704278"/>
              <a:ext cx="2340864" cy="219456"/>
            </a:xfrm>
            <a:prstGeom prst="rect">
              <a:avLst/>
            </a:prstGeom>
            <a:noFill/>
            <a:ln/>
          </p:spPr>
          <p:txBody>
            <a:bodyPr wrap="square" rtlCol="0"/>
            <a:lstStyle/>
            <a:p>
              <a:pPr algn="l"/>
              <a:r>
                <a:rPr lang="en-US" sz="1050" b="0" dirty="0">
                  <a:solidFill>
                    <a:srgbClr val="085041"/>
                  </a:solidFill>
                </a:rPr>
                <a:t>Runtime traffic monitoring against spec contracts</a:t>
              </a:r>
            </a:p>
          </p:txBody>
        </p:sp>
        <p:sp>
          <p:nvSpPr>
            <p:cNvPr id="90" name="r">
              <a:extLst>
                <a:ext uri="{FF2B5EF4-FFF2-40B4-BE49-F238E27FC236}">
                  <a16:creationId xmlns:a16="http://schemas.microsoft.com/office/drawing/2014/main" id="{77C06ADD-0266-5A2A-1522-EF5A6C92A87A}"/>
                </a:ext>
              </a:extLst>
            </p:cNvPr>
            <p:cNvSpPr/>
            <p:nvPr/>
          </p:nvSpPr>
          <p:spPr>
            <a:xfrm>
              <a:off x="3364992" y="2960310"/>
              <a:ext cx="82296" cy="82296"/>
            </a:xfrm>
            <a:prstGeom prst="rect">
              <a:avLst/>
            </a:prstGeom>
            <a:solidFill>
              <a:srgbClr val="0F6E56"/>
            </a:solidFill>
            <a:ln w="0">
              <a:solidFill>
                <a:srgbClr val="0F6E56"/>
              </a:solidFill>
            </a:ln>
          </p:spPr>
          <p:txBody>
            <a:bodyPr/>
            <a:lstStyle/>
            <a:p>
              <a:endParaRPr lang="en-US" sz="2800"/>
            </a:p>
          </p:txBody>
        </p:sp>
        <p:sp>
          <p:nvSpPr>
            <p:cNvPr id="91" name="t">
              <a:extLst>
                <a:ext uri="{FF2B5EF4-FFF2-40B4-BE49-F238E27FC236}">
                  <a16:creationId xmlns:a16="http://schemas.microsoft.com/office/drawing/2014/main" id="{A17F9F93-FABD-D999-5EA1-18F5E39026CD}"/>
                </a:ext>
              </a:extLst>
            </p:cNvPr>
            <p:cNvSpPr txBox="1"/>
            <p:nvPr/>
          </p:nvSpPr>
          <p:spPr>
            <a:xfrm>
              <a:off x="3502152" y="2873157"/>
              <a:ext cx="2340864" cy="219456"/>
            </a:xfrm>
            <a:prstGeom prst="rect">
              <a:avLst/>
            </a:prstGeom>
            <a:noFill/>
            <a:ln/>
          </p:spPr>
          <p:txBody>
            <a:bodyPr wrap="square" rtlCol="0"/>
            <a:lstStyle/>
            <a:p>
              <a:pPr algn="l"/>
              <a:r>
                <a:rPr lang="en-US" sz="1050" b="0" dirty="0" err="1">
                  <a:solidFill>
                    <a:srgbClr val="085041"/>
                  </a:solidFill>
                </a:rPr>
                <a:t>webMethods</a:t>
              </a:r>
              <a:r>
                <a:rPr lang="en-US" sz="1050" b="0" dirty="0">
                  <a:solidFill>
                    <a:srgbClr val="085041"/>
                  </a:solidFill>
                </a:rPr>
                <a:t> </a:t>
              </a:r>
              <a:r>
                <a:rPr lang="en-US" sz="1050" b="0" dirty="0" err="1">
                  <a:solidFill>
                    <a:srgbClr val="085041"/>
                  </a:solidFill>
                </a:rPr>
                <a:t>APIGateway</a:t>
              </a:r>
              <a:r>
                <a:rPr lang="en-US" sz="1050" b="0" dirty="0">
                  <a:solidFill>
                    <a:srgbClr val="085041"/>
                  </a:solidFill>
                </a:rPr>
                <a:t>/ API Connect / Kong / Apigee adapter layer</a:t>
              </a:r>
            </a:p>
          </p:txBody>
        </p:sp>
        <p:sp>
          <p:nvSpPr>
            <p:cNvPr id="92" name="r">
              <a:extLst>
                <a:ext uri="{FF2B5EF4-FFF2-40B4-BE49-F238E27FC236}">
                  <a16:creationId xmlns:a16="http://schemas.microsoft.com/office/drawing/2014/main" id="{5851F0C2-6E66-DEC8-44D0-F2F6E341E1C5}"/>
                </a:ext>
              </a:extLst>
            </p:cNvPr>
            <p:cNvSpPr/>
            <p:nvPr/>
          </p:nvSpPr>
          <p:spPr>
            <a:xfrm>
              <a:off x="3364992" y="3227994"/>
              <a:ext cx="82296" cy="82296"/>
            </a:xfrm>
            <a:prstGeom prst="rect">
              <a:avLst/>
            </a:prstGeom>
            <a:solidFill>
              <a:srgbClr val="0F6E56"/>
            </a:solidFill>
            <a:ln w="0">
              <a:solidFill>
                <a:srgbClr val="0F6E56"/>
              </a:solidFill>
            </a:ln>
          </p:spPr>
          <p:txBody>
            <a:bodyPr/>
            <a:lstStyle/>
            <a:p>
              <a:endParaRPr lang="en-US" sz="2800"/>
            </a:p>
          </p:txBody>
        </p:sp>
        <p:sp>
          <p:nvSpPr>
            <p:cNvPr id="93" name="t">
              <a:extLst>
                <a:ext uri="{FF2B5EF4-FFF2-40B4-BE49-F238E27FC236}">
                  <a16:creationId xmlns:a16="http://schemas.microsoft.com/office/drawing/2014/main" id="{2C37DE0B-0CDF-F770-EF95-53BF9CA36D5B}"/>
                </a:ext>
              </a:extLst>
            </p:cNvPr>
            <p:cNvSpPr txBox="1"/>
            <p:nvPr/>
          </p:nvSpPr>
          <p:spPr>
            <a:xfrm>
              <a:off x="3502152" y="3173778"/>
              <a:ext cx="2340864" cy="219456"/>
            </a:xfrm>
            <a:prstGeom prst="rect">
              <a:avLst/>
            </a:prstGeom>
            <a:noFill/>
            <a:ln/>
          </p:spPr>
          <p:txBody>
            <a:bodyPr wrap="square" rtlCol="0"/>
            <a:lstStyle/>
            <a:p>
              <a:pPr algn="l"/>
              <a:r>
                <a:rPr lang="en-US" sz="1050" b="0" dirty="0">
                  <a:solidFill>
                    <a:srgbClr val="085041"/>
                  </a:solidFill>
                </a:rPr>
                <a:t>Live drift detection: running API vs. OpenAPI spec</a:t>
              </a:r>
            </a:p>
          </p:txBody>
        </p:sp>
      </p:grpSp>
      <p:grpSp>
        <p:nvGrpSpPr>
          <p:cNvPr id="94" name="GROUP_Agentic_rule">
            <a:extLst>
              <a:ext uri="{FF2B5EF4-FFF2-40B4-BE49-F238E27FC236}">
                <a16:creationId xmlns:a16="http://schemas.microsoft.com/office/drawing/2014/main" id="{4EF9BEFC-EF9F-23F0-D37B-0BBEF8431B9B}"/>
              </a:ext>
            </a:extLst>
          </p:cNvPr>
          <p:cNvGrpSpPr/>
          <p:nvPr/>
        </p:nvGrpSpPr>
        <p:grpSpPr>
          <a:xfrm>
            <a:off x="7995688" y="3439749"/>
            <a:ext cx="3624812" cy="1329333"/>
            <a:chOff x="6172200" y="2377440"/>
            <a:chExt cx="2743200" cy="1098169"/>
          </a:xfrm>
        </p:grpSpPr>
        <p:sp>
          <p:nvSpPr>
            <p:cNvPr id="95" name="r">
              <a:extLst>
                <a:ext uri="{FF2B5EF4-FFF2-40B4-BE49-F238E27FC236}">
                  <a16:creationId xmlns:a16="http://schemas.microsoft.com/office/drawing/2014/main" id="{3E96E7AD-8394-5720-783B-E28DB913FF56}"/>
                </a:ext>
              </a:extLst>
            </p:cNvPr>
            <p:cNvSpPr/>
            <p:nvPr/>
          </p:nvSpPr>
          <p:spPr>
            <a:xfrm>
              <a:off x="6172200" y="2377440"/>
              <a:ext cx="2743200" cy="1098169"/>
            </a:xfrm>
            <a:prstGeom prst="rect">
              <a:avLst/>
            </a:prstGeom>
            <a:solidFill>
              <a:srgbClr val="E1F5EE"/>
            </a:solidFill>
            <a:ln w="9525">
              <a:solidFill>
                <a:srgbClr val="5DCAA5"/>
              </a:solidFill>
            </a:ln>
          </p:spPr>
          <p:txBody>
            <a:bodyPr/>
            <a:lstStyle/>
            <a:p>
              <a:endParaRPr lang="en-US" sz="2800" dirty="0"/>
            </a:p>
          </p:txBody>
        </p:sp>
        <p:sp>
          <p:nvSpPr>
            <p:cNvPr id="96" name="r">
              <a:extLst>
                <a:ext uri="{FF2B5EF4-FFF2-40B4-BE49-F238E27FC236}">
                  <a16:creationId xmlns:a16="http://schemas.microsoft.com/office/drawing/2014/main" id="{2C5EFCE1-B4A1-8D59-3E76-D9F4CBCE588B}"/>
                </a:ext>
              </a:extLst>
            </p:cNvPr>
            <p:cNvSpPr/>
            <p:nvPr/>
          </p:nvSpPr>
          <p:spPr>
            <a:xfrm>
              <a:off x="6172200" y="2377440"/>
              <a:ext cx="2743200" cy="59436"/>
            </a:xfrm>
            <a:prstGeom prst="rect">
              <a:avLst/>
            </a:prstGeom>
            <a:solidFill>
              <a:srgbClr val="0F6E56"/>
            </a:solidFill>
            <a:ln w="0">
              <a:solidFill>
                <a:srgbClr val="0F6E56"/>
              </a:solidFill>
            </a:ln>
          </p:spPr>
          <p:txBody>
            <a:bodyPr/>
            <a:lstStyle/>
            <a:p>
              <a:endParaRPr lang="en-US" sz="2800"/>
            </a:p>
          </p:txBody>
        </p:sp>
        <p:sp>
          <p:nvSpPr>
            <p:cNvPr id="97" name="r">
              <a:extLst>
                <a:ext uri="{FF2B5EF4-FFF2-40B4-BE49-F238E27FC236}">
                  <a16:creationId xmlns:a16="http://schemas.microsoft.com/office/drawing/2014/main" id="{9B7F1D98-1434-4563-3F5D-6A5E7EBD7347}"/>
                </a:ext>
              </a:extLst>
            </p:cNvPr>
            <p:cNvSpPr/>
            <p:nvPr/>
          </p:nvSpPr>
          <p:spPr>
            <a:xfrm>
              <a:off x="7946136" y="2450592"/>
              <a:ext cx="914400" cy="182880"/>
            </a:xfrm>
            <a:prstGeom prst="rect">
              <a:avLst/>
            </a:prstGeom>
            <a:solidFill>
              <a:srgbClr val="0F6E56"/>
            </a:solidFill>
            <a:ln w="0">
              <a:solidFill>
                <a:srgbClr val="0F6E56"/>
              </a:solidFill>
            </a:ln>
          </p:spPr>
          <p:txBody>
            <a:bodyPr/>
            <a:lstStyle/>
            <a:p>
              <a:endParaRPr lang="en-US" sz="2800"/>
            </a:p>
          </p:txBody>
        </p:sp>
        <p:sp>
          <p:nvSpPr>
            <p:cNvPr id="98" name="t">
              <a:extLst>
                <a:ext uri="{FF2B5EF4-FFF2-40B4-BE49-F238E27FC236}">
                  <a16:creationId xmlns:a16="http://schemas.microsoft.com/office/drawing/2014/main" id="{B47A4F20-67CB-3E51-F728-9E5EC15832C7}"/>
                </a:ext>
              </a:extLst>
            </p:cNvPr>
            <p:cNvSpPr txBox="1"/>
            <p:nvPr/>
          </p:nvSpPr>
          <p:spPr>
            <a:xfrm>
              <a:off x="7946136" y="2450592"/>
              <a:ext cx="914400" cy="182880"/>
            </a:xfrm>
            <a:prstGeom prst="rect">
              <a:avLst/>
            </a:prstGeom>
            <a:noFill/>
            <a:ln/>
          </p:spPr>
          <p:txBody>
            <a:bodyPr wrap="square" rtlCol="0"/>
            <a:lstStyle/>
            <a:p>
              <a:pPr algn="ctr"/>
              <a:r>
                <a:rPr lang="en-US" sz="1000" b="1" dirty="0">
                  <a:solidFill>
                    <a:srgbClr val="FFFFFF"/>
                  </a:solidFill>
                </a:rPr>
                <a:t>Mid-term</a:t>
              </a:r>
            </a:p>
          </p:txBody>
        </p:sp>
        <p:sp>
          <p:nvSpPr>
            <p:cNvPr id="99" name="t">
              <a:extLst>
                <a:ext uri="{FF2B5EF4-FFF2-40B4-BE49-F238E27FC236}">
                  <a16:creationId xmlns:a16="http://schemas.microsoft.com/office/drawing/2014/main" id="{3D91E4EC-AE3C-F811-F899-D65B2696F515}"/>
                </a:ext>
              </a:extLst>
            </p:cNvPr>
            <p:cNvSpPr txBox="1"/>
            <p:nvPr/>
          </p:nvSpPr>
          <p:spPr>
            <a:xfrm>
              <a:off x="6300216" y="2468880"/>
              <a:ext cx="1572768" cy="237744"/>
            </a:xfrm>
            <a:prstGeom prst="rect">
              <a:avLst/>
            </a:prstGeom>
            <a:noFill/>
            <a:ln/>
          </p:spPr>
          <p:txBody>
            <a:bodyPr wrap="square" rtlCol="0"/>
            <a:lstStyle/>
            <a:p>
              <a:pPr algn="l"/>
              <a:r>
                <a:rPr lang="en-US" sz="1200" b="1" dirty="0">
                  <a:solidFill>
                    <a:srgbClr val="04342C"/>
                  </a:solidFill>
                </a:rPr>
                <a:t>Agentic rule repo self-update</a:t>
              </a:r>
            </a:p>
          </p:txBody>
        </p:sp>
        <p:sp>
          <p:nvSpPr>
            <p:cNvPr id="100" name="r">
              <a:extLst>
                <a:ext uri="{FF2B5EF4-FFF2-40B4-BE49-F238E27FC236}">
                  <a16:creationId xmlns:a16="http://schemas.microsoft.com/office/drawing/2014/main" id="{A61288B3-2DD2-61A8-CAB9-4D87921365B4}"/>
                </a:ext>
              </a:extLst>
            </p:cNvPr>
            <p:cNvSpPr/>
            <p:nvPr/>
          </p:nvSpPr>
          <p:spPr>
            <a:xfrm>
              <a:off x="6336792" y="2761488"/>
              <a:ext cx="82296" cy="82296"/>
            </a:xfrm>
            <a:prstGeom prst="rect">
              <a:avLst/>
            </a:prstGeom>
            <a:solidFill>
              <a:srgbClr val="0F6E56"/>
            </a:solidFill>
            <a:ln w="0">
              <a:solidFill>
                <a:srgbClr val="0F6E56"/>
              </a:solidFill>
            </a:ln>
          </p:spPr>
          <p:txBody>
            <a:bodyPr/>
            <a:lstStyle/>
            <a:p>
              <a:endParaRPr lang="en-US" sz="2800"/>
            </a:p>
          </p:txBody>
        </p:sp>
        <p:sp>
          <p:nvSpPr>
            <p:cNvPr id="101" name="t">
              <a:extLst>
                <a:ext uri="{FF2B5EF4-FFF2-40B4-BE49-F238E27FC236}">
                  <a16:creationId xmlns:a16="http://schemas.microsoft.com/office/drawing/2014/main" id="{39181A94-2DCF-3159-881D-61468DBF9DC3}"/>
                </a:ext>
              </a:extLst>
            </p:cNvPr>
            <p:cNvSpPr txBox="1"/>
            <p:nvPr/>
          </p:nvSpPr>
          <p:spPr>
            <a:xfrm>
              <a:off x="6473952" y="2684600"/>
              <a:ext cx="2340864" cy="219456"/>
            </a:xfrm>
            <a:prstGeom prst="rect">
              <a:avLst/>
            </a:prstGeom>
            <a:noFill/>
            <a:ln/>
          </p:spPr>
          <p:txBody>
            <a:bodyPr wrap="square" rtlCol="0"/>
            <a:lstStyle/>
            <a:p>
              <a:pPr algn="l"/>
              <a:r>
                <a:rPr lang="en-US" sz="950" b="0" dirty="0">
                  <a:solidFill>
                    <a:srgbClr val="085041"/>
                  </a:solidFill>
                </a:rPr>
                <a:t>Continuously scrapes OWASP, OpenAPI, RFC &amp; CVE for new rules</a:t>
              </a:r>
            </a:p>
          </p:txBody>
        </p:sp>
        <p:sp>
          <p:nvSpPr>
            <p:cNvPr id="102" name="r">
              <a:extLst>
                <a:ext uri="{FF2B5EF4-FFF2-40B4-BE49-F238E27FC236}">
                  <a16:creationId xmlns:a16="http://schemas.microsoft.com/office/drawing/2014/main" id="{CF2E404F-DA67-18A3-3D77-048E813A924D}"/>
                </a:ext>
              </a:extLst>
            </p:cNvPr>
            <p:cNvSpPr/>
            <p:nvPr/>
          </p:nvSpPr>
          <p:spPr>
            <a:xfrm>
              <a:off x="6336792" y="2999232"/>
              <a:ext cx="82296" cy="82296"/>
            </a:xfrm>
            <a:prstGeom prst="rect">
              <a:avLst/>
            </a:prstGeom>
            <a:solidFill>
              <a:srgbClr val="0F6E56"/>
            </a:solidFill>
            <a:ln w="0">
              <a:solidFill>
                <a:srgbClr val="0F6E56"/>
              </a:solidFill>
            </a:ln>
          </p:spPr>
          <p:txBody>
            <a:bodyPr/>
            <a:lstStyle/>
            <a:p>
              <a:endParaRPr lang="en-US" sz="2800"/>
            </a:p>
          </p:txBody>
        </p:sp>
        <p:sp>
          <p:nvSpPr>
            <p:cNvPr id="103" name="t">
              <a:extLst>
                <a:ext uri="{FF2B5EF4-FFF2-40B4-BE49-F238E27FC236}">
                  <a16:creationId xmlns:a16="http://schemas.microsoft.com/office/drawing/2014/main" id="{9EFAD046-29C2-8262-5DD3-C089CE4EBE5F}"/>
                </a:ext>
              </a:extLst>
            </p:cNvPr>
            <p:cNvSpPr txBox="1"/>
            <p:nvPr/>
          </p:nvSpPr>
          <p:spPr>
            <a:xfrm>
              <a:off x="6473952" y="2935366"/>
              <a:ext cx="2441448" cy="219456"/>
            </a:xfrm>
            <a:prstGeom prst="rect">
              <a:avLst/>
            </a:prstGeom>
            <a:noFill/>
            <a:ln/>
          </p:spPr>
          <p:txBody>
            <a:bodyPr wrap="square" rtlCol="0"/>
            <a:lstStyle/>
            <a:p>
              <a:pPr algn="l"/>
              <a:r>
                <a:rPr lang="en-US" sz="950" b="0" dirty="0">
                  <a:solidFill>
                    <a:srgbClr val="085041"/>
                  </a:solidFill>
                </a:rPr>
                <a:t>Evaluates, vectorises &amp; stages rules — flags conflicts for review</a:t>
              </a:r>
            </a:p>
          </p:txBody>
        </p:sp>
        <p:sp>
          <p:nvSpPr>
            <p:cNvPr id="104" name="r">
              <a:extLst>
                <a:ext uri="{FF2B5EF4-FFF2-40B4-BE49-F238E27FC236}">
                  <a16:creationId xmlns:a16="http://schemas.microsoft.com/office/drawing/2014/main" id="{CFAAAA8E-D613-EBDB-6D4E-207B174730F3}"/>
                </a:ext>
              </a:extLst>
            </p:cNvPr>
            <p:cNvSpPr/>
            <p:nvPr/>
          </p:nvSpPr>
          <p:spPr>
            <a:xfrm>
              <a:off x="6336792" y="3236976"/>
              <a:ext cx="82296" cy="82296"/>
            </a:xfrm>
            <a:prstGeom prst="rect">
              <a:avLst/>
            </a:prstGeom>
            <a:solidFill>
              <a:srgbClr val="0F6E56"/>
            </a:solidFill>
            <a:ln w="0">
              <a:solidFill>
                <a:srgbClr val="0F6E56"/>
              </a:solidFill>
            </a:ln>
          </p:spPr>
          <p:txBody>
            <a:bodyPr/>
            <a:lstStyle/>
            <a:p>
              <a:endParaRPr lang="en-US" sz="2800"/>
            </a:p>
          </p:txBody>
        </p:sp>
        <p:sp>
          <p:nvSpPr>
            <p:cNvPr id="105" name="t">
              <a:extLst>
                <a:ext uri="{FF2B5EF4-FFF2-40B4-BE49-F238E27FC236}">
                  <a16:creationId xmlns:a16="http://schemas.microsoft.com/office/drawing/2014/main" id="{0B637348-C228-0A95-3578-E4AD0E878F7B}"/>
                </a:ext>
              </a:extLst>
            </p:cNvPr>
            <p:cNvSpPr txBox="1"/>
            <p:nvPr/>
          </p:nvSpPr>
          <p:spPr>
            <a:xfrm>
              <a:off x="6473952" y="3176364"/>
              <a:ext cx="2340864" cy="219456"/>
            </a:xfrm>
            <a:prstGeom prst="rect">
              <a:avLst/>
            </a:prstGeom>
            <a:noFill/>
            <a:ln/>
          </p:spPr>
          <p:txBody>
            <a:bodyPr wrap="square" rtlCol="0"/>
            <a:lstStyle/>
            <a:p>
              <a:pPr algn="l"/>
              <a:r>
                <a:rPr lang="en-US" sz="950" b="0" dirty="0">
                  <a:solidFill>
                    <a:srgbClr val="085041"/>
                  </a:solidFill>
                </a:rPr>
                <a:t>Auto-merges approved rules into ChromaDB — zero maintenance</a:t>
              </a:r>
            </a:p>
          </p:txBody>
        </p:sp>
      </p:grpSp>
      <p:grpSp>
        <p:nvGrpSpPr>
          <p:cNvPr id="106" name="GROUP_Distributed_">
            <a:extLst>
              <a:ext uri="{FF2B5EF4-FFF2-40B4-BE49-F238E27FC236}">
                <a16:creationId xmlns:a16="http://schemas.microsoft.com/office/drawing/2014/main" id="{D72B1D6C-5831-D016-77DE-7FD246024385}"/>
              </a:ext>
            </a:extLst>
          </p:cNvPr>
          <p:cNvGrpSpPr/>
          <p:nvPr/>
        </p:nvGrpSpPr>
        <p:grpSpPr>
          <a:xfrm>
            <a:off x="534292" y="5180216"/>
            <a:ext cx="4959991" cy="1153669"/>
            <a:chOff x="228600" y="3685032"/>
            <a:chExt cx="4229100" cy="1005840"/>
          </a:xfrm>
        </p:grpSpPr>
        <p:sp>
          <p:nvSpPr>
            <p:cNvPr id="107" name="r">
              <a:extLst>
                <a:ext uri="{FF2B5EF4-FFF2-40B4-BE49-F238E27FC236}">
                  <a16:creationId xmlns:a16="http://schemas.microsoft.com/office/drawing/2014/main" id="{C23F8235-874C-3F25-DCC8-92CF31AA839D}"/>
                </a:ext>
              </a:extLst>
            </p:cNvPr>
            <p:cNvSpPr/>
            <p:nvPr/>
          </p:nvSpPr>
          <p:spPr>
            <a:xfrm>
              <a:off x="228600" y="3685032"/>
              <a:ext cx="4229100" cy="1005840"/>
            </a:xfrm>
            <a:prstGeom prst="rect">
              <a:avLst/>
            </a:prstGeom>
            <a:solidFill>
              <a:srgbClr val="FAECE7"/>
            </a:solidFill>
            <a:ln w="9525">
              <a:solidFill>
                <a:srgbClr val="F0997B"/>
              </a:solidFill>
            </a:ln>
          </p:spPr>
          <p:txBody>
            <a:bodyPr/>
            <a:lstStyle/>
            <a:p>
              <a:endParaRPr lang="en-US" sz="3200"/>
            </a:p>
          </p:txBody>
        </p:sp>
        <p:sp>
          <p:nvSpPr>
            <p:cNvPr id="108" name="r">
              <a:extLst>
                <a:ext uri="{FF2B5EF4-FFF2-40B4-BE49-F238E27FC236}">
                  <a16:creationId xmlns:a16="http://schemas.microsoft.com/office/drawing/2014/main" id="{29EC348D-548A-D4C8-DC1B-3B8C8070471F}"/>
                </a:ext>
              </a:extLst>
            </p:cNvPr>
            <p:cNvSpPr/>
            <p:nvPr/>
          </p:nvSpPr>
          <p:spPr>
            <a:xfrm>
              <a:off x="228600" y="3685032"/>
              <a:ext cx="4229100" cy="59436"/>
            </a:xfrm>
            <a:prstGeom prst="rect">
              <a:avLst/>
            </a:prstGeom>
            <a:solidFill>
              <a:srgbClr val="993C1D"/>
            </a:solidFill>
            <a:ln w="0">
              <a:solidFill>
                <a:srgbClr val="993C1D"/>
              </a:solidFill>
            </a:ln>
          </p:spPr>
          <p:txBody>
            <a:bodyPr/>
            <a:lstStyle/>
            <a:p>
              <a:endParaRPr lang="en-US" sz="3200"/>
            </a:p>
          </p:txBody>
        </p:sp>
        <p:sp>
          <p:nvSpPr>
            <p:cNvPr id="109" name="r">
              <a:extLst>
                <a:ext uri="{FF2B5EF4-FFF2-40B4-BE49-F238E27FC236}">
                  <a16:creationId xmlns:a16="http://schemas.microsoft.com/office/drawing/2014/main" id="{587049B9-E21B-19A1-0177-0DD17EAD9323}"/>
                </a:ext>
              </a:extLst>
            </p:cNvPr>
            <p:cNvSpPr/>
            <p:nvPr/>
          </p:nvSpPr>
          <p:spPr>
            <a:xfrm>
              <a:off x="3488436" y="3758184"/>
              <a:ext cx="914400" cy="182880"/>
            </a:xfrm>
            <a:prstGeom prst="rect">
              <a:avLst/>
            </a:prstGeom>
            <a:solidFill>
              <a:srgbClr val="993C1D"/>
            </a:solidFill>
            <a:ln w="0">
              <a:solidFill>
                <a:srgbClr val="993C1D"/>
              </a:solidFill>
            </a:ln>
          </p:spPr>
          <p:txBody>
            <a:bodyPr/>
            <a:lstStyle/>
            <a:p>
              <a:endParaRPr lang="en-US" sz="3200"/>
            </a:p>
          </p:txBody>
        </p:sp>
        <p:sp>
          <p:nvSpPr>
            <p:cNvPr id="110" name="t">
              <a:extLst>
                <a:ext uri="{FF2B5EF4-FFF2-40B4-BE49-F238E27FC236}">
                  <a16:creationId xmlns:a16="http://schemas.microsoft.com/office/drawing/2014/main" id="{9613EC2E-5DEF-C889-A2BD-DC67E4C7DA7B}"/>
                </a:ext>
              </a:extLst>
            </p:cNvPr>
            <p:cNvSpPr txBox="1"/>
            <p:nvPr/>
          </p:nvSpPr>
          <p:spPr>
            <a:xfrm>
              <a:off x="3488436" y="3758184"/>
              <a:ext cx="914400" cy="182880"/>
            </a:xfrm>
            <a:prstGeom prst="rect">
              <a:avLst/>
            </a:prstGeom>
            <a:noFill/>
            <a:ln/>
          </p:spPr>
          <p:txBody>
            <a:bodyPr wrap="square" rtlCol="0"/>
            <a:lstStyle/>
            <a:p>
              <a:pPr algn="ctr"/>
              <a:r>
                <a:rPr lang="en-US" sz="1050" b="1" dirty="0">
                  <a:solidFill>
                    <a:srgbClr val="FFFFFF"/>
                  </a:solidFill>
                </a:rPr>
                <a:t>Long-term</a:t>
              </a:r>
            </a:p>
          </p:txBody>
        </p:sp>
        <p:sp>
          <p:nvSpPr>
            <p:cNvPr id="111" name="t">
              <a:extLst>
                <a:ext uri="{FF2B5EF4-FFF2-40B4-BE49-F238E27FC236}">
                  <a16:creationId xmlns:a16="http://schemas.microsoft.com/office/drawing/2014/main" id="{C22ED27A-AAB7-3BC3-8973-CAE53C6D8E0D}"/>
                </a:ext>
              </a:extLst>
            </p:cNvPr>
            <p:cNvSpPr txBox="1"/>
            <p:nvPr/>
          </p:nvSpPr>
          <p:spPr>
            <a:xfrm>
              <a:off x="356616" y="3776472"/>
              <a:ext cx="3058668" cy="237744"/>
            </a:xfrm>
            <a:prstGeom prst="rect">
              <a:avLst/>
            </a:prstGeom>
            <a:noFill/>
            <a:ln/>
          </p:spPr>
          <p:txBody>
            <a:bodyPr wrap="square" rtlCol="0"/>
            <a:lstStyle/>
            <a:p>
              <a:pPr algn="l"/>
              <a:r>
                <a:rPr lang="en-US" sz="1400" b="1" dirty="0">
                  <a:solidFill>
                    <a:srgbClr val="4A1B0C"/>
                  </a:solidFill>
                </a:rPr>
                <a:t>Distributed multi-agent</a:t>
              </a:r>
            </a:p>
          </p:txBody>
        </p:sp>
        <p:sp>
          <p:nvSpPr>
            <p:cNvPr id="112" name="r">
              <a:extLst>
                <a:ext uri="{FF2B5EF4-FFF2-40B4-BE49-F238E27FC236}">
                  <a16:creationId xmlns:a16="http://schemas.microsoft.com/office/drawing/2014/main" id="{4725EDCC-8195-83F5-2705-E59A6BDEB04D}"/>
                </a:ext>
              </a:extLst>
            </p:cNvPr>
            <p:cNvSpPr/>
            <p:nvPr/>
          </p:nvSpPr>
          <p:spPr>
            <a:xfrm>
              <a:off x="393192" y="4069080"/>
              <a:ext cx="82296" cy="82296"/>
            </a:xfrm>
            <a:prstGeom prst="rect">
              <a:avLst/>
            </a:prstGeom>
            <a:solidFill>
              <a:srgbClr val="993C1D"/>
            </a:solidFill>
            <a:ln w="0">
              <a:solidFill>
                <a:srgbClr val="993C1D"/>
              </a:solidFill>
            </a:ln>
          </p:spPr>
          <p:txBody>
            <a:bodyPr/>
            <a:lstStyle/>
            <a:p>
              <a:endParaRPr lang="en-US" sz="3200"/>
            </a:p>
          </p:txBody>
        </p:sp>
        <p:sp>
          <p:nvSpPr>
            <p:cNvPr id="113" name="t">
              <a:extLst>
                <a:ext uri="{FF2B5EF4-FFF2-40B4-BE49-F238E27FC236}">
                  <a16:creationId xmlns:a16="http://schemas.microsoft.com/office/drawing/2014/main" id="{E9A0FAB2-96E8-DD2C-CB28-1CE64D1FC242}"/>
                </a:ext>
              </a:extLst>
            </p:cNvPr>
            <p:cNvSpPr txBox="1"/>
            <p:nvPr/>
          </p:nvSpPr>
          <p:spPr>
            <a:xfrm>
              <a:off x="530352" y="4001059"/>
              <a:ext cx="3826763" cy="219456"/>
            </a:xfrm>
            <a:prstGeom prst="rect">
              <a:avLst/>
            </a:prstGeom>
            <a:noFill/>
            <a:ln/>
          </p:spPr>
          <p:txBody>
            <a:bodyPr wrap="square" rtlCol="0"/>
            <a:lstStyle/>
            <a:p>
              <a:pPr algn="l"/>
              <a:r>
                <a:rPr lang="en-US" sz="1100" b="0" dirty="0">
                  <a:solidFill>
                    <a:srgbClr val="712B13"/>
                  </a:solidFill>
                </a:rPr>
                <a:t>Horizontally scaled agent cluster for large API estates</a:t>
              </a:r>
            </a:p>
          </p:txBody>
        </p:sp>
        <p:sp>
          <p:nvSpPr>
            <p:cNvPr id="114" name="r">
              <a:extLst>
                <a:ext uri="{FF2B5EF4-FFF2-40B4-BE49-F238E27FC236}">
                  <a16:creationId xmlns:a16="http://schemas.microsoft.com/office/drawing/2014/main" id="{DD54EAA9-B044-BB57-C1A6-A4277B9E2FAE}"/>
                </a:ext>
              </a:extLst>
            </p:cNvPr>
            <p:cNvSpPr/>
            <p:nvPr/>
          </p:nvSpPr>
          <p:spPr>
            <a:xfrm>
              <a:off x="393192" y="4306824"/>
              <a:ext cx="82296" cy="82296"/>
            </a:xfrm>
            <a:prstGeom prst="rect">
              <a:avLst/>
            </a:prstGeom>
            <a:solidFill>
              <a:srgbClr val="993C1D"/>
            </a:solidFill>
            <a:ln w="0">
              <a:solidFill>
                <a:srgbClr val="993C1D"/>
              </a:solidFill>
            </a:ln>
          </p:spPr>
          <p:txBody>
            <a:bodyPr/>
            <a:lstStyle/>
            <a:p>
              <a:endParaRPr lang="en-US" sz="3200"/>
            </a:p>
          </p:txBody>
        </p:sp>
        <p:sp>
          <p:nvSpPr>
            <p:cNvPr id="115" name="t">
              <a:extLst>
                <a:ext uri="{FF2B5EF4-FFF2-40B4-BE49-F238E27FC236}">
                  <a16:creationId xmlns:a16="http://schemas.microsoft.com/office/drawing/2014/main" id="{E30DB7A9-20DF-5257-2C02-068ACF9F8DC3}"/>
                </a:ext>
              </a:extLst>
            </p:cNvPr>
            <p:cNvSpPr txBox="1"/>
            <p:nvPr/>
          </p:nvSpPr>
          <p:spPr>
            <a:xfrm>
              <a:off x="530352" y="4228144"/>
              <a:ext cx="3826763" cy="219456"/>
            </a:xfrm>
            <a:prstGeom prst="rect">
              <a:avLst/>
            </a:prstGeom>
            <a:noFill/>
            <a:ln/>
          </p:spPr>
          <p:txBody>
            <a:bodyPr wrap="square" rtlCol="0"/>
            <a:lstStyle/>
            <a:p>
              <a:pPr algn="l"/>
              <a:r>
                <a:rPr lang="en-US" sz="1100" b="0" dirty="0">
                  <a:solidFill>
                    <a:srgbClr val="712B13"/>
                  </a:solidFill>
                </a:rPr>
                <a:t>Distributed ChromaDB — millions of governance rules</a:t>
              </a:r>
            </a:p>
          </p:txBody>
        </p:sp>
        <p:sp>
          <p:nvSpPr>
            <p:cNvPr id="116" name="r">
              <a:extLst>
                <a:ext uri="{FF2B5EF4-FFF2-40B4-BE49-F238E27FC236}">
                  <a16:creationId xmlns:a16="http://schemas.microsoft.com/office/drawing/2014/main" id="{AFA0A620-6121-3B8F-151A-568184A49B88}"/>
                </a:ext>
              </a:extLst>
            </p:cNvPr>
            <p:cNvSpPr/>
            <p:nvPr/>
          </p:nvSpPr>
          <p:spPr>
            <a:xfrm>
              <a:off x="393192" y="4544568"/>
              <a:ext cx="82296" cy="82296"/>
            </a:xfrm>
            <a:prstGeom prst="rect">
              <a:avLst/>
            </a:prstGeom>
            <a:solidFill>
              <a:srgbClr val="993C1D"/>
            </a:solidFill>
            <a:ln w="0">
              <a:solidFill>
                <a:srgbClr val="993C1D"/>
              </a:solidFill>
            </a:ln>
          </p:spPr>
          <p:txBody>
            <a:bodyPr/>
            <a:lstStyle/>
            <a:p>
              <a:endParaRPr lang="en-US" sz="3200"/>
            </a:p>
          </p:txBody>
        </p:sp>
        <p:sp>
          <p:nvSpPr>
            <p:cNvPr id="117" name="t">
              <a:extLst>
                <a:ext uri="{FF2B5EF4-FFF2-40B4-BE49-F238E27FC236}">
                  <a16:creationId xmlns:a16="http://schemas.microsoft.com/office/drawing/2014/main" id="{06363AB8-1B5A-8B7B-75FA-15D7B845BBCE}"/>
                </a:ext>
              </a:extLst>
            </p:cNvPr>
            <p:cNvSpPr txBox="1"/>
            <p:nvPr/>
          </p:nvSpPr>
          <p:spPr>
            <a:xfrm>
              <a:off x="530352" y="4465890"/>
              <a:ext cx="3826763" cy="219456"/>
            </a:xfrm>
            <a:prstGeom prst="rect">
              <a:avLst/>
            </a:prstGeom>
            <a:noFill/>
            <a:ln/>
          </p:spPr>
          <p:txBody>
            <a:bodyPr wrap="square" rtlCol="0"/>
            <a:lstStyle/>
            <a:p>
              <a:pPr algn="l"/>
              <a:r>
                <a:rPr lang="en-US" sz="1100" b="0" dirty="0">
                  <a:solidFill>
                    <a:srgbClr val="712B13"/>
                  </a:solidFill>
                </a:rPr>
                <a:t>GPU-accelerated embedding generation for 10x throughput</a:t>
              </a:r>
            </a:p>
          </p:txBody>
        </p:sp>
      </p:grpSp>
      <p:grpSp>
        <p:nvGrpSpPr>
          <p:cNvPr id="118" name="GROUP_Advanced_ML_">
            <a:extLst>
              <a:ext uri="{FF2B5EF4-FFF2-40B4-BE49-F238E27FC236}">
                <a16:creationId xmlns:a16="http://schemas.microsoft.com/office/drawing/2014/main" id="{C50C8D5D-31B0-4F38-1B40-B8E9703CC271}"/>
              </a:ext>
            </a:extLst>
          </p:cNvPr>
          <p:cNvGrpSpPr/>
          <p:nvPr/>
        </p:nvGrpSpPr>
        <p:grpSpPr>
          <a:xfrm>
            <a:off x="5908369" y="5191667"/>
            <a:ext cx="5668780" cy="1142218"/>
            <a:chOff x="4686300" y="3685032"/>
            <a:chExt cx="4229100" cy="1005840"/>
          </a:xfrm>
        </p:grpSpPr>
        <p:sp>
          <p:nvSpPr>
            <p:cNvPr id="119" name="r">
              <a:extLst>
                <a:ext uri="{FF2B5EF4-FFF2-40B4-BE49-F238E27FC236}">
                  <a16:creationId xmlns:a16="http://schemas.microsoft.com/office/drawing/2014/main" id="{BA1BD465-4FB3-1592-6DEC-DA84885FFEF6}"/>
                </a:ext>
              </a:extLst>
            </p:cNvPr>
            <p:cNvSpPr/>
            <p:nvPr/>
          </p:nvSpPr>
          <p:spPr>
            <a:xfrm>
              <a:off x="4686300" y="3685032"/>
              <a:ext cx="4229100" cy="1005840"/>
            </a:xfrm>
            <a:prstGeom prst="rect">
              <a:avLst/>
            </a:prstGeom>
            <a:solidFill>
              <a:srgbClr val="FAECE7"/>
            </a:solidFill>
            <a:ln w="9525">
              <a:solidFill>
                <a:srgbClr val="F0997B"/>
              </a:solidFill>
            </a:ln>
          </p:spPr>
          <p:txBody>
            <a:bodyPr/>
            <a:lstStyle/>
            <a:p>
              <a:endParaRPr lang="en-US" sz="3200"/>
            </a:p>
          </p:txBody>
        </p:sp>
        <p:sp>
          <p:nvSpPr>
            <p:cNvPr id="120" name="r">
              <a:extLst>
                <a:ext uri="{FF2B5EF4-FFF2-40B4-BE49-F238E27FC236}">
                  <a16:creationId xmlns:a16="http://schemas.microsoft.com/office/drawing/2014/main" id="{1B300480-7F8C-FE93-452C-27517B38D5C1}"/>
                </a:ext>
              </a:extLst>
            </p:cNvPr>
            <p:cNvSpPr/>
            <p:nvPr/>
          </p:nvSpPr>
          <p:spPr>
            <a:xfrm>
              <a:off x="4686300" y="3685032"/>
              <a:ext cx="4229100" cy="59436"/>
            </a:xfrm>
            <a:prstGeom prst="rect">
              <a:avLst/>
            </a:prstGeom>
            <a:solidFill>
              <a:srgbClr val="993C1D"/>
            </a:solidFill>
            <a:ln w="0">
              <a:solidFill>
                <a:srgbClr val="993C1D"/>
              </a:solidFill>
            </a:ln>
          </p:spPr>
          <p:txBody>
            <a:bodyPr/>
            <a:lstStyle/>
            <a:p>
              <a:endParaRPr lang="en-US" sz="3200"/>
            </a:p>
          </p:txBody>
        </p:sp>
        <p:sp>
          <p:nvSpPr>
            <p:cNvPr id="121" name="r">
              <a:extLst>
                <a:ext uri="{FF2B5EF4-FFF2-40B4-BE49-F238E27FC236}">
                  <a16:creationId xmlns:a16="http://schemas.microsoft.com/office/drawing/2014/main" id="{5F64493A-1765-9A3F-A891-C927D2E5CCC1}"/>
                </a:ext>
              </a:extLst>
            </p:cNvPr>
            <p:cNvSpPr/>
            <p:nvPr/>
          </p:nvSpPr>
          <p:spPr>
            <a:xfrm>
              <a:off x="7946136" y="3758184"/>
              <a:ext cx="914400" cy="182880"/>
            </a:xfrm>
            <a:prstGeom prst="rect">
              <a:avLst/>
            </a:prstGeom>
            <a:solidFill>
              <a:srgbClr val="993C1D"/>
            </a:solidFill>
            <a:ln w="0">
              <a:solidFill>
                <a:srgbClr val="993C1D"/>
              </a:solidFill>
            </a:ln>
          </p:spPr>
          <p:txBody>
            <a:bodyPr/>
            <a:lstStyle/>
            <a:p>
              <a:endParaRPr lang="en-US" sz="3200"/>
            </a:p>
          </p:txBody>
        </p:sp>
        <p:sp>
          <p:nvSpPr>
            <p:cNvPr id="122" name="t">
              <a:extLst>
                <a:ext uri="{FF2B5EF4-FFF2-40B4-BE49-F238E27FC236}">
                  <a16:creationId xmlns:a16="http://schemas.microsoft.com/office/drawing/2014/main" id="{57B88D9B-BDF9-0764-7BA0-D63A91B6096B}"/>
                </a:ext>
              </a:extLst>
            </p:cNvPr>
            <p:cNvSpPr txBox="1"/>
            <p:nvPr/>
          </p:nvSpPr>
          <p:spPr>
            <a:xfrm>
              <a:off x="7946136" y="3758184"/>
              <a:ext cx="914400" cy="182880"/>
            </a:xfrm>
            <a:prstGeom prst="rect">
              <a:avLst/>
            </a:prstGeom>
            <a:noFill/>
            <a:ln/>
          </p:spPr>
          <p:txBody>
            <a:bodyPr wrap="square" rtlCol="0"/>
            <a:lstStyle/>
            <a:p>
              <a:pPr algn="ctr"/>
              <a:r>
                <a:rPr lang="en-US" sz="1050" b="1" dirty="0">
                  <a:solidFill>
                    <a:srgbClr val="FFFFFF"/>
                  </a:solidFill>
                </a:rPr>
                <a:t>Long-term</a:t>
              </a:r>
            </a:p>
          </p:txBody>
        </p:sp>
        <p:sp>
          <p:nvSpPr>
            <p:cNvPr id="123" name="t">
              <a:extLst>
                <a:ext uri="{FF2B5EF4-FFF2-40B4-BE49-F238E27FC236}">
                  <a16:creationId xmlns:a16="http://schemas.microsoft.com/office/drawing/2014/main" id="{6085B42D-3F88-9C70-52C6-924699B15B79}"/>
                </a:ext>
              </a:extLst>
            </p:cNvPr>
            <p:cNvSpPr txBox="1"/>
            <p:nvPr/>
          </p:nvSpPr>
          <p:spPr>
            <a:xfrm>
              <a:off x="4814316" y="3776472"/>
              <a:ext cx="3058668" cy="237744"/>
            </a:xfrm>
            <a:prstGeom prst="rect">
              <a:avLst/>
            </a:prstGeom>
            <a:noFill/>
            <a:ln/>
          </p:spPr>
          <p:txBody>
            <a:bodyPr wrap="square" rtlCol="0"/>
            <a:lstStyle/>
            <a:p>
              <a:pPr algn="l"/>
              <a:r>
                <a:rPr lang="en-US" sz="1400" b="1" dirty="0">
                  <a:solidFill>
                    <a:srgbClr val="4A1B0C"/>
                  </a:solidFill>
                </a:rPr>
                <a:t>Advanced ML governance</a:t>
              </a:r>
            </a:p>
          </p:txBody>
        </p:sp>
        <p:sp>
          <p:nvSpPr>
            <p:cNvPr id="124" name="r">
              <a:extLst>
                <a:ext uri="{FF2B5EF4-FFF2-40B4-BE49-F238E27FC236}">
                  <a16:creationId xmlns:a16="http://schemas.microsoft.com/office/drawing/2014/main" id="{C17B5284-22D1-DFB6-B88F-51B4ECBFE6E1}"/>
                </a:ext>
              </a:extLst>
            </p:cNvPr>
            <p:cNvSpPr/>
            <p:nvPr/>
          </p:nvSpPr>
          <p:spPr>
            <a:xfrm>
              <a:off x="4850892" y="4069080"/>
              <a:ext cx="82296" cy="82296"/>
            </a:xfrm>
            <a:prstGeom prst="rect">
              <a:avLst/>
            </a:prstGeom>
            <a:solidFill>
              <a:srgbClr val="993C1D"/>
            </a:solidFill>
            <a:ln w="0">
              <a:solidFill>
                <a:srgbClr val="993C1D"/>
              </a:solidFill>
            </a:ln>
          </p:spPr>
          <p:txBody>
            <a:bodyPr/>
            <a:lstStyle/>
            <a:p>
              <a:endParaRPr lang="en-US" sz="3200"/>
            </a:p>
          </p:txBody>
        </p:sp>
        <p:sp>
          <p:nvSpPr>
            <p:cNvPr id="125" name="t">
              <a:extLst>
                <a:ext uri="{FF2B5EF4-FFF2-40B4-BE49-F238E27FC236}">
                  <a16:creationId xmlns:a16="http://schemas.microsoft.com/office/drawing/2014/main" id="{D1F19F9B-93EC-CF72-1AF2-0C2E1FA125E0}"/>
                </a:ext>
              </a:extLst>
            </p:cNvPr>
            <p:cNvSpPr txBox="1"/>
            <p:nvPr/>
          </p:nvSpPr>
          <p:spPr>
            <a:xfrm>
              <a:off x="4988052" y="4002210"/>
              <a:ext cx="3826763" cy="219456"/>
            </a:xfrm>
            <a:prstGeom prst="rect">
              <a:avLst/>
            </a:prstGeom>
            <a:noFill/>
            <a:ln/>
          </p:spPr>
          <p:txBody>
            <a:bodyPr wrap="square" rtlCol="0"/>
            <a:lstStyle/>
            <a:p>
              <a:pPr algn="l"/>
              <a:r>
                <a:rPr lang="en-US" sz="1100" b="0" dirty="0">
                  <a:solidFill>
                    <a:srgbClr val="712B13"/>
                  </a:solidFill>
                </a:rPr>
                <a:t>Fine-tuned LLM on enterprise API corpus for deep insights</a:t>
              </a:r>
            </a:p>
          </p:txBody>
        </p:sp>
        <p:sp>
          <p:nvSpPr>
            <p:cNvPr id="126" name="r">
              <a:extLst>
                <a:ext uri="{FF2B5EF4-FFF2-40B4-BE49-F238E27FC236}">
                  <a16:creationId xmlns:a16="http://schemas.microsoft.com/office/drawing/2014/main" id="{FC8A1C98-E384-AF32-EB99-9A8C542EB849}"/>
                </a:ext>
              </a:extLst>
            </p:cNvPr>
            <p:cNvSpPr/>
            <p:nvPr/>
          </p:nvSpPr>
          <p:spPr>
            <a:xfrm>
              <a:off x="4850892" y="4306824"/>
              <a:ext cx="82296" cy="82296"/>
            </a:xfrm>
            <a:prstGeom prst="rect">
              <a:avLst/>
            </a:prstGeom>
            <a:solidFill>
              <a:srgbClr val="993C1D"/>
            </a:solidFill>
            <a:ln w="0">
              <a:solidFill>
                <a:srgbClr val="993C1D"/>
              </a:solidFill>
            </a:ln>
          </p:spPr>
          <p:txBody>
            <a:bodyPr/>
            <a:lstStyle/>
            <a:p>
              <a:endParaRPr lang="en-US" sz="3200"/>
            </a:p>
          </p:txBody>
        </p:sp>
        <p:sp>
          <p:nvSpPr>
            <p:cNvPr id="127" name="t">
              <a:extLst>
                <a:ext uri="{FF2B5EF4-FFF2-40B4-BE49-F238E27FC236}">
                  <a16:creationId xmlns:a16="http://schemas.microsoft.com/office/drawing/2014/main" id="{161E1088-F1FA-A470-6CE8-443F380EBDAF}"/>
                </a:ext>
              </a:extLst>
            </p:cNvPr>
            <p:cNvSpPr txBox="1"/>
            <p:nvPr/>
          </p:nvSpPr>
          <p:spPr>
            <a:xfrm>
              <a:off x="4988052" y="4225004"/>
              <a:ext cx="3826763" cy="219456"/>
            </a:xfrm>
            <a:prstGeom prst="rect">
              <a:avLst/>
            </a:prstGeom>
            <a:noFill/>
            <a:ln/>
          </p:spPr>
          <p:txBody>
            <a:bodyPr wrap="square" rtlCol="0"/>
            <a:lstStyle/>
            <a:p>
              <a:pPr algn="l"/>
              <a:r>
                <a:rPr lang="en-US" sz="1100" b="0" dirty="0">
                  <a:solidFill>
                    <a:srgbClr val="712B13"/>
                  </a:solidFill>
                </a:rPr>
                <a:t>Edge deployment — offline analysis without cloud dependency</a:t>
              </a:r>
            </a:p>
          </p:txBody>
        </p:sp>
        <p:sp>
          <p:nvSpPr>
            <p:cNvPr id="128" name="r">
              <a:extLst>
                <a:ext uri="{FF2B5EF4-FFF2-40B4-BE49-F238E27FC236}">
                  <a16:creationId xmlns:a16="http://schemas.microsoft.com/office/drawing/2014/main" id="{9AF936EE-F6C5-0C5F-267D-79D52344212D}"/>
                </a:ext>
              </a:extLst>
            </p:cNvPr>
            <p:cNvSpPr/>
            <p:nvPr/>
          </p:nvSpPr>
          <p:spPr>
            <a:xfrm>
              <a:off x="4850892" y="4544568"/>
              <a:ext cx="82296" cy="82296"/>
            </a:xfrm>
            <a:prstGeom prst="rect">
              <a:avLst/>
            </a:prstGeom>
            <a:solidFill>
              <a:srgbClr val="993C1D"/>
            </a:solidFill>
            <a:ln w="0">
              <a:solidFill>
                <a:srgbClr val="993C1D"/>
              </a:solidFill>
            </a:ln>
          </p:spPr>
          <p:txBody>
            <a:bodyPr/>
            <a:lstStyle/>
            <a:p>
              <a:endParaRPr lang="en-US" sz="3200"/>
            </a:p>
          </p:txBody>
        </p:sp>
        <p:sp>
          <p:nvSpPr>
            <p:cNvPr id="129" name="t">
              <a:extLst>
                <a:ext uri="{FF2B5EF4-FFF2-40B4-BE49-F238E27FC236}">
                  <a16:creationId xmlns:a16="http://schemas.microsoft.com/office/drawing/2014/main" id="{63F5124F-6373-791C-23C8-C3C55BAF4EC7}"/>
                </a:ext>
              </a:extLst>
            </p:cNvPr>
            <p:cNvSpPr txBox="1"/>
            <p:nvPr/>
          </p:nvSpPr>
          <p:spPr>
            <a:xfrm>
              <a:off x="4988052" y="4466488"/>
              <a:ext cx="3826763" cy="219456"/>
            </a:xfrm>
            <a:prstGeom prst="rect">
              <a:avLst/>
            </a:prstGeom>
            <a:noFill/>
            <a:ln/>
          </p:spPr>
          <p:txBody>
            <a:bodyPr wrap="square" rtlCol="0"/>
            <a:lstStyle/>
            <a:p>
              <a:pPr algn="l"/>
              <a:r>
                <a:rPr lang="en-US" sz="1100" b="0" dirty="0">
                  <a:solidFill>
                    <a:srgbClr val="712B13"/>
                  </a:solidFill>
                </a:rPr>
                <a:t>ML-based anomaly detection across API change history</a:t>
              </a:r>
            </a:p>
          </p:txBody>
        </p:sp>
      </p:grpSp>
    </p:spTree>
    <p:extLst>
      <p:ext uri="{BB962C8B-B14F-4D97-AF65-F5344CB8AC3E}">
        <p14:creationId xmlns:p14="http://schemas.microsoft.com/office/powerpoint/2010/main" val="247332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55296-5758-C3EB-C045-286784AD037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828CE4-C862-17B8-0572-C7154E834817}"/>
              </a:ext>
            </a:extLst>
          </p:cNvPr>
          <p:cNvSpPr/>
          <p:nvPr/>
        </p:nvSpPr>
        <p:spPr>
          <a:xfrm>
            <a:off x="0" y="0"/>
            <a:ext cx="12191695" cy="6858000"/>
          </a:xfrm>
          <a:prstGeom prst="rect">
            <a:avLst/>
          </a:prstGeom>
          <a:solidFill>
            <a:srgbClr val="333333"/>
          </a:solidFill>
          <a:ln/>
        </p:spPr>
        <p:txBody>
          <a:bodyPr/>
          <a:lstStyle/>
          <a:p>
            <a:endParaRPr lang="en-IN"/>
          </a:p>
        </p:txBody>
      </p:sp>
      <p:sp>
        <p:nvSpPr>
          <p:cNvPr id="3" name="Shape 1">
            <a:extLst>
              <a:ext uri="{FF2B5EF4-FFF2-40B4-BE49-F238E27FC236}">
                <a16:creationId xmlns:a16="http://schemas.microsoft.com/office/drawing/2014/main" id="{3452C340-A669-5DDC-476E-D273E66BD9E7}"/>
              </a:ext>
            </a:extLst>
          </p:cNvPr>
          <p:cNvSpPr/>
          <p:nvPr/>
        </p:nvSpPr>
        <p:spPr>
          <a:xfrm>
            <a:off x="0" y="0"/>
            <a:ext cx="12191695" cy="6858000"/>
          </a:xfrm>
          <a:prstGeom prst="rect">
            <a:avLst/>
          </a:prstGeom>
          <a:solidFill>
            <a:srgbClr val="FFFFFF"/>
          </a:solidFill>
          <a:ln/>
        </p:spPr>
        <p:txBody>
          <a:bodyPr/>
          <a:lstStyle/>
          <a:p>
            <a:endParaRPr lang="en-IN" dirty="0"/>
          </a:p>
        </p:txBody>
      </p:sp>
      <p:sp>
        <p:nvSpPr>
          <p:cNvPr id="4" name="Shape 2">
            <a:extLst>
              <a:ext uri="{FF2B5EF4-FFF2-40B4-BE49-F238E27FC236}">
                <a16:creationId xmlns:a16="http://schemas.microsoft.com/office/drawing/2014/main" id="{A2301E81-C02C-2BCE-512D-DA016B786473}"/>
              </a:ext>
            </a:extLst>
          </p:cNvPr>
          <p:cNvSpPr/>
          <p:nvPr/>
        </p:nvSpPr>
        <p:spPr>
          <a:xfrm>
            <a:off x="0" y="0"/>
            <a:ext cx="12191695" cy="114300"/>
          </a:xfrm>
          <a:prstGeom prst="rect">
            <a:avLst/>
          </a:prstGeom>
          <a:solidFill>
            <a:srgbClr val="0F62FE"/>
          </a:solidFill>
          <a:ln/>
        </p:spPr>
        <p:txBody>
          <a:bodyPr/>
          <a:lstStyle/>
          <a:p>
            <a:endParaRPr lang="en-IN"/>
          </a:p>
        </p:txBody>
      </p:sp>
      <p:sp>
        <p:nvSpPr>
          <p:cNvPr id="5" name="Shape 3">
            <a:extLst>
              <a:ext uri="{FF2B5EF4-FFF2-40B4-BE49-F238E27FC236}">
                <a16:creationId xmlns:a16="http://schemas.microsoft.com/office/drawing/2014/main" id="{088C07AF-8A05-573C-BC5B-3338EAF0D8F3}"/>
              </a:ext>
            </a:extLst>
          </p:cNvPr>
          <p:cNvSpPr/>
          <p:nvPr/>
        </p:nvSpPr>
        <p:spPr>
          <a:xfrm>
            <a:off x="0" y="1172261"/>
            <a:ext cx="12191695" cy="9144"/>
          </a:xfrm>
          <a:prstGeom prst="rect">
            <a:avLst/>
          </a:prstGeom>
          <a:solidFill>
            <a:srgbClr val="E0E0E0"/>
          </a:solidFill>
          <a:ln/>
        </p:spPr>
        <p:txBody>
          <a:bodyPr/>
          <a:lstStyle/>
          <a:p>
            <a:endParaRPr lang="en-IN"/>
          </a:p>
        </p:txBody>
      </p:sp>
      <p:sp>
        <p:nvSpPr>
          <p:cNvPr id="6" name="Text 4">
            <a:extLst>
              <a:ext uri="{FF2B5EF4-FFF2-40B4-BE49-F238E27FC236}">
                <a16:creationId xmlns:a16="http://schemas.microsoft.com/office/drawing/2014/main" id="{F4B6941C-5316-7E02-2A7F-628635A92298}"/>
              </a:ext>
            </a:extLst>
          </p:cNvPr>
          <p:cNvSpPr txBox="1"/>
          <p:nvPr/>
        </p:nvSpPr>
        <p:spPr>
          <a:xfrm>
            <a:off x="4156173" y="2503487"/>
            <a:ext cx="4183754" cy="1434604"/>
          </a:xfrm>
          <a:prstGeom prst="rect">
            <a:avLst/>
          </a:prstGeom>
          <a:noFill/>
          <a:ln/>
        </p:spPr>
        <p:txBody>
          <a:bodyPr wrap="square" lIns="0" tIns="0" rIns="0" bIns="0" rtlCol="0" anchor="ctr"/>
          <a:lstStyle/>
          <a:p>
            <a:r>
              <a:rPr lang="en-US" sz="5100" dirty="0">
                <a:solidFill>
                  <a:srgbClr val="161616"/>
                </a:solidFill>
                <a:latin typeface="IBM Plex Sans" pitchFamily="34" charset="0"/>
              </a:rPr>
              <a:t>Demo</a:t>
            </a:r>
          </a:p>
        </p:txBody>
      </p:sp>
      <p:sp>
        <p:nvSpPr>
          <p:cNvPr id="8" name="Shape 6">
            <a:extLst>
              <a:ext uri="{FF2B5EF4-FFF2-40B4-BE49-F238E27FC236}">
                <a16:creationId xmlns:a16="http://schemas.microsoft.com/office/drawing/2014/main" id="{BFA45D39-11A7-3AF1-F5F4-C54A565249B9}"/>
              </a:ext>
            </a:extLst>
          </p:cNvPr>
          <p:cNvSpPr/>
          <p:nvPr/>
        </p:nvSpPr>
        <p:spPr>
          <a:xfrm>
            <a:off x="0" y="6372454"/>
            <a:ext cx="12191695" cy="485546"/>
          </a:xfrm>
          <a:prstGeom prst="rect">
            <a:avLst/>
          </a:prstGeom>
          <a:solidFill>
            <a:srgbClr val="FFFFFF"/>
          </a:solidFill>
          <a:ln/>
        </p:spPr>
        <p:txBody>
          <a:bodyPr/>
          <a:lstStyle/>
          <a:p>
            <a:endParaRPr lang="en-IN"/>
          </a:p>
        </p:txBody>
      </p:sp>
      <p:sp>
        <p:nvSpPr>
          <p:cNvPr id="9" name="Shape 7">
            <a:extLst>
              <a:ext uri="{FF2B5EF4-FFF2-40B4-BE49-F238E27FC236}">
                <a16:creationId xmlns:a16="http://schemas.microsoft.com/office/drawing/2014/main" id="{D4509287-AC60-F0E6-F7F4-1B01C0A2A224}"/>
              </a:ext>
            </a:extLst>
          </p:cNvPr>
          <p:cNvSpPr/>
          <p:nvPr/>
        </p:nvSpPr>
        <p:spPr>
          <a:xfrm>
            <a:off x="0" y="6372454"/>
            <a:ext cx="12191695" cy="9144"/>
          </a:xfrm>
          <a:prstGeom prst="rect">
            <a:avLst/>
          </a:prstGeom>
          <a:solidFill>
            <a:srgbClr val="E0E0E0"/>
          </a:solidFill>
          <a:ln/>
        </p:spPr>
        <p:txBody>
          <a:bodyPr/>
          <a:lstStyle/>
          <a:p>
            <a:endParaRPr lang="en-IN"/>
          </a:p>
        </p:txBody>
      </p:sp>
      <p:sp>
        <p:nvSpPr>
          <p:cNvPr id="10" name="Text 8">
            <a:extLst>
              <a:ext uri="{FF2B5EF4-FFF2-40B4-BE49-F238E27FC236}">
                <a16:creationId xmlns:a16="http://schemas.microsoft.com/office/drawing/2014/main" id="{21A29793-F0C3-08F4-FDF7-34E5AB2A7494}"/>
              </a:ext>
            </a:extLst>
          </p:cNvPr>
          <p:cNvSpPr txBox="1"/>
          <p:nvPr/>
        </p:nvSpPr>
        <p:spPr>
          <a:xfrm>
            <a:off x="571500" y="6543446"/>
            <a:ext cx="1828800"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COE Automation Hackathon 2026</a:t>
            </a:r>
            <a:endParaRPr lang="en-US" sz="900" dirty="0"/>
          </a:p>
        </p:txBody>
      </p:sp>
      <p:sp>
        <p:nvSpPr>
          <p:cNvPr id="11" name="Text 9">
            <a:extLst>
              <a:ext uri="{FF2B5EF4-FFF2-40B4-BE49-F238E27FC236}">
                <a16:creationId xmlns:a16="http://schemas.microsoft.com/office/drawing/2014/main" id="{020565D9-0596-E4CF-AF20-AB90D7857D44}"/>
              </a:ext>
            </a:extLst>
          </p:cNvPr>
          <p:cNvSpPr txBox="1"/>
          <p:nvPr/>
        </p:nvSpPr>
        <p:spPr>
          <a:xfrm>
            <a:off x="10006279" y="6543446"/>
            <a:ext cx="1705356"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Confidential - Internal Use Only</a:t>
            </a:r>
            <a:endParaRPr lang="en-US" sz="900" dirty="0"/>
          </a:p>
        </p:txBody>
      </p:sp>
      <p:sp>
        <p:nvSpPr>
          <p:cNvPr id="49" name="TextBox 48">
            <a:extLst>
              <a:ext uri="{FF2B5EF4-FFF2-40B4-BE49-F238E27FC236}">
                <a16:creationId xmlns:a16="http://schemas.microsoft.com/office/drawing/2014/main" id="{93D0AA34-062C-C15C-23C6-9A0A8CFB49AF}"/>
              </a:ext>
            </a:extLst>
          </p:cNvPr>
          <p:cNvSpPr txBox="1"/>
          <p:nvPr/>
        </p:nvSpPr>
        <p:spPr>
          <a:xfrm>
            <a:off x="869937" y="1247467"/>
            <a:ext cx="9724031" cy="3683358"/>
          </a:xfrm>
          <a:prstGeom prst="rect">
            <a:avLst/>
          </a:prstGeom>
        </p:spPr>
        <p:txBody>
          <a:bodyPr vert="horz" lIns="91440" tIns="45720" rIns="91440" bIns="45720" rtlCol="0" anchor="ctr">
            <a:normAutofit/>
          </a:bodyPr>
          <a:lstStyle/>
          <a:p>
            <a:pPr marL="285750" indent="-285750">
              <a:lnSpc>
                <a:spcPct val="90000"/>
              </a:lnSpc>
              <a:spcAft>
                <a:spcPts val="600"/>
              </a:spcAft>
              <a:buFont typeface="Arial" panose="020B0604020202020204" pitchFamily="34" charset="0"/>
              <a:buChar char="•"/>
            </a:pPr>
            <a:endParaRPr lang="en-US" dirty="0"/>
          </a:p>
        </p:txBody>
      </p:sp>
    </p:spTree>
    <p:extLst>
      <p:ext uri="{BB962C8B-B14F-4D97-AF65-F5344CB8AC3E}">
        <p14:creationId xmlns:p14="http://schemas.microsoft.com/office/powerpoint/2010/main" val="310540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6497A-CA33-37AA-B5DB-A86E33737E1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3BBCB06-11D0-CEA8-5467-907FEC142E02}"/>
              </a:ext>
            </a:extLst>
          </p:cNvPr>
          <p:cNvSpPr/>
          <p:nvPr/>
        </p:nvSpPr>
        <p:spPr>
          <a:xfrm>
            <a:off x="0" y="0"/>
            <a:ext cx="12191695" cy="6858000"/>
          </a:xfrm>
          <a:prstGeom prst="rect">
            <a:avLst/>
          </a:prstGeom>
          <a:solidFill>
            <a:srgbClr val="333333"/>
          </a:solidFill>
          <a:ln/>
        </p:spPr>
        <p:txBody>
          <a:bodyPr/>
          <a:lstStyle/>
          <a:p>
            <a:endParaRPr lang="en-IN"/>
          </a:p>
        </p:txBody>
      </p:sp>
      <p:sp>
        <p:nvSpPr>
          <p:cNvPr id="3" name="Shape 1">
            <a:extLst>
              <a:ext uri="{FF2B5EF4-FFF2-40B4-BE49-F238E27FC236}">
                <a16:creationId xmlns:a16="http://schemas.microsoft.com/office/drawing/2014/main" id="{A3F5B715-2558-9EBC-67C4-29B465E2908A}"/>
              </a:ext>
            </a:extLst>
          </p:cNvPr>
          <p:cNvSpPr/>
          <p:nvPr/>
        </p:nvSpPr>
        <p:spPr>
          <a:xfrm>
            <a:off x="0" y="0"/>
            <a:ext cx="12191695" cy="6858000"/>
          </a:xfrm>
          <a:prstGeom prst="rect">
            <a:avLst/>
          </a:prstGeom>
          <a:solidFill>
            <a:srgbClr val="FFFFFF"/>
          </a:solidFill>
          <a:ln/>
        </p:spPr>
        <p:txBody>
          <a:bodyPr/>
          <a:lstStyle/>
          <a:p>
            <a:endParaRPr lang="en-IN" dirty="0"/>
          </a:p>
        </p:txBody>
      </p:sp>
      <p:sp>
        <p:nvSpPr>
          <p:cNvPr id="4" name="Shape 2">
            <a:extLst>
              <a:ext uri="{FF2B5EF4-FFF2-40B4-BE49-F238E27FC236}">
                <a16:creationId xmlns:a16="http://schemas.microsoft.com/office/drawing/2014/main" id="{40996ADE-B4C0-4760-0C9E-FF941EA1D9F8}"/>
              </a:ext>
            </a:extLst>
          </p:cNvPr>
          <p:cNvSpPr/>
          <p:nvPr/>
        </p:nvSpPr>
        <p:spPr>
          <a:xfrm>
            <a:off x="0" y="0"/>
            <a:ext cx="12191695" cy="114300"/>
          </a:xfrm>
          <a:prstGeom prst="rect">
            <a:avLst/>
          </a:prstGeom>
          <a:solidFill>
            <a:srgbClr val="0F62FE"/>
          </a:solidFill>
          <a:ln/>
        </p:spPr>
        <p:txBody>
          <a:bodyPr/>
          <a:lstStyle/>
          <a:p>
            <a:endParaRPr lang="en-IN"/>
          </a:p>
        </p:txBody>
      </p:sp>
      <p:sp>
        <p:nvSpPr>
          <p:cNvPr id="5" name="Shape 3">
            <a:extLst>
              <a:ext uri="{FF2B5EF4-FFF2-40B4-BE49-F238E27FC236}">
                <a16:creationId xmlns:a16="http://schemas.microsoft.com/office/drawing/2014/main" id="{B5C444FC-6E6C-5101-202B-CBBF2227BB2E}"/>
              </a:ext>
            </a:extLst>
          </p:cNvPr>
          <p:cNvSpPr/>
          <p:nvPr/>
        </p:nvSpPr>
        <p:spPr>
          <a:xfrm>
            <a:off x="0" y="1172261"/>
            <a:ext cx="12191695" cy="9144"/>
          </a:xfrm>
          <a:prstGeom prst="rect">
            <a:avLst/>
          </a:prstGeom>
          <a:solidFill>
            <a:srgbClr val="E0E0E0"/>
          </a:solidFill>
          <a:ln/>
        </p:spPr>
        <p:txBody>
          <a:bodyPr/>
          <a:lstStyle/>
          <a:p>
            <a:endParaRPr lang="en-IN"/>
          </a:p>
        </p:txBody>
      </p:sp>
      <p:sp>
        <p:nvSpPr>
          <p:cNvPr id="8" name="Shape 6">
            <a:extLst>
              <a:ext uri="{FF2B5EF4-FFF2-40B4-BE49-F238E27FC236}">
                <a16:creationId xmlns:a16="http://schemas.microsoft.com/office/drawing/2014/main" id="{5EEF1ADB-1B70-2B08-9AF3-39404CA8FB4D}"/>
              </a:ext>
            </a:extLst>
          </p:cNvPr>
          <p:cNvSpPr/>
          <p:nvPr/>
        </p:nvSpPr>
        <p:spPr>
          <a:xfrm>
            <a:off x="0" y="6372454"/>
            <a:ext cx="12191695" cy="485546"/>
          </a:xfrm>
          <a:prstGeom prst="rect">
            <a:avLst/>
          </a:prstGeom>
          <a:solidFill>
            <a:srgbClr val="FFFFFF"/>
          </a:solidFill>
          <a:ln/>
        </p:spPr>
        <p:txBody>
          <a:bodyPr/>
          <a:lstStyle/>
          <a:p>
            <a:endParaRPr lang="en-IN"/>
          </a:p>
        </p:txBody>
      </p:sp>
      <p:sp>
        <p:nvSpPr>
          <p:cNvPr id="9" name="Shape 7">
            <a:extLst>
              <a:ext uri="{FF2B5EF4-FFF2-40B4-BE49-F238E27FC236}">
                <a16:creationId xmlns:a16="http://schemas.microsoft.com/office/drawing/2014/main" id="{5C606256-AE77-1218-232B-6BE68DE2480F}"/>
              </a:ext>
            </a:extLst>
          </p:cNvPr>
          <p:cNvSpPr/>
          <p:nvPr/>
        </p:nvSpPr>
        <p:spPr>
          <a:xfrm>
            <a:off x="0" y="6372454"/>
            <a:ext cx="12191695" cy="9144"/>
          </a:xfrm>
          <a:prstGeom prst="rect">
            <a:avLst/>
          </a:prstGeom>
          <a:solidFill>
            <a:srgbClr val="E0E0E0"/>
          </a:solidFill>
          <a:ln/>
        </p:spPr>
        <p:txBody>
          <a:bodyPr/>
          <a:lstStyle/>
          <a:p>
            <a:endParaRPr lang="en-IN"/>
          </a:p>
        </p:txBody>
      </p:sp>
      <p:sp>
        <p:nvSpPr>
          <p:cNvPr id="10" name="Text 8">
            <a:extLst>
              <a:ext uri="{FF2B5EF4-FFF2-40B4-BE49-F238E27FC236}">
                <a16:creationId xmlns:a16="http://schemas.microsoft.com/office/drawing/2014/main" id="{4CD3D68C-5843-716A-6E92-FC5A07912A98}"/>
              </a:ext>
            </a:extLst>
          </p:cNvPr>
          <p:cNvSpPr txBox="1"/>
          <p:nvPr/>
        </p:nvSpPr>
        <p:spPr>
          <a:xfrm>
            <a:off x="571500" y="6543446"/>
            <a:ext cx="1828800"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COE Automation Hackathon 2026</a:t>
            </a:r>
            <a:endParaRPr lang="en-US" sz="900" dirty="0"/>
          </a:p>
        </p:txBody>
      </p:sp>
      <p:sp>
        <p:nvSpPr>
          <p:cNvPr id="11" name="Text 9">
            <a:extLst>
              <a:ext uri="{FF2B5EF4-FFF2-40B4-BE49-F238E27FC236}">
                <a16:creationId xmlns:a16="http://schemas.microsoft.com/office/drawing/2014/main" id="{5DF4F5EE-067C-F8B6-4293-10DE3B042551}"/>
              </a:ext>
            </a:extLst>
          </p:cNvPr>
          <p:cNvSpPr txBox="1"/>
          <p:nvPr/>
        </p:nvSpPr>
        <p:spPr>
          <a:xfrm>
            <a:off x="10006279" y="6543446"/>
            <a:ext cx="1705356"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Confidential - Internal Use Only</a:t>
            </a:r>
            <a:endParaRPr lang="en-US" sz="900" dirty="0"/>
          </a:p>
        </p:txBody>
      </p:sp>
      <p:sp>
        <p:nvSpPr>
          <p:cNvPr id="49" name="TextBox 48">
            <a:extLst>
              <a:ext uri="{FF2B5EF4-FFF2-40B4-BE49-F238E27FC236}">
                <a16:creationId xmlns:a16="http://schemas.microsoft.com/office/drawing/2014/main" id="{0D2E6DAD-9983-E9AF-4324-627471B93CCF}"/>
              </a:ext>
            </a:extLst>
          </p:cNvPr>
          <p:cNvSpPr txBox="1"/>
          <p:nvPr/>
        </p:nvSpPr>
        <p:spPr>
          <a:xfrm>
            <a:off x="869937" y="1247467"/>
            <a:ext cx="9724031" cy="3683358"/>
          </a:xfrm>
          <a:prstGeom prst="rect">
            <a:avLst/>
          </a:prstGeom>
        </p:spPr>
        <p:txBody>
          <a:bodyPr vert="horz" lIns="91440" tIns="45720" rIns="91440" bIns="45720" rtlCol="0" anchor="ctr">
            <a:normAutofit/>
          </a:bodyPr>
          <a:lstStyle/>
          <a:p>
            <a:pPr marL="285750" indent="-285750">
              <a:lnSpc>
                <a:spcPct val="90000"/>
              </a:lnSpc>
              <a:spcAft>
                <a:spcPts val="600"/>
              </a:spcAft>
              <a:buFont typeface="Arial" panose="020B0604020202020204" pitchFamily="34" charset="0"/>
              <a:buChar char="•"/>
            </a:pPr>
            <a:endParaRPr lang="en-US" dirty="0"/>
          </a:p>
        </p:txBody>
      </p:sp>
      <p:sp>
        <p:nvSpPr>
          <p:cNvPr id="7" name="Text 1">
            <a:extLst>
              <a:ext uri="{FF2B5EF4-FFF2-40B4-BE49-F238E27FC236}">
                <a16:creationId xmlns:a16="http://schemas.microsoft.com/office/drawing/2014/main" id="{B20A48EC-5262-DE9B-62D6-9B09ACD23021}"/>
              </a:ext>
            </a:extLst>
          </p:cNvPr>
          <p:cNvSpPr/>
          <p:nvPr/>
        </p:nvSpPr>
        <p:spPr>
          <a:xfrm>
            <a:off x="487680" y="268224"/>
            <a:ext cx="11216640" cy="853440"/>
          </a:xfrm>
          <a:prstGeom prst="rect">
            <a:avLst/>
          </a:prstGeom>
          <a:noFill/>
          <a:ln/>
        </p:spPr>
        <p:txBody>
          <a:bodyPr wrap="square" lIns="0" tIns="0" rIns="0" bIns="0" rtlCol="0" anchor="ctr"/>
          <a:lstStyle/>
          <a:p>
            <a:r>
              <a:rPr lang="en-US" sz="4800" dirty="0">
                <a:solidFill>
                  <a:srgbClr val="1A1A2E"/>
                </a:solidFill>
                <a:latin typeface="Calibri Light" pitchFamily="34" charset="0"/>
                <a:ea typeface="Calibri Light" pitchFamily="34" charset="-122"/>
                <a:cs typeface="Calibri Light" pitchFamily="34" charset="-120"/>
              </a:rPr>
              <a:t>Thank You</a:t>
            </a:r>
            <a:endParaRPr lang="en-US" sz="4800" dirty="0"/>
          </a:p>
        </p:txBody>
      </p:sp>
      <p:sp>
        <p:nvSpPr>
          <p:cNvPr id="12" name="Shape 5">
            <a:extLst>
              <a:ext uri="{FF2B5EF4-FFF2-40B4-BE49-F238E27FC236}">
                <a16:creationId xmlns:a16="http://schemas.microsoft.com/office/drawing/2014/main" id="{F264C350-790C-B6CF-1332-7C912C88C4D5}"/>
              </a:ext>
            </a:extLst>
          </p:cNvPr>
          <p:cNvSpPr/>
          <p:nvPr/>
        </p:nvSpPr>
        <p:spPr>
          <a:xfrm>
            <a:off x="487680" y="2493000"/>
            <a:ext cx="5242560" cy="3108960"/>
          </a:xfrm>
          <a:prstGeom prst="rect">
            <a:avLst/>
          </a:prstGeom>
          <a:solidFill>
            <a:srgbClr val="FFF2CC"/>
          </a:solidFill>
          <a:ln w="19050">
            <a:solidFill>
              <a:srgbClr val="843C0C"/>
            </a:solidFill>
            <a:prstDash val="solid"/>
          </a:ln>
        </p:spPr>
        <p:txBody>
          <a:bodyPr/>
          <a:lstStyle/>
          <a:p>
            <a:endParaRPr lang="en-US"/>
          </a:p>
        </p:txBody>
      </p:sp>
      <p:sp>
        <p:nvSpPr>
          <p:cNvPr id="13" name="Shape 6">
            <a:extLst>
              <a:ext uri="{FF2B5EF4-FFF2-40B4-BE49-F238E27FC236}">
                <a16:creationId xmlns:a16="http://schemas.microsoft.com/office/drawing/2014/main" id="{80664EAC-6B4B-76A4-CCC3-4DC8A70D192F}"/>
              </a:ext>
            </a:extLst>
          </p:cNvPr>
          <p:cNvSpPr/>
          <p:nvPr/>
        </p:nvSpPr>
        <p:spPr>
          <a:xfrm>
            <a:off x="670560" y="2432040"/>
            <a:ext cx="2194560" cy="463296"/>
          </a:xfrm>
          <a:prstGeom prst="roundRect">
            <a:avLst>
              <a:gd name="adj" fmla="val 13158"/>
            </a:avLst>
          </a:prstGeom>
          <a:solidFill>
            <a:srgbClr val="843C0C"/>
          </a:solidFill>
          <a:ln w="12700">
            <a:solidFill>
              <a:srgbClr val="843C0C"/>
            </a:solidFill>
            <a:prstDash val="solid"/>
          </a:ln>
        </p:spPr>
        <p:txBody>
          <a:bodyPr/>
          <a:lstStyle/>
          <a:p>
            <a:endParaRPr lang="en-US"/>
          </a:p>
        </p:txBody>
      </p:sp>
      <p:sp>
        <p:nvSpPr>
          <p:cNvPr id="14" name="Text 7">
            <a:extLst>
              <a:ext uri="{FF2B5EF4-FFF2-40B4-BE49-F238E27FC236}">
                <a16:creationId xmlns:a16="http://schemas.microsoft.com/office/drawing/2014/main" id="{A36DA2F0-B276-7D80-CD56-3050A5F44CF8}"/>
              </a:ext>
            </a:extLst>
          </p:cNvPr>
          <p:cNvSpPr/>
          <p:nvPr/>
        </p:nvSpPr>
        <p:spPr>
          <a:xfrm>
            <a:off x="670560" y="2432040"/>
            <a:ext cx="2194560" cy="463296"/>
          </a:xfrm>
          <a:prstGeom prst="rect">
            <a:avLst/>
          </a:prstGeom>
          <a:noFill/>
          <a:ln/>
        </p:spPr>
        <p:txBody>
          <a:bodyPr wrap="square" lIns="0" tIns="0" rIns="0" bIns="0" rtlCol="0" anchor="ctr"/>
          <a:lstStyle/>
          <a:p>
            <a:pPr algn="ctr"/>
            <a:r>
              <a:rPr lang="en-US" sz="1467" b="1" dirty="0">
                <a:solidFill>
                  <a:srgbClr val="FFFFFF"/>
                </a:solidFill>
              </a:rPr>
              <a:t>Manual Review</a:t>
            </a:r>
            <a:endParaRPr lang="en-US" sz="1467" dirty="0"/>
          </a:p>
        </p:txBody>
      </p:sp>
      <p:sp>
        <p:nvSpPr>
          <p:cNvPr id="15" name="Text 8">
            <a:extLst>
              <a:ext uri="{FF2B5EF4-FFF2-40B4-BE49-F238E27FC236}">
                <a16:creationId xmlns:a16="http://schemas.microsoft.com/office/drawing/2014/main" id="{CAAB4395-B901-678D-8374-B0600E90D853}"/>
              </a:ext>
            </a:extLst>
          </p:cNvPr>
          <p:cNvSpPr/>
          <p:nvPr/>
        </p:nvSpPr>
        <p:spPr>
          <a:xfrm>
            <a:off x="487680" y="2834376"/>
            <a:ext cx="5242560" cy="731520"/>
          </a:xfrm>
          <a:prstGeom prst="rect">
            <a:avLst/>
          </a:prstGeom>
          <a:noFill/>
          <a:ln/>
        </p:spPr>
        <p:txBody>
          <a:bodyPr wrap="square" lIns="0" tIns="0" rIns="0" bIns="0" rtlCol="0" anchor="ctr"/>
          <a:lstStyle/>
          <a:p>
            <a:pPr algn="ctr"/>
            <a:r>
              <a:rPr lang="en-US" sz="3733" b="1" dirty="0">
                <a:solidFill>
                  <a:srgbClr val="C00000"/>
                </a:solidFill>
              </a:rPr>
              <a:t>✕</a:t>
            </a:r>
            <a:endParaRPr lang="en-US" sz="3733" dirty="0"/>
          </a:p>
        </p:txBody>
      </p:sp>
      <p:sp>
        <p:nvSpPr>
          <p:cNvPr id="16" name="Text 9">
            <a:extLst>
              <a:ext uri="{FF2B5EF4-FFF2-40B4-BE49-F238E27FC236}">
                <a16:creationId xmlns:a16="http://schemas.microsoft.com/office/drawing/2014/main" id="{01A4CE07-927B-E81F-616C-0C325FAC01CA}"/>
              </a:ext>
            </a:extLst>
          </p:cNvPr>
          <p:cNvSpPr/>
          <p:nvPr/>
        </p:nvSpPr>
        <p:spPr>
          <a:xfrm>
            <a:off x="487680" y="3529320"/>
            <a:ext cx="5242560" cy="731520"/>
          </a:xfrm>
          <a:prstGeom prst="rect">
            <a:avLst/>
          </a:prstGeom>
          <a:noFill/>
          <a:ln/>
        </p:spPr>
        <p:txBody>
          <a:bodyPr wrap="square" lIns="0" tIns="0" rIns="0" bIns="0" rtlCol="0" anchor="ctr"/>
          <a:lstStyle/>
          <a:p>
            <a:pPr algn="ctr"/>
            <a:r>
              <a:rPr lang="en-US" sz="4267" b="1" dirty="0">
                <a:solidFill>
                  <a:srgbClr val="843C0C"/>
                </a:solidFill>
              </a:rPr>
              <a:t>4 – 8 Hours</a:t>
            </a:r>
            <a:endParaRPr lang="en-US" sz="4267" dirty="0"/>
          </a:p>
        </p:txBody>
      </p:sp>
      <p:sp>
        <p:nvSpPr>
          <p:cNvPr id="17" name="Text 10">
            <a:extLst>
              <a:ext uri="{FF2B5EF4-FFF2-40B4-BE49-F238E27FC236}">
                <a16:creationId xmlns:a16="http://schemas.microsoft.com/office/drawing/2014/main" id="{5D8AC78F-4615-F34F-2635-3B0E1ACDD0B4}"/>
              </a:ext>
            </a:extLst>
          </p:cNvPr>
          <p:cNvSpPr/>
          <p:nvPr/>
        </p:nvSpPr>
        <p:spPr>
          <a:xfrm>
            <a:off x="487680" y="4297416"/>
            <a:ext cx="5242560" cy="426720"/>
          </a:xfrm>
          <a:prstGeom prst="rect">
            <a:avLst/>
          </a:prstGeom>
          <a:noFill/>
          <a:ln/>
        </p:spPr>
        <p:txBody>
          <a:bodyPr wrap="square" lIns="0" tIns="0" rIns="0" bIns="0" rtlCol="0" anchor="ctr"/>
          <a:lstStyle/>
          <a:p>
            <a:pPr algn="ctr"/>
            <a:r>
              <a:rPr lang="en-US" sz="1467" i="1" dirty="0">
                <a:solidFill>
                  <a:srgbClr val="595959"/>
                </a:solidFill>
              </a:rPr>
              <a:t>Slow  ·  Inconsistent  ·  Unscalable</a:t>
            </a:r>
            <a:endParaRPr lang="en-US" sz="1467" dirty="0"/>
          </a:p>
        </p:txBody>
      </p:sp>
      <p:sp>
        <p:nvSpPr>
          <p:cNvPr id="18" name="Text 11">
            <a:extLst>
              <a:ext uri="{FF2B5EF4-FFF2-40B4-BE49-F238E27FC236}">
                <a16:creationId xmlns:a16="http://schemas.microsoft.com/office/drawing/2014/main" id="{E04FEF8D-4412-75DF-A191-1FD8E8D929B6}"/>
              </a:ext>
            </a:extLst>
          </p:cNvPr>
          <p:cNvSpPr/>
          <p:nvPr/>
        </p:nvSpPr>
        <p:spPr>
          <a:xfrm>
            <a:off x="487680" y="4687560"/>
            <a:ext cx="5242560" cy="609600"/>
          </a:xfrm>
          <a:prstGeom prst="rect">
            <a:avLst/>
          </a:prstGeom>
          <a:noFill/>
          <a:ln/>
        </p:spPr>
        <p:txBody>
          <a:bodyPr wrap="square" lIns="0" tIns="0" rIns="0" bIns="0" rtlCol="0" anchor="ctr"/>
          <a:lstStyle/>
          <a:p>
            <a:pPr algn="ctr"/>
            <a:r>
              <a:rPr lang="en-US" sz="1333" dirty="0">
                <a:solidFill>
                  <a:srgbClr val="595959"/>
                </a:solidFill>
              </a:rPr>
              <a:t>Manual effort, inconsistent standards,</a:t>
            </a:r>
            <a:endParaRPr lang="en-US" sz="1333" dirty="0"/>
          </a:p>
          <a:p>
            <a:pPr algn="ctr"/>
            <a:r>
              <a:rPr lang="en-US" sz="1333" dirty="0">
                <a:solidFill>
                  <a:srgbClr val="595959"/>
                </a:solidFill>
              </a:rPr>
              <a:t>constant review bottlenecks</a:t>
            </a:r>
            <a:endParaRPr lang="en-US" sz="1333" dirty="0"/>
          </a:p>
        </p:txBody>
      </p:sp>
      <p:sp>
        <p:nvSpPr>
          <p:cNvPr id="19" name="Text 12">
            <a:extLst>
              <a:ext uri="{FF2B5EF4-FFF2-40B4-BE49-F238E27FC236}">
                <a16:creationId xmlns:a16="http://schemas.microsoft.com/office/drawing/2014/main" id="{D510A7F3-4C2A-A2BE-0FAE-0464CABF26E2}"/>
              </a:ext>
            </a:extLst>
          </p:cNvPr>
          <p:cNvSpPr/>
          <p:nvPr/>
        </p:nvSpPr>
        <p:spPr>
          <a:xfrm>
            <a:off x="5730240" y="3567093"/>
            <a:ext cx="731520" cy="609600"/>
          </a:xfrm>
          <a:prstGeom prst="rect">
            <a:avLst/>
          </a:prstGeom>
          <a:noFill/>
          <a:ln/>
        </p:spPr>
        <p:txBody>
          <a:bodyPr wrap="square" lIns="0" tIns="0" rIns="0" bIns="0" rtlCol="0" anchor="ctr"/>
          <a:lstStyle/>
          <a:p>
            <a:pPr algn="ctr"/>
            <a:r>
              <a:rPr lang="en-US" sz="1867" b="1" dirty="0">
                <a:solidFill>
                  <a:srgbClr val="BFBFBF"/>
                </a:solidFill>
              </a:rPr>
              <a:t>VS</a:t>
            </a:r>
            <a:endParaRPr lang="en-US" sz="1867" dirty="0"/>
          </a:p>
        </p:txBody>
      </p:sp>
      <p:sp>
        <p:nvSpPr>
          <p:cNvPr id="20" name="Shape 13">
            <a:extLst>
              <a:ext uri="{FF2B5EF4-FFF2-40B4-BE49-F238E27FC236}">
                <a16:creationId xmlns:a16="http://schemas.microsoft.com/office/drawing/2014/main" id="{EB1B5634-FB58-5EC7-573F-85758ACD0DC3}"/>
              </a:ext>
            </a:extLst>
          </p:cNvPr>
          <p:cNvSpPr/>
          <p:nvPr/>
        </p:nvSpPr>
        <p:spPr>
          <a:xfrm>
            <a:off x="6461760" y="2493000"/>
            <a:ext cx="5242560" cy="3108960"/>
          </a:xfrm>
          <a:prstGeom prst="rect">
            <a:avLst/>
          </a:prstGeom>
          <a:solidFill>
            <a:srgbClr val="EBF3FB"/>
          </a:solidFill>
          <a:ln w="19050">
            <a:solidFill>
              <a:srgbClr val="4472C4"/>
            </a:solidFill>
            <a:prstDash val="solid"/>
          </a:ln>
        </p:spPr>
        <p:txBody>
          <a:bodyPr/>
          <a:lstStyle/>
          <a:p>
            <a:endParaRPr lang="en-US"/>
          </a:p>
        </p:txBody>
      </p:sp>
      <p:sp>
        <p:nvSpPr>
          <p:cNvPr id="21" name="Shape 14">
            <a:extLst>
              <a:ext uri="{FF2B5EF4-FFF2-40B4-BE49-F238E27FC236}">
                <a16:creationId xmlns:a16="http://schemas.microsoft.com/office/drawing/2014/main" id="{FDCF5B33-1948-63ED-558E-8729FBBACF32}"/>
              </a:ext>
            </a:extLst>
          </p:cNvPr>
          <p:cNvSpPr/>
          <p:nvPr/>
        </p:nvSpPr>
        <p:spPr>
          <a:xfrm>
            <a:off x="6644640" y="2432040"/>
            <a:ext cx="2194560" cy="463296"/>
          </a:xfrm>
          <a:prstGeom prst="roundRect">
            <a:avLst>
              <a:gd name="adj" fmla="val 13158"/>
            </a:avLst>
          </a:prstGeom>
          <a:solidFill>
            <a:srgbClr val="203864"/>
          </a:solidFill>
          <a:ln w="12700">
            <a:solidFill>
              <a:srgbClr val="203864"/>
            </a:solidFill>
            <a:prstDash val="solid"/>
          </a:ln>
        </p:spPr>
        <p:txBody>
          <a:bodyPr/>
          <a:lstStyle/>
          <a:p>
            <a:endParaRPr lang="en-US"/>
          </a:p>
        </p:txBody>
      </p:sp>
      <p:sp>
        <p:nvSpPr>
          <p:cNvPr id="22" name="Text 15">
            <a:extLst>
              <a:ext uri="{FF2B5EF4-FFF2-40B4-BE49-F238E27FC236}">
                <a16:creationId xmlns:a16="http://schemas.microsoft.com/office/drawing/2014/main" id="{1F17EE20-9867-367D-DE88-0BC0647E01BA}"/>
              </a:ext>
            </a:extLst>
          </p:cNvPr>
          <p:cNvSpPr/>
          <p:nvPr/>
        </p:nvSpPr>
        <p:spPr>
          <a:xfrm>
            <a:off x="6644640" y="2499360"/>
            <a:ext cx="2194560" cy="463296"/>
          </a:xfrm>
          <a:prstGeom prst="rect">
            <a:avLst/>
          </a:prstGeom>
          <a:noFill/>
          <a:ln/>
        </p:spPr>
        <p:txBody>
          <a:bodyPr wrap="square" lIns="0" tIns="0" rIns="0" bIns="0" rtlCol="0" anchor="ctr"/>
          <a:lstStyle/>
          <a:p>
            <a:pPr algn="ctr"/>
            <a:r>
              <a:rPr lang="en-US" sz="1467" b="1" dirty="0">
                <a:solidFill>
                  <a:srgbClr val="FFFFFF"/>
                </a:solidFill>
              </a:rPr>
              <a:t>SpecSentinel</a:t>
            </a:r>
            <a:endParaRPr lang="en-US" sz="1467" dirty="0"/>
          </a:p>
        </p:txBody>
      </p:sp>
      <p:sp>
        <p:nvSpPr>
          <p:cNvPr id="23" name="Text 16">
            <a:extLst>
              <a:ext uri="{FF2B5EF4-FFF2-40B4-BE49-F238E27FC236}">
                <a16:creationId xmlns:a16="http://schemas.microsoft.com/office/drawing/2014/main" id="{93AEE782-8778-0461-7141-063B8B5EB014}"/>
              </a:ext>
            </a:extLst>
          </p:cNvPr>
          <p:cNvSpPr/>
          <p:nvPr/>
        </p:nvSpPr>
        <p:spPr>
          <a:xfrm>
            <a:off x="6461760" y="2834376"/>
            <a:ext cx="5242560" cy="731520"/>
          </a:xfrm>
          <a:prstGeom prst="rect">
            <a:avLst/>
          </a:prstGeom>
          <a:noFill/>
          <a:ln/>
        </p:spPr>
        <p:txBody>
          <a:bodyPr wrap="square" lIns="0" tIns="0" rIns="0" bIns="0" rtlCol="0" anchor="ctr"/>
          <a:lstStyle/>
          <a:p>
            <a:pPr algn="ctr"/>
            <a:r>
              <a:rPr lang="en-US" sz="3733" b="1" dirty="0">
                <a:solidFill>
                  <a:srgbClr val="375623"/>
                </a:solidFill>
              </a:rPr>
              <a:t>✓</a:t>
            </a:r>
            <a:endParaRPr lang="en-US" sz="3733" dirty="0"/>
          </a:p>
        </p:txBody>
      </p:sp>
      <p:sp>
        <p:nvSpPr>
          <p:cNvPr id="24" name="Text 17">
            <a:extLst>
              <a:ext uri="{FF2B5EF4-FFF2-40B4-BE49-F238E27FC236}">
                <a16:creationId xmlns:a16="http://schemas.microsoft.com/office/drawing/2014/main" id="{7E29D368-AE17-6597-A71D-F26127092CBC}"/>
              </a:ext>
            </a:extLst>
          </p:cNvPr>
          <p:cNvSpPr/>
          <p:nvPr/>
        </p:nvSpPr>
        <p:spPr>
          <a:xfrm>
            <a:off x="6461760" y="3529320"/>
            <a:ext cx="5242560" cy="731520"/>
          </a:xfrm>
          <a:prstGeom prst="rect">
            <a:avLst/>
          </a:prstGeom>
          <a:noFill/>
          <a:ln/>
        </p:spPr>
        <p:txBody>
          <a:bodyPr wrap="square" lIns="0" tIns="0" rIns="0" bIns="0" rtlCol="0" anchor="ctr"/>
          <a:lstStyle/>
          <a:p>
            <a:pPr algn="ctr"/>
            <a:r>
              <a:rPr lang="en-US" sz="4267" b="1" dirty="0">
                <a:solidFill>
                  <a:srgbClr val="203864"/>
                </a:solidFill>
              </a:rPr>
              <a:t>4-8 Seconds</a:t>
            </a:r>
            <a:endParaRPr lang="en-US" sz="4267" dirty="0"/>
          </a:p>
        </p:txBody>
      </p:sp>
      <p:sp>
        <p:nvSpPr>
          <p:cNvPr id="25" name="Text 18">
            <a:extLst>
              <a:ext uri="{FF2B5EF4-FFF2-40B4-BE49-F238E27FC236}">
                <a16:creationId xmlns:a16="http://schemas.microsoft.com/office/drawing/2014/main" id="{6668038F-0F40-2478-82C0-DF6178225F9A}"/>
              </a:ext>
            </a:extLst>
          </p:cNvPr>
          <p:cNvSpPr/>
          <p:nvPr/>
        </p:nvSpPr>
        <p:spPr>
          <a:xfrm>
            <a:off x="6461760" y="4297416"/>
            <a:ext cx="5242560" cy="426720"/>
          </a:xfrm>
          <a:prstGeom prst="rect">
            <a:avLst/>
          </a:prstGeom>
          <a:noFill/>
          <a:ln/>
        </p:spPr>
        <p:txBody>
          <a:bodyPr wrap="square" lIns="0" tIns="0" rIns="0" bIns="0" rtlCol="0" anchor="ctr"/>
          <a:lstStyle/>
          <a:p>
            <a:pPr algn="ctr"/>
            <a:r>
              <a:rPr lang="en-US" sz="1467" i="1" dirty="0">
                <a:solidFill>
                  <a:srgbClr val="595959"/>
                </a:solidFill>
              </a:rPr>
              <a:t>Autonomous  ·  Intelligent  ·  Scalable</a:t>
            </a:r>
            <a:endParaRPr lang="en-US" sz="1467" dirty="0"/>
          </a:p>
        </p:txBody>
      </p:sp>
      <p:sp>
        <p:nvSpPr>
          <p:cNvPr id="26" name="Text 19">
            <a:extLst>
              <a:ext uri="{FF2B5EF4-FFF2-40B4-BE49-F238E27FC236}">
                <a16:creationId xmlns:a16="http://schemas.microsoft.com/office/drawing/2014/main" id="{95E9E1C3-913A-619B-1F52-4D95C691F448}"/>
              </a:ext>
            </a:extLst>
          </p:cNvPr>
          <p:cNvSpPr/>
          <p:nvPr/>
        </p:nvSpPr>
        <p:spPr>
          <a:xfrm>
            <a:off x="6461760" y="4687560"/>
            <a:ext cx="5242560" cy="609600"/>
          </a:xfrm>
          <a:prstGeom prst="rect">
            <a:avLst/>
          </a:prstGeom>
          <a:noFill/>
          <a:ln/>
        </p:spPr>
        <p:txBody>
          <a:bodyPr wrap="square" lIns="0" tIns="0" rIns="0" bIns="0" rtlCol="0" anchor="ctr"/>
          <a:lstStyle/>
          <a:p>
            <a:pPr algn="ctr"/>
            <a:r>
              <a:rPr lang="en-US" sz="1333" dirty="0">
                <a:solidFill>
                  <a:srgbClr val="595959"/>
                </a:solidFill>
              </a:rPr>
              <a:t>Agentic governance, OWASP-aligned,</a:t>
            </a:r>
            <a:endParaRPr lang="en-US" sz="1333" dirty="0"/>
          </a:p>
          <a:p>
            <a:pPr algn="ctr"/>
            <a:r>
              <a:rPr lang="en-US" sz="1333" dirty="0">
                <a:solidFill>
                  <a:srgbClr val="595959"/>
                </a:solidFill>
              </a:rPr>
              <a:t>zero manual effort required</a:t>
            </a:r>
            <a:endParaRPr lang="en-US" sz="1333" dirty="0"/>
          </a:p>
        </p:txBody>
      </p:sp>
      <p:sp>
        <p:nvSpPr>
          <p:cNvPr id="27" name="Shape 20">
            <a:extLst>
              <a:ext uri="{FF2B5EF4-FFF2-40B4-BE49-F238E27FC236}">
                <a16:creationId xmlns:a16="http://schemas.microsoft.com/office/drawing/2014/main" id="{307809A2-514D-0A5C-4B19-EE986182C503}"/>
              </a:ext>
            </a:extLst>
          </p:cNvPr>
          <p:cNvSpPr/>
          <p:nvPr/>
        </p:nvSpPr>
        <p:spPr>
          <a:xfrm>
            <a:off x="487680" y="5707050"/>
            <a:ext cx="11216640" cy="633984"/>
          </a:xfrm>
          <a:prstGeom prst="rect">
            <a:avLst/>
          </a:prstGeom>
          <a:solidFill>
            <a:srgbClr val="4472C4"/>
          </a:solidFill>
          <a:ln w="12700">
            <a:solidFill>
              <a:srgbClr val="4472C4"/>
            </a:solidFill>
            <a:prstDash val="solid"/>
          </a:ln>
        </p:spPr>
        <p:txBody>
          <a:bodyPr/>
          <a:lstStyle/>
          <a:p>
            <a:endParaRPr lang="en-US"/>
          </a:p>
        </p:txBody>
      </p:sp>
      <p:sp>
        <p:nvSpPr>
          <p:cNvPr id="28" name="Text 21">
            <a:extLst>
              <a:ext uri="{FF2B5EF4-FFF2-40B4-BE49-F238E27FC236}">
                <a16:creationId xmlns:a16="http://schemas.microsoft.com/office/drawing/2014/main" id="{849AADD7-39B4-A080-3749-7EEF73F63DF9}"/>
              </a:ext>
            </a:extLst>
          </p:cNvPr>
          <p:cNvSpPr/>
          <p:nvPr/>
        </p:nvSpPr>
        <p:spPr>
          <a:xfrm>
            <a:off x="487680" y="5707050"/>
            <a:ext cx="11216640" cy="633984"/>
          </a:xfrm>
          <a:prstGeom prst="rect">
            <a:avLst/>
          </a:prstGeom>
          <a:noFill/>
          <a:ln/>
        </p:spPr>
        <p:txBody>
          <a:bodyPr wrap="square" lIns="0" tIns="0" rIns="0" bIns="0" rtlCol="0" anchor="ctr"/>
          <a:lstStyle/>
          <a:p>
            <a:pPr algn="ctr"/>
            <a:r>
              <a:rPr lang="en-US" sz="1733" b="1" dirty="0">
                <a:solidFill>
                  <a:srgbClr val="FFFFFF"/>
                </a:solidFill>
              </a:rPr>
              <a:t>SpecSentinel  —  Agentic Governance for the API-First Enterprise  |  Powered by IBM watsonx.ai</a:t>
            </a:r>
            <a:endParaRPr lang="en-US" sz="1733" dirty="0"/>
          </a:p>
        </p:txBody>
      </p:sp>
      <p:sp>
        <p:nvSpPr>
          <p:cNvPr id="31" name="Shape 3">
            <a:extLst>
              <a:ext uri="{FF2B5EF4-FFF2-40B4-BE49-F238E27FC236}">
                <a16:creationId xmlns:a16="http://schemas.microsoft.com/office/drawing/2014/main" id="{AF346D54-76F0-C4A7-A538-9C741F4B45D3}"/>
              </a:ext>
            </a:extLst>
          </p:cNvPr>
          <p:cNvSpPr/>
          <p:nvPr/>
        </p:nvSpPr>
        <p:spPr>
          <a:xfrm>
            <a:off x="488611" y="1252295"/>
            <a:ext cx="11216640" cy="1072896"/>
          </a:xfrm>
          <a:prstGeom prst="rect">
            <a:avLst/>
          </a:prstGeom>
          <a:solidFill>
            <a:srgbClr val="203864"/>
          </a:solidFill>
          <a:ln w="12700">
            <a:solidFill>
              <a:srgbClr val="203864"/>
            </a:solidFill>
            <a:prstDash val="solid"/>
          </a:ln>
        </p:spPr>
        <p:txBody>
          <a:bodyPr/>
          <a:lstStyle/>
          <a:p>
            <a:endParaRPr lang="en-US"/>
          </a:p>
        </p:txBody>
      </p:sp>
      <p:sp>
        <p:nvSpPr>
          <p:cNvPr id="30" name="Text 4">
            <a:extLst>
              <a:ext uri="{FF2B5EF4-FFF2-40B4-BE49-F238E27FC236}">
                <a16:creationId xmlns:a16="http://schemas.microsoft.com/office/drawing/2014/main" id="{0B6E7392-73D6-397D-BE45-07807C5A316C}"/>
              </a:ext>
            </a:extLst>
          </p:cNvPr>
          <p:cNvSpPr/>
          <p:nvPr/>
        </p:nvSpPr>
        <p:spPr>
          <a:xfrm>
            <a:off x="487680" y="1268190"/>
            <a:ext cx="11216640" cy="1072896"/>
          </a:xfrm>
          <a:prstGeom prst="rect">
            <a:avLst/>
          </a:prstGeom>
          <a:noFill/>
          <a:ln/>
        </p:spPr>
        <p:txBody>
          <a:bodyPr wrap="square" lIns="0" tIns="0" rIns="0" bIns="0" rtlCol="0" anchor="ctr"/>
          <a:lstStyle/>
          <a:p>
            <a:pPr algn="ctr"/>
            <a:r>
              <a:rPr lang="en-US" sz="2000" b="1" dirty="0">
                <a:solidFill>
                  <a:srgbClr val="FFFFFF"/>
                </a:solidFill>
              </a:rPr>
              <a:t>The API economy is growing faster than human reviewers can keep up.</a:t>
            </a:r>
            <a:endParaRPr lang="en-US" sz="2000" dirty="0"/>
          </a:p>
          <a:p>
            <a:pPr algn="ctr"/>
            <a:r>
              <a:rPr lang="en-US" sz="2000" b="1" dirty="0">
                <a:solidFill>
                  <a:srgbClr val="FFFFFF"/>
                </a:solidFill>
              </a:rPr>
              <a:t>It’s time to let agents govern at agent speed.</a:t>
            </a:r>
            <a:endParaRPr lang="en-US" sz="2000" dirty="0"/>
          </a:p>
        </p:txBody>
      </p:sp>
    </p:spTree>
    <p:extLst>
      <p:ext uri="{BB962C8B-B14F-4D97-AF65-F5344CB8AC3E}">
        <p14:creationId xmlns:p14="http://schemas.microsoft.com/office/powerpoint/2010/main" val="822753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CC65F-C195-E666-A9F2-9C358CE300E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3E14045-FBC3-60B4-1EF4-ACD825A08550}"/>
              </a:ext>
            </a:extLst>
          </p:cNvPr>
          <p:cNvSpPr/>
          <p:nvPr/>
        </p:nvSpPr>
        <p:spPr>
          <a:xfrm>
            <a:off x="0" y="0"/>
            <a:ext cx="12191695" cy="6858000"/>
          </a:xfrm>
          <a:prstGeom prst="rect">
            <a:avLst/>
          </a:prstGeom>
          <a:solidFill>
            <a:srgbClr val="333333"/>
          </a:solidFill>
          <a:ln/>
        </p:spPr>
        <p:txBody>
          <a:bodyPr/>
          <a:lstStyle/>
          <a:p>
            <a:endParaRPr lang="en-IN"/>
          </a:p>
        </p:txBody>
      </p:sp>
      <p:sp>
        <p:nvSpPr>
          <p:cNvPr id="3" name="Shape 1">
            <a:extLst>
              <a:ext uri="{FF2B5EF4-FFF2-40B4-BE49-F238E27FC236}">
                <a16:creationId xmlns:a16="http://schemas.microsoft.com/office/drawing/2014/main" id="{FE81C1F9-53A2-7CB8-2160-575D5ABC1029}"/>
              </a:ext>
            </a:extLst>
          </p:cNvPr>
          <p:cNvSpPr/>
          <p:nvPr/>
        </p:nvSpPr>
        <p:spPr>
          <a:xfrm>
            <a:off x="0" y="0"/>
            <a:ext cx="12191695" cy="6858000"/>
          </a:xfrm>
          <a:prstGeom prst="rect">
            <a:avLst/>
          </a:prstGeom>
          <a:solidFill>
            <a:srgbClr val="FFFFFF"/>
          </a:solidFill>
          <a:ln/>
        </p:spPr>
        <p:txBody>
          <a:bodyPr/>
          <a:lstStyle/>
          <a:p>
            <a:endParaRPr lang="en-IN" dirty="0"/>
          </a:p>
        </p:txBody>
      </p:sp>
      <p:sp>
        <p:nvSpPr>
          <p:cNvPr id="4" name="Shape 2">
            <a:extLst>
              <a:ext uri="{FF2B5EF4-FFF2-40B4-BE49-F238E27FC236}">
                <a16:creationId xmlns:a16="http://schemas.microsoft.com/office/drawing/2014/main" id="{7269F592-8FB8-886F-5254-C229A4B72F19}"/>
              </a:ext>
            </a:extLst>
          </p:cNvPr>
          <p:cNvSpPr/>
          <p:nvPr/>
        </p:nvSpPr>
        <p:spPr>
          <a:xfrm>
            <a:off x="0" y="0"/>
            <a:ext cx="12191695" cy="114300"/>
          </a:xfrm>
          <a:prstGeom prst="rect">
            <a:avLst/>
          </a:prstGeom>
          <a:solidFill>
            <a:srgbClr val="0F62FE"/>
          </a:solidFill>
          <a:ln/>
        </p:spPr>
        <p:txBody>
          <a:bodyPr/>
          <a:lstStyle/>
          <a:p>
            <a:endParaRPr lang="en-IN"/>
          </a:p>
        </p:txBody>
      </p:sp>
      <p:sp>
        <p:nvSpPr>
          <p:cNvPr id="5" name="Shape 3">
            <a:extLst>
              <a:ext uri="{FF2B5EF4-FFF2-40B4-BE49-F238E27FC236}">
                <a16:creationId xmlns:a16="http://schemas.microsoft.com/office/drawing/2014/main" id="{B8FBD0B1-2ADB-5480-94A6-21F03071DFB2}"/>
              </a:ext>
            </a:extLst>
          </p:cNvPr>
          <p:cNvSpPr/>
          <p:nvPr/>
        </p:nvSpPr>
        <p:spPr>
          <a:xfrm>
            <a:off x="0" y="1172261"/>
            <a:ext cx="12191695" cy="9144"/>
          </a:xfrm>
          <a:prstGeom prst="rect">
            <a:avLst/>
          </a:prstGeom>
          <a:solidFill>
            <a:srgbClr val="E0E0E0"/>
          </a:solidFill>
          <a:ln/>
        </p:spPr>
        <p:txBody>
          <a:bodyPr/>
          <a:lstStyle/>
          <a:p>
            <a:endParaRPr lang="en-IN"/>
          </a:p>
        </p:txBody>
      </p:sp>
      <p:sp>
        <p:nvSpPr>
          <p:cNvPr id="6" name="Text 4">
            <a:extLst>
              <a:ext uri="{FF2B5EF4-FFF2-40B4-BE49-F238E27FC236}">
                <a16:creationId xmlns:a16="http://schemas.microsoft.com/office/drawing/2014/main" id="{7BF046DB-9C13-D287-3AAC-0BA4A9CAB077}"/>
              </a:ext>
            </a:extLst>
          </p:cNvPr>
          <p:cNvSpPr txBox="1"/>
          <p:nvPr/>
        </p:nvSpPr>
        <p:spPr>
          <a:xfrm>
            <a:off x="571500" y="466344"/>
            <a:ext cx="9888116" cy="523951"/>
          </a:xfrm>
          <a:prstGeom prst="rect">
            <a:avLst/>
          </a:prstGeom>
          <a:noFill/>
          <a:ln/>
        </p:spPr>
        <p:txBody>
          <a:bodyPr wrap="square" lIns="0" tIns="0" rIns="0" bIns="0" rtlCol="0" anchor="ctr"/>
          <a:lstStyle/>
          <a:p>
            <a:r>
              <a:rPr lang="en-US" sz="3200" dirty="0">
                <a:solidFill>
                  <a:srgbClr val="161616"/>
                </a:solidFill>
                <a:latin typeface="IBM Plex Sans" pitchFamily="34" charset="0"/>
                <a:ea typeface="IBM Plex Sans" pitchFamily="34" charset="-122"/>
                <a:cs typeface="IBM Plex Sans" pitchFamily="34" charset="-120"/>
              </a:rPr>
              <a:t>Team Details</a:t>
            </a:r>
            <a:endParaRPr lang="en-US" sz="3200" dirty="0"/>
          </a:p>
        </p:txBody>
      </p:sp>
      <p:sp>
        <p:nvSpPr>
          <p:cNvPr id="8" name="Shape 6">
            <a:extLst>
              <a:ext uri="{FF2B5EF4-FFF2-40B4-BE49-F238E27FC236}">
                <a16:creationId xmlns:a16="http://schemas.microsoft.com/office/drawing/2014/main" id="{BB8DAD51-CF03-B8FE-17CA-D79CF4A67BB9}"/>
              </a:ext>
            </a:extLst>
          </p:cNvPr>
          <p:cNvSpPr/>
          <p:nvPr/>
        </p:nvSpPr>
        <p:spPr>
          <a:xfrm>
            <a:off x="0" y="6372454"/>
            <a:ext cx="12191695" cy="485546"/>
          </a:xfrm>
          <a:prstGeom prst="rect">
            <a:avLst/>
          </a:prstGeom>
          <a:solidFill>
            <a:srgbClr val="FFFFFF"/>
          </a:solidFill>
          <a:ln/>
        </p:spPr>
        <p:txBody>
          <a:bodyPr/>
          <a:lstStyle/>
          <a:p>
            <a:endParaRPr lang="en-IN"/>
          </a:p>
        </p:txBody>
      </p:sp>
      <p:sp>
        <p:nvSpPr>
          <p:cNvPr id="9" name="Shape 7">
            <a:extLst>
              <a:ext uri="{FF2B5EF4-FFF2-40B4-BE49-F238E27FC236}">
                <a16:creationId xmlns:a16="http://schemas.microsoft.com/office/drawing/2014/main" id="{C2EF816C-0932-B86A-A982-69E445639CF2}"/>
              </a:ext>
            </a:extLst>
          </p:cNvPr>
          <p:cNvSpPr/>
          <p:nvPr/>
        </p:nvSpPr>
        <p:spPr>
          <a:xfrm>
            <a:off x="0" y="6372454"/>
            <a:ext cx="12191695" cy="9144"/>
          </a:xfrm>
          <a:prstGeom prst="rect">
            <a:avLst/>
          </a:prstGeom>
          <a:solidFill>
            <a:srgbClr val="E0E0E0"/>
          </a:solidFill>
          <a:ln/>
        </p:spPr>
        <p:txBody>
          <a:bodyPr/>
          <a:lstStyle/>
          <a:p>
            <a:endParaRPr lang="en-IN"/>
          </a:p>
        </p:txBody>
      </p:sp>
      <p:sp>
        <p:nvSpPr>
          <p:cNvPr id="10" name="Text 8">
            <a:extLst>
              <a:ext uri="{FF2B5EF4-FFF2-40B4-BE49-F238E27FC236}">
                <a16:creationId xmlns:a16="http://schemas.microsoft.com/office/drawing/2014/main" id="{468A90CE-4EEA-C404-78C7-D9D6AC148F0E}"/>
              </a:ext>
            </a:extLst>
          </p:cNvPr>
          <p:cNvSpPr txBox="1"/>
          <p:nvPr/>
        </p:nvSpPr>
        <p:spPr>
          <a:xfrm>
            <a:off x="571500" y="6543446"/>
            <a:ext cx="1828800"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COE Automation Hackathon 2026</a:t>
            </a:r>
            <a:endParaRPr lang="en-US" sz="900" dirty="0"/>
          </a:p>
        </p:txBody>
      </p:sp>
      <p:sp>
        <p:nvSpPr>
          <p:cNvPr id="11" name="Text 9">
            <a:extLst>
              <a:ext uri="{FF2B5EF4-FFF2-40B4-BE49-F238E27FC236}">
                <a16:creationId xmlns:a16="http://schemas.microsoft.com/office/drawing/2014/main" id="{F994FABE-8640-82B0-CE46-E532034FA345}"/>
              </a:ext>
            </a:extLst>
          </p:cNvPr>
          <p:cNvSpPr txBox="1"/>
          <p:nvPr/>
        </p:nvSpPr>
        <p:spPr>
          <a:xfrm>
            <a:off x="10006279" y="6543446"/>
            <a:ext cx="1705356" cy="143561"/>
          </a:xfrm>
          <a:prstGeom prst="rect">
            <a:avLst/>
          </a:prstGeom>
          <a:noFill/>
          <a:ln/>
        </p:spPr>
        <p:txBody>
          <a:bodyPr wrap="square" lIns="0" tIns="0" rIns="0" bIns="0" rtlCol="0" anchor="ctr"/>
          <a:lstStyle/>
          <a:p>
            <a:pPr marL="0" indent="0" algn="l">
              <a:buNone/>
            </a:pPr>
            <a:r>
              <a:rPr lang="en-US" sz="900" dirty="0">
                <a:solidFill>
                  <a:srgbClr val="6F6F6F"/>
                </a:solidFill>
                <a:latin typeface="IBM Plex Sans" pitchFamily="34" charset="0"/>
                <a:ea typeface="IBM Plex Sans" pitchFamily="34" charset="-122"/>
                <a:cs typeface="IBM Plex Sans" pitchFamily="34" charset="-120"/>
              </a:rPr>
              <a:t>Confidential - Internal Use Only</a:t>
            </a:r>
            <a:endParaRPr lang="en-US" sz="900" dirty="0"/>
          </a:p>
        </p:txBody>
      </p:sp>
      <p:sp>
        <p:nvSpPr>
          <p:cNvPr id="49" name="TextBox 48">
            <a:extLst>
              <a:ext uri="{FF2B5EF4-FFF2-40B4-BE49-F238E27FC236}">
                <a16:creationId xmlns:a16="http://schemas.microsoft.com/office/drawing/2014/main" id="{38F8D29C-E8CE-D609-52CA-20EEFB92CFA8}"/>
              </a:ext>
            </a:extLst>
          </p:cNvPr>
          <p:cNvSpPr txBox="1"/>
          <p:nvPr/>
        </p:nvSpPr>
        <p:spPr>
          <a:xfrm>
            <a:off x="869937" y="1247467"/>
            <a:ext cx="9724031" cy="3683358"/>
          </a:xfrm>
          <a:prstGeom prst="rect">
            <a:avLst/>
          </a:prstGeom>
        </p:spPr>
        <p:txBody>
          <a:bodyPr vert="horz" lIns="91440" tIns="45720" rIns="91440" bIns="45720" rtlCol="0" anchor="ctr">
            <a:normAutofit/>
          </a:bodyPr>
          <a:lstStyle/>
          <a:p>
            <a:pPr marL="285750" indent="-285750">
              <a:lnSpc>
                <a:spcPct val="90000"/>
              </a:lnSpc>
              <a:spcAft>
                <a:spcPts val="600"/>
              </a:spcAft>
              <a:buFont typeface="Arial" panose="020B0604020202020204" pitchFamily="34" charset="0"/>
              <a:buChar char="•"/>
            </a:pPr>
            <a:endParaRPr lang="en-US" dirty="0"/>
          </a:p>
        </p:txBody>
      </p:sp>
      <p:graphicFrame>
        <p:nvGraphicFramePr>
          <p:cNvPr id="12" name="Table 11">
            <a:extLst>
              <a:ext uri="{FF2B5EF4-FFF2-40B4-BE49-F238E27FC236}">
                <a16:creationId xmlns:a16="http://schemas.microsoft.com/office/drawing/2014/main" id="{B5633F09-C434-07A7-2EFE-0319F663A572}"/>
              </a:ext>
            </a:extLst>
          </p:cNvPr>
          <p:cNvGraphicFramePr>
            <a:graphicFrameLocks noGrp="1"/>
          </p:cNvGraphicFramePr>
          <p:nvPr>
            <p:extLst>
              <p:ext uri="{D42A27DB-BD31-4B8C-83A1-F6EECF244321}">
                <p14:modId xmlns:p14="http://schemas.microsoft.com/office/powerpoint/2010/main" val="2234985609"/>
              </p:ext>
            </p:extLst>
          </p:nvPr>
        </p:nvGraphicFramePr>
        <p:xfrm>
          <a:off x="571499" y="1696705"/>
          <a:ext cx="9494784" cy="1925320"/>
        </p:xfrm>
        <a:graphic>
          <a:graphicData uri="http://schemas.openxmlformats.org/drawingml/2006/table">
            <a:tbl>
              <a:tblPr>
                <a:tableStyleId>{5C22544A-7EE6-4342-B048-85BDC9FD1C3A}</a:tableStyleId>
              </a:tblPr>
              <a:tblGrid>
                <a:gridCol w="4747392">
                  <a:extLst>
                    <a:ext uri="{9D8B030D-6E8A-4147-A177-3AD203B41FA5}">
                      <a16:colId xmlns:a16="http://schemas.microsoft.com/office/drawing/2014/main" val="1805199088"/>
                    </a:ext>
                  </a:extLst>
                </a:gridCol>
                <a:gridCol w="4747392">
                  <a:extLst>
                    <a:ext uri="{9D8B030D-6E8A-4147-A177-3AD203B41FA5}">
                      <a16:colId xmlns:a16="http://schemas.microsoft.com/office/drawing/2014/main" val="2098396641"/>
                    </a:ext>
                  </a:extLst>
                </a:gridCol>
              </a:tblGrid>
              <a:tr h="370840">
                <a:tc>
                  <a:txBody>
                    <a:bodyPr/>
                    <a:lstStyle/>
                    <a:p>
                      <a:r>
                        <a:rPr lang="en-GB" sz="1800" dirty="0"/>
                        <a:t>Team Name </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i="1" dirty="0" err="1"/>
                        <a:t>SpecSentinel</a:t>
                      </a:r>
                      <a:endParaRPr lang="en-GB" sz="1800" b="1" i="1" dirty="0"/>
                    </a:p>
                  </a:txBody>
                  <a:tcPr/>
                </a:tc>
                <a:extLst>
                  <a:ext uri="{0D108BD9-81ED-4DB2-BD59-A6C34878D82A}">
                    <a16:rowId xmlns:a16="http://schemas.microsoft.com/office/drawing/2014/main" val="1694675377"/>
                  </a:ext>
                </a:extLst>
              </a:tr>
              <a:tr h="370840">
                <a:tc>
                  <a:txBody>
                    <a:bodyPr/>
                    <a:lstStyle/>
                    <a:p>
                      <a:r>
                        <a:rPr lang="en-GB" sz="1800" dirty="0"/>
                        <a:t>Team Members &amp; Roles</a:t>
                      </a:r>
                      <a:endParaRPr lang="en-US" dirty="0"/>
                    </a:p>
                  </a:txBody>
                  <a:tcPr/>
                </a:tc>
                <a:tc>
                  <a:txBody>
                    <a:bodyPr/>
                    <a:lstStyle/>
                    <a:p>
                      <a:r>
                        <a:rPr lang="en-US" b="0" dirty="0"/>
                        <a:t>Debapriyo Dasgupta (Lead engineer) </a:t>
                      </a:r>
                    </a:p>
                    <a:p>
                      <a:r>
                        <a:rPr lang="en-US" b="0" dirty="0"/>
                        <a:t>Niveed Kumar Reddy Bollapally (Contributor)</a:t>
                      </a:r>
                    </a:p>
                    <a:p>
                      <a:r>
                        <a:rPr lang="en-US" b="0" dirty="0"/>
                        <a:t>Bob (Huge contributor)</a:t>
                      </a:r>
                    </a:p>
                  </a:txBody>
                  <a:tcPr/>
                </a:tc>
                <a:extLst>
                  <a:ext uri="{0D108BD9-81ED-4DB2-BD59-A6C34878D82A}">
                    <a16:rowId xmlns:a16="http://schemas.microsoft.com/office/drawing/2014/main" val="36614398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Track / Theme Selected</a:t>
                      </a:r>
                    </a:p>
                  </a:txBody>
                  <a:tcPr/>
                </a:tc>
                <a:tc>
                  <a:txBody>
                    <a:bodyPr/>
                    <a:lstStyle/>
                    <a:p>
                      <a:r>
                        <a:rPr lang="en-US" dirty="0"/>
                        <a:t>Automation powered by AI fundamental model and Agentic AI</a:t>
                      </a:r>
                    </a:p>
                  </a:txBody>
                  <a:tcPr/>
                </a:tc>
                <a:extLst>
                  <a:ext uri="{0D108BD9-81ED-4DB2-BD59-A6C34878D82A}">
                    <a16:rowId xmlns:a16="http://schemas.microsoft.com/office/drawing/2014/main" val="97389624"/>
                  </a:ext>
                </a:extLst>
              </a:tr>
            </a:tbl>
          </a:graphicData>
        </a:graphic>
      </p:graphicFrame>
    </p:spTree>
    <p:extLst>
      <p:ext uri="{BB962C8B-B14F-4D97-AF65-F5344CB8AC3E}">
        <p14:creationId xmlns:p14="http://schemas.microsoft.com/office/powerpoint/2010/main" val="1967266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4672</TotalTime>
  <Words>2936</Words>
  <Application>Microsoft Office PowerPoint</Application>
  <PresentationFormat>Widescreen</PresentationFormat>
  <Paragraphs>346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 Light</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Debapriyo Dasgupta</cp:lastModifiedBy>
  <cp:revision>60</cp:revision>
  <dcterms:created xsi:type="dcterms:W3CDTF">2026-01-20T06:23:25Z</dcterms:created>
  <dcterms:modified xsi:type="dcterms:W3CDTF">2026-04-23T12:47:12Z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7a545dd-2446-49e5-a657-8b9dadc6fc8d_Enabled">
    <vt:lpwstr>true</vt:lpwstr>
  </property>
  <property fmtid="{D5CDD505-2E9C-101B-9397-08002B2CF9AE}" pid="3" name="MSIP_Label_67a545dd-2446-49e5-a657-8b9dadc6fc8d_SetDate">
    <vt:lpwstr>2026-03-23T14:04:12Z</vt:lpwstr>
  </property>
  <property fmtid="{D5CDD505-2E9C-101B-9397-08002B2CF9AE}" pid="4" name="MSIP_Label_67a545dd-2446-49e5-a657-8b9dadc6fc8d_Method">
    <vt:lpwstr>Privileged</vt:lpwstr>
  </property>
  <property fmtid="{D5CDD505-2E9C-101B-9397-08002B2CF9AE}" pid="5" name="MSIP_Label_67a545dd-2446-49e5-a657-8b9dadc6fc8d_Name">
    <vt:lpwstr>IBM Confidential – Internal Sharing Only</vt:lpwstr>
  </property>
  <property fmtid="{D5CDD505-2E9C-101B-9397-08002B2CF9AE}" pid="6" name="MSIP_Label_67a545dd-2446-49e5-a657-8b9dadc6fc8d_SiteId">
    <vt:lpwstr>fcf67057-50c9-4ad4-98f3-ffca64add9e9</vt:lpwstr>
  </property>
  <property fmtid="{D5CDD505-2E9C-101B-9397-08002B2CF9AE}" pid="7" name="MSIP_Label_67a545dd-2446-49e5-a657-8b9dadc6fc8d_ActionId">
    <vt:lpwstr>f964fd3e-8102-41a7-b0ab-6df8cc9674af</vt:lpwstr>
  </property>
  <property fmtid="{D5CDD505-2E9C-101B-9397-08002B2CF9AE}" pid="8" name="MSIP_Label_67a545dd-2446-49e5-a657-8b9dadc6fc8d_ContentBits">
    <vt:lpwstr>0</vt:lpwstr>
  </property>
  <property fmtid="{D5CDD505-2E9C-101B-9397-08002B2CF9AE}" pid="9" name="MSIP_Label_67a545dd-2446-49e5-a657-8b9dadc6fc8d_Tag">
    <vt:lpwstr>10, 0, 1, 1</vt:lpwstr>
  </property>
</Properties>
</file>